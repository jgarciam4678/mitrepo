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0"/>
  </p:notesMasterIdLst>
  <p:sldIdLst>
    <p:sldId id="256" r:id="rId7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icio" id="{E6FF1A2E-508E-CFF9-E930-0569FCD82E02}">
          <p14:sldIdLst>
            <p14:sldId id="256"/>
            <p14:sldId id="257"/>
          </p14:sldIdLst>
        </p14:section>
        <p14:section name="Seguridad en la zona de pruebas" id="{749B4F1C-3006-EFEB-51AD-CC6E12403515}">
          <p14:sldIdLst>
            <p14:sldId id="258"/>
            <p14:sldId id="259"/>
            <p14:sldId id="260"/>
            <p14:sldId id="261"/>
            <p14:sldId id="262"/>
            <p14:sldId id="263"/>
            <p14:sldId id="264"/>
          </p14:sldIdLst>
        </p14:section>
        <p14:section name="Plan de pruebas" id="{AE4255E8-A7BD-5CDB-64A1-C320FCB23880}">
          <p14:sldIdLst>
            <p14:sldId id="265"/>
            <p14:sldId id="266"/>
            <p14:sldId id="267"/>
            <p14:sldId id="268"/>
            <p14:sldId id="269"/>
            <p14:sldId id="270"/>
            <p14:sldId id="271"/>
            <p14:sldId id="272"/>
            <p14:sldId id="273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48" d="100"/>
          <a:sy n="148" d="100"/>
        </p:scale>
        <p:origin x="504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7" Type="http://schemas.openxmlformats.org/officeDocument/2006/relationships/slide" Target="slides/slide1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099061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/>
          <a:lstStyle/>
          <a:p>
            <a:r>
              <a:t>Mensaje principal: de enero a septiembre el monitor validó 163.973 alertas y 28.143 fueron falsas (17 %). Casi dos de cada tres alarmas falsas son de DISTRACTION, que tiene más alertas falsas que correctas. MOBILE y TABACO superan el 92 % de precisión. Mayo fue el peor mes por DISTRACTION; en julio su volumen cayó un 95 % y la precisión se recuperó solo hasta el 60 %. Desde julio la tasa global sube y MOBILE se multiplicó por ocho en septiembre. Los falsos negativos no se pueden medir con esta tabla; hay que medirlos con una referencia externa. Tres acciones: decidir DISTRACTION, investigar septiembre, medir falsos negativos.</a:t>
            </a:r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<Relationship Id="rId3" Type="http://schemas.openxmlformats.org/officeDocument/2006/relationships/image" Target="../media/image2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eg"/><Relationship Id="rId3" Type="http://schemas.openxmlformats.org/officeDocument/2006/relationships/image" Target="../media/image4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ORTADA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1C2C">
              <a:alpha val="78000"/>
            </a:srgbClr>
          </a:solidFill>
          <a:ln/>
        </p:spPr>
        <p:txBody>
          <a:bodyPr/>
          <a:lstStyle/>
          <a:p>
            <a:endParaRPr lang="es-ES"/>
          </a:p>
        </p:txBody>
      </p:sp>
      <p:pic>
        <p:nvPicPr>
          <p:cNvPr id="3" name="Image 0" descr="/tmp/claude-0/-home-user-MITREPO/21d91df9-1cfc-5dbc-823a-a27b9a33fab4/scratchpad/deck/logo_torsa_us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457200"/>
            <a:ext cx="1280160" cy="346563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48640" y="45262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</a:rPr>
              <a:t>Built by us, shaped for you</a:t>
            </a:r>
            <a:endParaRPr lang="en-US" sz="1000" dirty="0"/>
          </a:p>
        </p:txBody>
      </p:sp>
      <p:sp>
        <p:nvSpPr>
          <p:cNvPr id="5" name="Text 2"/>
          <p:cNvSpPr>
            <a:spLocks noGrp="1"/>
          </p:cNvSpPr>
          <p:nvPr>
            <p:ph type="title" idx="103" hasCustomPrompt="1"/>
          </p:nvPr>
        </p:nvSpPr>
        <p:spPr>
          <a:xfrm>
            <a:off x="548640" y="1737360"/>
            <a:ext cx="8046720" cy="173736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4000" b="1" dirty="0">
                <a:solidFill>
                  <a:srgbClr val="FFFFFF"/>
                </a:solidFill>
              </a:defRPr>
            </a:lvl1pPr>
          </a:lstStyle>
          <a:p>
            <a:pPr marL="0" indent="0" algn="l">
              <a:buNone/>
            </a:pPr>
            <a:endParaRPr lang="en-US" sz="4000" dirty="0"/>
          </a:p>
        </p:txBody>
      </p:sp>
      <p:sp>
        <p:nvSpPr>
          <p:cNvPr id="6" name="Text 2"/>
          <p:cNvSpPr>
            <a:spLocks noGrp="1"/>
          </p:cNvSpPr>
          <p:nvPr>
            <p:ph type="body" idx="104" hasCustomPrompt="1"/>
          </p:nvPr>
        </p:nvSpPr>
        <p:spPr>
          <a:xfrm>
            <a:off x="548640" y="3520440"/>
            <a:ext cx="8046720" cy="45720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1600" dirty="0">
                <a:solidFill>
                  <a:srgbClr val="FFFFFF"/>
                </a:solidFill>
              </a:defRPr>
            </a:lvl1pPr>
          </a:lstStyle>
          <a:p>
            <a:pPr marL="0" indent="0" algn="l">
              <a:buNone/>
            </a:pPr>
            <a:endParaRPr lang="en-US" sz="16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IDO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user-MITREPO/21d91df9-1cfc-5dbc-823a-a27b9a33fab4/scratchpad/deck/corp/logo_dar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292608"/>
            <a:ext cx="1143000" cy="307279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470916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5B5B5"/>
                </a:solidFill>
              </a:rPr>
              <a:t>Built by us, shaped for you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0916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B5B5B5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0916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B5B5B5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‹Nº›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ítulo"/>
          <p:cNvSpPr txBox="1"/>
          <p:nvPr/>
        </p:nvSpPr>
        <p:spPr>
          <a:xfrm>
            <a:off x="1920240" y="274320"/>
            <a:ext cx="539496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000" b="1">
                <a:solidFill>
                  <a:srgbClr val="0F1C2C"/>
                </a:solidFill>
                <a:latin typeface="Montserrat"/>
              </a:rPr>
              <a:t>ALERTAS ANTIFATIGA: ALARMAS FALSAS</a:t>
            </a:r>
          </a:p>
          <a:p>
            <a:pPr algn="l"/>
            <a:r>
              <a:rPr sz="2000" b="1">
                <a:solidFill>
                  <a:srgbClr val="0F1C2C"/>
                </a:solidFill>
                <a:latin typeface="Montserrat"/>
              </a:rPr>
              <a:t>ENERO A SEPTIEMBRE DE 2026</a:t>
            </a:r>
          </a:p>
        </p:txBody>
      </p:sp>
      <p:sp>
        <p:nvSpPr>
          <p:cNvPr id="3" name="chip fondo"/>
          <p:cNvSpPr/>
          <p:nvPr/>
        </p:nvSpPr>
        <p:spPr>
          <a:xfrm>
            <a:off x="7406640" y="402336"/>
            <a:ext cx="1280160" cy="237744"/>
          </a:xfrm>
          <a:prstGeom prst="rect">
            <a:avLst/>
          </a:prstGeom>
          <a:solidFill>
            <a:srgbClr val="D9D9D9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chip"/>
          <p:cNvSpPr txBox="1"/>
          <p:nvPr/>
        </p:nvSpPr>
        <p:spPr>
          <a:xfrm>
            <a:off x="7406640" y="402336"/>
            <a:ext cx="128016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50" b="1" spc="100">
                <a:solidFill>
                  <a:srgbClr val="0F1C2C"/>
                </a:solidFill>
                <a:latin typeface="Montserrat"/>
              </a:rPr>
              <a:t>PRODUCCIÓN</a:t>
            </a:r>
          </a:p>
        </p:txBody>
      </p:sp>
      <p:sp>
        <p:nvSpPr>
          <p:cNvPr id="5" name="mensaje principal"/>
          <p:cNvSpPr txBox="1"/>
          <p:nvPr/>
        </p:nvSpPr>
        <p:spPr>
          <a:xfrm>
            <a:off x="457200" y="914400"/>
            <a:ext cx="822960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00" b="1">
                <a:solidFill>
                  <a:srgbClr val="0F1C2C"/>
                </a:solidFill>
                <a:latin typeface="Montserrat"/>
              </a:rPr>
              <a:t>1 de cada 6 alertas validadas es falsa, y 2 de cada 3 alarmas falsas vienen de DISTRACTION. MOBILE y TABACO funcionan bien.</a:t>
            </a:r>
          </a:p>
        </p:txBody>
      </p:sp>
      <p:sp>
        <p:nvSpPr>
          <p:cNvPr id="6" name="bloque 01"/>
          <p:cNvSpPr/>
          <p:nvPr/>
        </p:nvSpPr>
        <p:spPr>
          <a:xfrm>
            <a:off x="457200" y="1554480"/>
            <a:ext cx="2697480" cy="2011680"/>
          </a:xfrm>
          <a:prstGeom prst="rect">
            <a:avLst/>
          </a:prstGeom>
          <a:solidFill>
            <a:srgbClr val="FFFFFF"/>
          </a:solidFill>
          <a:ln w="9525">
            <a:solidFill>
              <a:srgbClr val="E3E3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número 01"/>
          <p:cNvSpPr txBox="1"/>
          <p:nvPr/>
        </p:nvSpPr>
        <p:spPr>
          <a:xfrm>
            <a:off x="640080" y="1709928"/>
            <a:ext cx="4572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D40319"/>
                </a:solidFill>
                <a:latin typeface="Montserrat"/>
              </a:rPr>
              <a:t>01</a:t>
            </a:r>
          </a:p>
        </p:txBody>
      </p:sp>
      <p:sp>
        <p:nvSpPr>
          <p:cNvPr id="8" name="título 01"/>
          <p:cNvSpPr txBox="1"/>
          <p:nvPr/>
        </p:nvSpPr>
        <p:spPr>
          <a:xfrm>
            <a:off x="640080" y="1901952"/>
            <a:ext cx="22860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0F1C2C"/>
                </a:solidFill>
                <a:latin typeface="Montserrat"/>
              </a:rPr>
              <a:t>DISTRACTION</a:t>
            </a:r>
          </a:p>
        </p:txBody>
      </p:sp>
      <p:sp>
        <p:nvSpPr>
          <p:cNvPr id="9" name="etiqueta ALARMAS FALSAS 01"/>
          <p:cNvSpPr txBox="1"/>
          <p:nvPr/>
        </p:nvSpPr>
        <p:spPr>
          <a:xfrm>
            <a:off x="640080" y="2267712"/>
            <a:ext cx="11430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 spc="250">
                <a:solidFill>
                  <a:srgbClr val="8C8C8C"/>
                </a:solidFill>
                <a:latin typeface="Arial"/>
              </a:rPr>
              <a:t>ALARMAS FALSAS</a:t>
            </a:r>
          </a:p>
        </p:txBody>
      </p:sp>
      <p:sp>
        <p:nvSpPr>
          <p:cNvPr id="10" name="valor ALARMAS FALSAS 01"/>
          <p:cNvSpPr txBox="1"/>
          <p:nvPr/>
        </p:nvSpPr>
        <p:spPr>
          <a:xfrm>
            <a:off x="640080" y="2441448"/>
            <a:ext cx="114300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>
                <a:solidFill>
                  <a:srgbClr val="D40319"/>
                </a:solidFill>
                <a:latin typeface="Montserrat"/>
              </a:rPr>
              <a:t>56,5 %</a:t>
            </a:r>
          </a:p>
        </p:txBody>
      </p:sp>
      <p:sp>
        <p:nvSpPr>
          <p:cNvPr id="11" name="detalle ALARMAS FALSAS 01"/>
          <p:cNvSpPr txBox="1"/>
          <p:nvPr/>
        </p:nvSpPr>
        <p:spPr>
          <a:xfrm>
            <a:off x="640080" y="2843784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>
                <a:solidFill>
                  <a:srgbClr val="5C5C5C"/>
                </a:solidFill>
                <a:latin typeface="Arial"/>
              </a:rPr>
              <a:t>17.930 de 31.730 validadas</a:t>
            </a:r>
          </a:p>
        </p:txBody>
      </p:sp>
      <p:sp>
        <p:nvSpPr>
          <p:cNvPr id="12" name="etiqueta PRECISIÓN EN SEP 01"/>
          <p:cNvSpPr txBox="1"/>
          <p:nvPr/>
        </p:nvSpPr>
        <p:spPr>
          <a:xfrm>
            <a:off x="1828800" y="2267712"/>
            <a:ext cx="11430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 spc="250">
                <a:solidFill>
                  <a:srgbClr val="8C8C8C"/>
                </a:solidFill>
                <a:latin typeface="Arial"/>
              </a:rPr>
              <a:t>PRECISIÓN EN SEP</a:t>
            </a:r>
          </a:p>
        </p:txBody>
      </p:sp>
      <p:sp>
        <p:nvSpPr>
          <p:cNvPr id="13" name="valor PRECISIÓN EN SEP 01"/>
          <p:cNvSpPr txBox="1"/>
          <p:nvPr/>
        </p:nvSpPr>
        <p:spPr>
          <a:xfrm>
            <a:off x="1828800" y="2441448"/>
            <a:ext cx="114300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>
                <a:solidFill>
                  <a:srgbClr val="0F1C2C"/>
                </a:solidFill>
                <a:latin typeface="Montserrat"/>
              </a:rPr>
              <a:t>60 %</a:t>
            </a:r>
          </a:p>
        </p:txBody>
      </p:sp>
      <p:sp>
        <p:nvSpPr>
          <p:cNvPr id="14" name="detalle PRECISIÓN EN SEP 01"/>
          <p:cNvSpPr txBox="1"/>
          <p:nvPr/>
        </p:nvSpPr>
        <p:spPr>
          <a:xfrm>
            <a:off x="1828800" y="2843784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>
                <a:solidFill>
                  <a:srgbClr val="5C5C5C"/>
                </a:solidFill>
                <a:latin typeface="Arial"/>
              </a:rPr>
              <a:t>desde el 25 % de mayo</a:t>
            </a:r>
          </a:p>
        </p:txBody>
      </p:sp>
      <p:sp>
        <p:nvSpPr>
          <p:cNvPr id="15" name="barra correctas 01"/>
          <p:cNvSpPr/>
          <p:nvPr/>
        </p:nvSpPr>
        <p:spPr>
          <a:xfrm>
            <a:off x="640080" y="3163824"/>
            <a:ext cx="1002639" cy="118872"/>
          </a:xfrm>
          <a:prstGeom prst="rect">
            <a:avLst/>
          </a:prstGeom>
          <a:solidFill>
            <a:srgbClr val="0F1C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barra falsas 01"/>
          <p:cNvSpPr/>
          <p:nvPr/>
        </p:nvSpPr>
        <p:spPr>
          <a:xfrm>
            <a:off x="1642719" y="3163824"/>
            <a:ext cx="1329080" cy="118872"/>
          </a:xfrm>
          <a:prstGeom prst="rect">
            <a:avLst/>
          </a:prstGeom>
          <a:solidFill>
            <a:srgbClr val="D403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lectura barra 01"/>
          <p:cNvSpPr txBox="1"/>
          <p:nvPr/>
        </p:nvSpPr>
        <p:spPr>
          <a:xfrm>
            <a:off x="640080" y="3328415"/>
            <a:ext cx="23317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>
                <a:solidFill>
                  <a:srgbClr val="5C5C5C"/>
                </a:solidFill>
                <a:latin typeface="Arial"/>
              </a:rPr>
              <a:t>Cada 100: </a:t>
            </a:r>
            <a:r>
              <a:rPr sz="850" b="1">
                <a:solidFill>
                  <a:srgbClr val="0F1C2C"/>
                </a:solidFill>
                <a:latin typeface="Arial"/>
              </a:rPr>
              <a:t>43 correctas</a:t>
            </a:r>
            <a:r>
              <a:rPr sz="850" b="0">
                <a:solidFill>
                  <a:srgbClr val="5C5C5C"/>
                </a:solidFill>
                <a:latin typeface="Arial"/>
              </a:rPr>
              <a:t>, </a:t>
            </a:r>
            <a:r>
              <a:rPr sz="850" b="1">
                <a:solidFill>
                  <a:srgbClr val="D40319"/>
                </a:solidFill>
                <a:latin typeface="Arial"/>
              </a:rPr>
              <a:t>57 falsas</a:t>
            </a:r>
          </a:p>
        </p:txBody>
      </p:sp>
      <p:sp>
        <p:nvSpPr>
          <p:cNvPr id="18" name="bloque 02"/>
          <p:cNvSpPr/>
          <p:nvPr/>
        </p:nvSpPr>
        <p:spPr>
          <a:xfrm>
            <a:off x="3246120" y="1554480"/>
            <a:ext cx="2697480" cy="2011680"/>
          </a:xfrm>
          <a:prstGeom prst="rect">
            <a:avLst/>
          </a:prstGeom>
          <a:solidFill>
            <a:srgbClr val="FFFFFF"/>
          </a:solidFill>
          <a:ln w="9525">
            <a:solidFill>
              <a:srgbClr val="E3E3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número 02"/>
          <p:cNvSpPr txBox="1"/>
          <p:nvPr/>
        </p:nvSpPr>
        <p:spPr>
          <a:xfrm>
            <a:off x="3429000" y="1709928"/>
            <a:ext cx="4572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D40319"/>
                </a:solidFill>
                <a:latin typeface="Montserrat"/>
              </a:rPr>
              <a:t>02</a:t>
            </a:r>
          </a:p>
        </p:txBody>
      </p:sp>
      <p:sp>
        <p:nvSpPr>
          <p:cNvPr id="20" name="título 02"/>
          <p:cNvSpPr txBox="1"/>
          <p:nvPr/>
        </p:nvSpPr>
        <p:spPr>
          <a:xfrm>
            <a:off x="3429000" y="1901952"/>
            <a:ext cx="22860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0F1C2C"/>
                </a:solidFill>
                <a:latin typeface="Montserrat"/>
              </a:rPr>
              <a:t>MOBILE Y TABACO</a:t>
            </a:r>
          </a:p>
        </p:txBody>
      </p:sp>
      <p:sp>
        <p:nvSpPr>
          <p:cNvPr id="21" name="etiqueta MOBILE FALSAS 02"/>
          <p:cNvSpPr txBox="1"/>
          <p:nvPr/>
        </p:nvSpPr>
        <p:spPr>
          <a:xfrm>
            <a:off x="3429000" y="2267712"/>
            <a:ext cx="11430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 spc="250">
                <a:solidFill>
                  <a:srgbClr val="8C8C8C"/>
                </a:solidFill>
                <a:latin typeface="Arial"/>
              </a:rPr>
              <a:t>MOBILE FALSAS</a:t>
            </a:r>
          </a:p>
        </p:txBody>
      </p:sp>
      <p:sp>
        <p:nvSpPr>
          <p:cNvPr id="22" name="valor MOBILE FALSAS 02"/>
          <p:cNvSpPr txBox="1"/>
          <p:nvPr/>
        </p:nvSpPr>
        <p:spPr>
          <a:xfrm>
            <a:off x="3429000" y="2441448"/>
            <a:ext cx="114300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>
                <a:solidFill>
                  <a:srgbClr val="0F1C2C"/>
                </a:solidFill>
                <a:latin typeface="Montserrat"/>
              </a:rPr>
              <a:t>5,8 %</a:t>
            </a:r>
          </a:p>
        </p:txBody>
      </p:sp>
      <p:sp>
        <p:nvSpPr>
          <p:cNvPr id="23" name="detalle MOBILE FALSAS 02"/>
          <p:cNvSpPr txBox="1"/>
          <p:nvPr/>
        </p:nvSpPr>
        <p:spPr>
          <a:xfrm>
            <a:off x="3429000" y="2843784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>
                <a:solidFill>
                  <a:srgbClr val="5C5C5C"/>
                </a:solidFill>
                <a:latin typeface="Arial"/>
              </a:rPr>
              <a:t>3.966 de 68.400</a:t>
            </a:r>
          </a:p>
        </p:txBody>
      </p:sp>
      <p:sp>
        <p:nvSpPr>
          <p:cNvPr id="24" name="etiqueta TABACO FALSAS 02"/>
          <p:cNvSpPr txBox="1"/>
          <p:nvPr/>
        </p:nvSpPr>
        <p:spPr>
          <a:xfrm>
            <a:off x="4617720" y="2267712"/>
            <a:ext cx="11430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 spc="250">
                <a:solidFill>
                  <a:srgbClr val="8C8C8C"/>
                </a:solidFill>
                <a:latin typeface="Arial"/>
              </a:rPr>
              <a:t>TABACO FALSAS</a:t>
            </a:r>
          </a:p>
        </p:txBody>
      </p:sp>
      <p:sp>
        <p:nvSpPr>
          <p:cNvPr id="25" name="valor TABACO FALSAS 02"/>
          <p:cNvSpPr txBox="1"/>
          <p:nvPr/>
        </p:nvSpPr>
        <p:spPr>
          <a:xfrm>
            <a:off x="4617720" y="2441448"/>
            <a:ext cx="114300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>
                <a:solidFill>
                  <a:srgbClr val="0F1C2C"/>
                </a:solidFill>
                <a:latin typeface="Montserrat"/>
              </a:rPr>
              <a:t>7,6 %</a:t>
            </a:r>
          </a:p>
        </p:txBody>
      </p:sp>
      <p:sp>
        <p:nvSpPr>
          <p:cNvPr id="26" name="detalle TABACO FALSAS 02"/>
          <p:cNvSpPr txBox="1"/>
          <p:nvPr/>
        </p:nvSpPr>
        <p:spPr>
          <a:xfrm>
            <a:off x="4617720" y="2843784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>
                <a:solidFill>
                  <a:srgbClr val="5C5C5C"/>
                </a:solidFill>
                <a:latin typeface="Arial"/>
              </a:rPr>
              <a:t>4.229 de 55.481</a:t>
            </a:r>
          </a:p>
        </p:txBody>
      </p:sp>
      <p:sp>
        <p:nvSpPr>
          <p:cNvPr id="27" name="barra correctas 02"/>
          <p:cNvSpPr/>
          <p:nvPr/>
        </p:nvSpPr>
        <p:spPr>
          <a:xfrm>
            <a:off x="3429000" y="3163824"/>
            <a:ext cx="2168499" cy="118872"/>
          </a:xfrm>
          <a:prstGeom prst="rect">
            <a:avLst/>
          </a:prstGeom>
          <a:solidFill>
            <a:srgbClr val="0F1C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barra falsas 02"/>
          <p:cNvSpPr/>
          <p:nvPr/>
        </p:nvSpPr>
        <p:spPr>
          <a:xfrm>
            <a:off x="5597499" y="3163824"/>
            <a:ext cx="163220" cy="118872"/>
          </a:xfrm>
          <a:prstGeom prst="rect">
            <a:avLst/>
          </a:prstGeom>
          <a:solidFill>
            <a:srgbClr val="D403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lectura barra 02"/>
          <p:cNvSpPr txBox="1"/>
          <p:nvPr/>
        </p:nvSpPr>
        <p:spPr>
          <a:xfrm>
            <a:off x="3429000" y="3328415"/>
            <a:ext cx="23317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>
                <a:solidFill>
                  <a:srgbClr val="5C5C5C"/>
                </a:solidFill>
                <a:latin typeface="Arial"/>
              </a:rPr>
              <a:t>Cada 100: </a:t>
            </a:r>
            <a:r>
              <a:rPr sz="850" b="1">
                <a:solidFill>
                  <a:srgbClr val="0F1C2C"/>
                </a:solidFill>
                <a:latin typeface="Arial"/>
              </a:rPr>
              <a:t>93 correctas</a:t>
            </a:r>
            <a:r>
              <a:rPr sz="850" b="0">
                <a:solidFill>
                  <a:srgbClr val="5C5C5C"/>
                </a:solidFill>
                <a:latin typeface="Arial"/>
              </a:rPr>
              <a:t>, </a:t>
            </a:r>
            <a:r>
              <a:rPr sz="850" b="1">
                <a:solidFill>
                  <a:srgbClr val="D40319"/>
                </a:solidFill>
                <a:latin typeface="Arial"/>
              </a:rPr>
              <a:t>7 falsas</a:t>
            </a:r>
          </a:p>
        </p:txBody>
      </p:sp>
      <p:sp>
        <p:nvSpPr>
          <p:cNvPr id="30" name="panel lateral"/>
          <p:cNvSpPr/>
          <p:nvPr/>
        </p:nvSpPr>
        <p:spPr>
          <a:xfrm>
            <a:off x="6035040" y="1554480"/>
            <a:ext cx="2651760" cy="2011680"/>
          </a:xfrm>
          <a:prstGeom prst="rect">
            <a:avLst/>
          </a:prstGeom>
          <a:solidFill>
            <a:srgbClr val="F4F4F4"/>
          </a:solidFill>
          <a:ln w="9525">
            <a:solidFill>
              <a:srgbClr val="E3E3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etiqueta lateral"/>
          <p:cNvSpPr txBox="1"/>
          <p:nvPr/>
        </p:nvSpPr>
        <p:spPr>
          <a:xfrm>
            <a:off x="6217920" y="1737360"/>
            <a:ext cx="22860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 spc="250">
                <a:solidFill>
                  <a:srgbClr val="8C8C8C"/>
                </a:solidFill>
                <a:latin typeface="Arial"/>
              </a:rPr>
              <a:t>TENDENCIA Y LO QUE FALTA</a:t>
            </a:r>
          </a:p>
        </p:txBody>
      </p:sp>
      <p:sp>
        <p:nvSpPr>
          <p:cNvPr id="32" name="tendencia 1"/>
          <p:cNvSpPr txBox="1"/>
          <p:nvPr/>
        </p:nvSpPr>
        <p:spPr>
          <a:xfrm>
            <a:off x="6217920" y="1993391"/>
            <a:ext cx="2286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3A3A3A"/>
                </a:solidFill>
                <a:latin typeface="Arial"/>
              </a:rPr>
              <a:t>Tasa global de falsas: </a:t>
            </a:r>
            <a:r>
              <a:rPr sz="1050" b="1">
                <a:solidFill>
                  <a:srgbClr val="D40319"/>
                </a:solidFill>
                <a:latin typeface="Arial"/>
              </a:rPr>
              <a:t>9,7 → 11,0 → 15,3 %</a:t>
            </a:r>
            <a:r>
              <a:rPr sz="1050" b="0">
                <a:solidFill>
                  <a:srgbClr val="3A3A3A"/>
                </a:solidFill>
                <a:latin typeface="Arial"/>
              </a:rPr>
              <a:t> (jul a sep)</a:t>
            </a:r>
          </a:p>
        </p:txBody>
      </p:sp>
      <p:sp>
        <p:nvSpPr>
          <p:cNvPr id="33" name="tendencia 2"/>
          <p:cNvSpPr txBox="1"/>
          <p:nvPr/>
        </p:nvSpPr>
        <p:spPr>
          <a:xfrm>
            <a:off x="6217920" y="2377439"/>
            <a:ext cx="2286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3A3A3A"/>
                </a:solidFill>
                <a:latin typeface="Arial"/>
              </a:rPr>
              <a:t>MOBILE en septiembre: </a:t>
            </a:r>
            <a:r>
              <a:rPr sz="1050" b="1">
                <a:solidFill>
                  <a:srgbClr val="D40319"/>
                </a:solidFill>
                <a:latin typeface="Arial"/>
              </a:rPr>
              <a:t>del 1,1 % al 8,9 %</a:t>
            </a:r>
            <a:r>
              <a:rPr sz="1050" b="0">
                <a:solidFill>
                  <a:srgbClr val="3A3A3A"/>
                </a:solidFill>
                <a:latin typeface="Arial"/>
              </a:rPr>
              <a:t> de alarmas falsas</a:t>
            </a:r>
          </a:p>
        </p:txBody>
      </p:sp>
      <p:sp>
        <p:nvSpPr>
          <p:cNvPr id="34" name="tendencia 3"/>
          <p:cNvSpPr txBox="1"/>
          <p:nvPr/>
        </p:nvSpPr>
        <p:spPr>
          <a:xfrm>
            <a:off x="6217920" y="2761487"/>
            <a:ext cx="2286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3A3A3A"/>
                </a:solidFill>
                <a:latin typeface="Arial"/>
              </a:rPr>
              <a:t>Mayo, peor mes: </a:t>
            </a:r>
            <a:r>
              <a:rPr sz="1050" b="1">
                <a:solidFill>
                  <a:srgbClr val="0F1C2C"/>
                </a:solidFill>
                <a:latin typeface="Arial"/>
              </a:rPr>
              <a:t>10.793 falsas</a:t>
            </a:r>
            <a:r>
              <a:rPr sz="1050" b="0">
                <a:solidFill>
                  <a:srgbClr val="3A3A3A"/>
                </a:solidFill>
                <a:latin typeface="Arial"/>
              </a:rPr>
              <a:t>, el 95 % de DISTRACTION</a:t>
            </a:r>
          </a:p>
        </p:txBody>
      </p:sp>
      <p:sp>
        <p:nvSpPr>
          <p:cNvPr id="35" name="tendencia 4"/>
          <p:cNvSpPr txBox="1"/>
          <p:nvPr/>
        </p:nvSpPr>
        <p:spPr>
          <a:xfrm>
            <a:off x="6217920" y="3145535"/>
            <a:ext cx="2286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3A3A3A"/>
                </a:solidFill>
                <a:latin typeface="Arial"/>
              </a:rPr>
              <a:t>Falsos negativos: </a:t>
            </a:r>
            <a:r>
              <a:rPr sz="1050" b="1">
                <a:solidFill>
                  <a:srgbClr val="0F1C2C"/>
                </a:solidFill>
                <a:latin typeface="Arial"/>
              </a:rPr>
              <a:t>no medidos</a:t>
            </a:r>
            <a:r>
              <a:rPr sz="1050" b="0">
                <a:solidFill>
                  <a:srgbClr val="3A3A3A"/>
                </a:solidFill>
                <a:latin typeface="Arial"/>
              </a:rPr>
              <a:t>; solo se ven alertas emitidas</a:t>
            </a:r>
          </a:p>
        </p:txBody>
      </p:sp>
      <p:sp>
        <p:nvSpPr>
          <p:cNvPr id="36" name="número acción 01"/>
          <p:cNvSpPr txBox="1"/>
          <p:nvPr/>
        </p:nvSpPr>
        <p:spPr>
          <a:xfrm>
            <a:off x="457200" y="3685031"/>
            <a:ext cx="3200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D40319"/>
                </a:solidFill>
                <a:latin typeface="Montserrat"/>
              </a:rPr>
              <a:t>01</a:t>
            </a:r>
          </a:p>
        </p:txBody>
      </p:sp>
      <p:sp>
        <p:nvSpPr>
          <p:cNvPr id="37" name="acción 01"/>
          <p:cNvSpPr txBox="1"/>
          <p:nvPr/>
        </p:nvSpPr>
        <p:spPr>
          <a:xfrm>
            <a:off x="777240" y="3675887"/>
            <a:ext cx="2331720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1">
                <a:solidFill>
                  <a:srgbClr val="0F1C2C"/>
                </a:solidFill>
                <a:latin typeface="Arial"/>
              </a:rPr>
              <a:t>Decidir qué hacer con DISTRACTION:</a:t>
            </a:r>
            <a:r>
              <a:rPr sz="950" b="0">
                <a:solidFill>
                  <a:srgbClr val="3A3A3A"/>
                </a:solidFill>
                <a:latin typeface="Arial"/>
              </a:rPr>
              <a:t> umbral, otra señal o reentrenar con las 17.930 falsas etiquetadas.</a:t>
            </a:r>
          </a:p>
        </p:txBody>
      </p:sp>
      <p:sp>
        <p:nvSpPr>
          <p:cNvPr id="38" name="número acción 02"/>
          <p:cNvSpPr txBox="1"/>
          <p:nvPr/>
        </p:nvSpPr>
        <p:spPr>
          <a:xfrm>
            <a:off x="3246120" y="3685031"/>
            <a:ext cx="3200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D40319"/>
                </a:solidFill>
                <a:latin typeface="Montserrat"/>
              </a:rPr>
              <a:t>02</a:t>
            </a:r>
          </a:p>
        </p:txBody>
      </p:sp>
      <p:sp>
        <p:nvSpPr>
          <p:cNvPr id="39" name="acción 02"/>
          <p:cNvSpPr txBox="1"/>
          <p:nvPr/>
        </p:nvSpPr>
        <p:spPr>
          <a:xfrm>
            <a:off x="3566160" y="3675887"/>
            <a:ext cx="2331720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1">
                <a:solidFill>
                  <a:srgbClr val="0F1C2C"/>
                </a:solidFill>
                <a:latin typeface="Arial"/>
              </a:rPr>
              <a:t>Investigar la subida de MOBILE</a:t>
            </a:r>
            <a:r>
              <a:rPr sz="950" b="0">
                <a:solidFill>
                  <a:srgbClr val="3A3A3A"/>
                </a:solidFill>
                <a:latin typeface="Arial"/>
              </a:rPr>
              <a:t> en septiembre antes de que octubre la confirme.</a:t>
            </a:r>
          </a:p>
        </p:txBody>
      </p:sp>
      <p:sp>
        <p:nvSpPr>
          <p:cNvPr id="40" name="número acción 03"/>
          <p:cNvSpPr txBox="1"/>
          <p:nvPr/>
        </p:nvSpPr>
        <p:spPr>
          <a:xfrm>
            <a:off x="6035040" y="3685031"/>
            <a:ext cx="3200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D40319"/>
                </a:solidFill>
                <a:latin typeface="Montserrat"/>
              </a:rPr>
              <a:t>03</a:t>
            </a:r>
          </a:p>
        </p:txBody>
      </p:sp>
      <p:sp>
        <p:nvSpPr>
          <p:cNvPr id="41" name="acción 03"/>
          <p:cNvSpPr txBox="1"/>
          <p:nvPr/>
        </p:nvSpPr>
        <p:spPr>
          <a:xfrm>
            <a:off x="6355079" y="3675887"/>
            <a:ext cx="2331720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1">
                <a:solidFill>
                  <a:srgbClr val="0F1C2C"/>
                </a:solidFill>
                <a:latin typeface="Arial"/>
              </a:rPr>
              <a:t>Medir los falsos negativos:</a:t>
            </a:r>
            <a:r>
              <a:rPr sz="950" b="0">
                <a:solidFill>
                  <a:srgbClr val="3A3A3A"/>
                </a:solidFill>
                <a:latin typeface="Arial"/>
              </a:rPr>
              <a:t> cruce con registros externos y muestreo de vídeo durante 2 semanas.</a:t>
            </a:r>
          </a:p>
        </p:txBody>
      </p:sp>
      <p:sp>
        <p:nvSpPr>
          <p:cNvPr id="42" name="fuente"/>
          <p:cNvSpPr txBox="1"/>
          <p:nvPr/>
        </p:nvSpPr>
        <p:spPr>
          <a:xfrm>
            <a:off x="3657600" y="4305909"/>
            <a:ext cx="3749039" cy="2468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800" b="0">
                <a:solidFill>
                  <a:srgbClr val="B5B5B5"/>
                </a:solidFill>
                <a:latin typeface="Arial"/>
              </a:rPr>
              <a:t>163.973 alertas validadas de 891.931 con vídeo · ene–sep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ORSA Corporativa">
  <a:themeElements>
    <a:clrScheme name="TORSA Corporativa">
      <a:dk1>
        <a:srgbClr val="0F1C2C"/>
      </a:dk1>
      <a:lt1>
        <a:srgbClr val="FFFFFF"/>
      </a:lt1>
      <a:dk2>
        <a:srgbClr val="3A3A3A"/>
      </a:dk2>
      <a:lt2>
        <a:srgbClr val="F4F4F4"/>
      </a:lt2>
      <a:accent1>
        <a:srgbClr val="D40319"/>
      </a:accent1>
      <a:accent2>
        <a:srgbClr val="0F1C2C"/>
      </a:accent2>
      <a:accent3>
        <a:srgbClr val="2E8B3A"/>
      </a:accent3>
      <a:accent4>
        <a:srgbClr val="E8A000"/>
      </a:accent4>
      <a:accent5>
        <a:srgbClr val="D40319"/>
      </a:accent5>
      <a:accent6>
        <a:srgbClr val="8C8C8C"/>
      </a:accent6>
      <a:hlink>
        <a:srgbClr val="D40319"/>
      </a:hlink>
      <a:folHlink>
        <a:srgbClr val="D40319"/>
      </a:folHlink>
    </a:clrScheme>
    <a:fontScheme name="TORSA Corporativa">
      <a:majorFont>
        <a:latin typeface="Montserra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2312</Words>
  <Application>Microsoft Macintosh PowerPoint</Application>
  <PresentationFormat>Presentación en pantalla (16:9)</PresentationFormat>
  <Paragraphs>302</Paragraphs>
  <Slides>18</Slides>
  <Notes>18</Notes>
  <HiddenSlides>0</HiddenSlides>
  <MMClips>0</MMClips>
  <ScaleCrop>false</ScaleCrop>
  <HeadingPairs>
    <vt:vector size="6" baseType="variant">
      <vt:variant>
        <vt:lpstr>Fuentes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18</vt:i4>
      </vt:variant>
    </vt:vector>
  </HeadingPairs>
  <TitlesOfParts>
    <vt:vector size="21" baseType="lpstr">
      <vt:lpstr>Arial</vt:lpstr>
      <vt:lpstr>Montserrat</vt:lpstr>
      <vt:lpstr>TORSA Corporativa</vt:lpstr>
      <vt:lpstr>SUMMIT 2026 DEMO MADRID</vt:lpstr>
      <vt:lpstr>Presentación de PowerPoint</vt:lpstr>
      <vt:lpstr>SEGURIDAD EN LA ZONA DE PRUEBAS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PLAN DE PRUEBAS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TORSA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Pruebas de campo Madrid: seguridad y plan de pruebas</dc:title>
  <dc:subject>PptxGenJS Presentation</dc:subject>
  <dc:creator>TORSA</dc:creator>
  <cp:lastModifiedBy>Yeshu &amp; Pame</cp:lastModifiedBy>
  <cp:revision>3</cp:revision>
  <dcterms:created xsi:type="dcterms:W3CDTF">2026-10-04T15:56:16Z</dcterms:created>
  <dcterms:modified xsi:type="dcterms:W3CDTF">2026-10-04T16:38:41Z</dcterms:modified>
</cp:coreProperties>
</file>