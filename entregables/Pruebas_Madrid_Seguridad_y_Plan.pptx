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91fc88f4-8fb0-b263-8ff9-7fe3d1f573dd}">
          <p14:sldIdLst>
            <p14:sldId id="256"/>
            <p14:sldId id="257"/>
          </p14:sldIdLst>
        </p14:section>
        <p14:section name="Seguridad en la zona de pruebas" id="{26d26a3d-823a-e305-e488-8b4cebc3e830}">
          <p14:sldIdLst>
            <p14:sldId id="258"/>
            <p14:sldId id="259"/>
            <p14:sldId id="260"/>
            <p14:sldId id="261"/>
            <p14:sldId id="262"/>
            <p14:sldId id="263"/>
            <p14:sldId id="264"/>
          </p14:sldIdLst>
        </p14:section>
        <p14:section name="Plan de pruebas" id="{aa4f04b9-8d20-f399-4d2d-a1dddd563199}">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Antes de empezar con las pruebas, repasamos las normas de seguridad de la zona y después explicamos las cinco pruebas que vamos a realizar.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partes: primero la seguridad, que es lo que condiciona todo lo demás; después, las cinco pruebas en el orden en que se van a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con las pruebas, las normas de seguridad para quienes no son personal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a quienes no son personal de campo se les entrega un chaleco reflectante de alta visibilidad. No se lo pueden quitar en ningún momento dentro de la zona de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zona de pruebas está delimitada. El acceso es siempre caminando, por el paso peatonal señalizado. No se pueden situar fuera del área delimitada, porque es la zona por donde pasan los camiones. El plano es orientativo: en campo se señala la zona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ha dispuesto una carpa, tanto para protección del sol como, en este caso por el pronóstico de lluvia, de la lluvia. Es donde se sitúan cuando no se están desplazando. No se espera en ningún otro lugar durante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en algún momento van a entrar a la zona de pruebas para subir a un camión, siempre tienen que avisar a cualquiera de los responsables. Se acercan a un punto prudente del camión, siempre y cuando esté detenido, le indican al conductor que van a acercarse y no se acercan hasta que el conductor lo apruebe.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Cualquier cosa relacionada con el acceso a la zona se avisa siempre, antes de hacerla. Aquí van los nombres de los responsables en pista.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las cinco reglas antes de pasar a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realizará una secuencia de cinco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todas las pruebas se respeta el carril de cada camión, para que la interacción sea segura: no hay enfrentamientos directos y se dejan espacios para que cada camión maniobre. Ante cualquier imprevisto, la prueba se detiene. Las pruebas, en orden: enfrentamiento, cruce en diferentes carriles, seguimiento, cruce en intersección y, finalmente, una prueba recta para la validación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enfrentamiento: los camiones se aproximan de frente, cada uno en su carril. Se respeta el carril de cada camión para que la interacción sea segura, sin enfrentamiento directo.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diferentes carriles: los camiones se cruzan circulando en sentidos opuestos, cada uno por su carril.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seguimiento: un camión circula detrás del otro, en el mismo carril y sentido, manteniendo distancia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intersección: un camión llega por la vía transversal mientras el otro circula recto. Se define quién tiene prioridad y dónde se detiene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Finalmente, una prueba recta para hacer la validación final del sistema. Confirmar con el equipo técnico qué se valida exactamente en esta prueba (el audio original no era claro en este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resolver dudas antes de entregar los chalecos y entrar a la zona.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F0F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7863840" cy="10058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640080" y="2926080"/>
            <a:ext cx="7863840" cy="548640"/>
          </a:xfrm>
          <a:prstGeom prst="rect">
            <a:avLst/>
          </a:prstGeom>
          <a:noFill/>
          <a:ln/>
        </p:spPr>
        <p:txBody>
          <a:bodyPr wrap="square" rtlCol="0"/>
          <a:lstStyle>
            <a:lvl1pPr algn="l" indent="0" marL="0">
              <a:buNone/>
              <a:defRPr lang="en-US" sz="1800" dirty="0">
                <a:solidFill>
                  <a:srgbClr val="C3C2B7"/>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0F0F0F"/>
        </a:solidFill>
      </p:bgPr>
    </p:bg>
    <p:spTree>
      <p:nvGrpSpPr>
        <p:cNvPr id="1" name=""/>
        <p:cNvGrpSpPr/>
        <p:nvPr/>
      </p:nvGrpSpPr>
      <p:grpSpPr>
        <a:xfrm>
          <a:off x="0" y="0"/>
          <a:ext cx="0" cy="0"/>
          <a:chOff x="0" y="0"/>
          <a:chExt cx="0" cy="0"/>
        </a:xfrm>
      </p:grpSpPr>
      <p:pic>
        <p:nvPicPr>
          <p:cNvPr id="2" name="Image 0" descr="/tmp/claude-0/-home-user-MITREPO/21d91df9-1cfc-5dbc-823a-a27b9a33fab4/scratchpad/deck/logo.png">    </p:cNvPr>
          <p:cNvPicPr>
            <a:picLocks noChangeAspect="1"/>
          </p:cNvPicPr>
          <p:nvPr/>
        </p:nvPicPr>
        <p:blipFill>
          <a:blip r:embed="rId1"/>
          <a:stretch>
            <a:fillRect/>
          </a:stretch>
        </p:blipFill>
        <p:spPr>
          <a:xfrm>
            <a:off x="457200" y="4727448"/>
            <a:ext cx="237744" cy="237744"/>
          </a:xfrm>
          <a:prstGeom prst="rect">
            <a:avLst/>
          </a:prstGeom>
        </p:spPr>
      </p:pic>
      <p:sp>
        <p:nvSpPr>
          <p:cNvPr id="3" name="Text 0"/>
          <p:cNvSpPr/>
          <p:nvPr/>
        </p:nvSpPr>
        <p:spPr>
          <a:xfrm>
            <a:off x="749808" y="4700016"/>
            <a:ext cx="502920" cy="292608"/>
          </a:xfrm>
          <a:prstGeom prst="rect">
            <a:avLst/>
          </a:prstGeom>
          <a:noFill/>
          <a:ln/>
        </p:spPr>
        <p:txBody>
          <a:bodyPr wrap="square" lIns="0" tIns="0" rIns="0" bIns="0" rtlCol="0" anchor="ctr"/>
          <a:lstStyle/>
          <a:p>
            <a:pPr indent="0" marL="0">
              <a:buNone/>
            </a:pPr>
            <a:r>
              <a:rPr lang="en-US" sz="1000" b="1" spc="100" kern="0" dirty="0">
                <a:solidFill>
                  <a:srgbClr val="FFFFFF"/>
                </a:solidFill>
              </a:rPr>
              <a:t>TORSA</a:t>
            </a:r>
            <a:endParaRPr lang="en-US" sz="1000" dirty="0"/>
          </a:p>
        </p:txBody>
      </p:sp>
      <p:sp>
        <p:nvSpPr>
          <p:cNvPr id="4" name="Text 1"/>
          <p:cNvSpPr/>
          <p:nvPr/>
        </p:nvSpPr>
        <p:spPr>
          <a:xfrm>
            <a:off x="1216152" y="4700016"/>
            <a:ext cx="548640" cy="292608"/>
          </a:xfrm>
          <a:prstGeom prst="rect">
            <a:avLst/>
          </a:prstGeom>
          <a:noFill/>
          <a:ln/>
        </p:spPr>
        <p:txBody>
          <a:bodyPr wrap="square" lIns="0" tIns="0" rIns="0" bIns="0" rtlCol="0" anchor="ctr"/>
          <a:lstStyle/>
          <a:p>
            <a:pPr indent="0" marL="0">
              <a:buNone/>
            </a:pPr>
            <a:r>
              <a:rPr lang="en-US" sz="1000" spc="100" kern="0" dirty="0">
                <a:solidFill>
                  <a:srgbClr val="999999"/>
                </a:solidFill>
              </a:rPr>
              <a:t>CORE</a:t>
            </a:r>
            <a:endParaRPr lang="en-US" sz="1000" dirty="0"/>
          </a:p>
        </p:txBody>
      </p:sp>
      <p:sp>
        <p:nvSpPr>
          <p:cNvPr id="5" name="Text 2"/>
          <p:cNvSpPr/>
          <p:nvPr/>
        </p:nvSpPr>
        <p:spPr>
          <a:xfrm>
            <a:off x="2286000" y="4700016"/>
            <a:ext cx="4572000" cy="292608"/>
          </a:xfrm>
          <a:prstGeom prst="rect">
            <a:avLst/>
          </a:prstGeom>
          <a:noFill/>
          <a:ln/>
        </p:spPr>
        <p:txBody>
          <a:bodyPr wrap="square" lIns="0" tIns="0" rIns="0" bIns="0" rtlCol="0" anchor="ctr"/>
          <a:lstStyle/>
          <a:p>
            <a:pPr indent="0" marL="0">
              <a:buNone/>
            </a:pPr>
            <a:r>
              <a:rPr lang="en-US" sz="900" dirty="0">
                <a:solidFill>
                  <a:srgbClr val="666666"/>
                </a:solidFill>
              </a:rPr>
              <a:t>Pruebas de campo · Madrid · Octubre 2026</a:t>
            </a:r>
            <a:endParaRPr lang="en-US" sz="900" dirty="0"/>
          </a:p>
        </p:txBody>
      </p:sp>
      <p:sp>
        <p:nvSpPr>
          <p:cNvPr id="6" name="Text 3"/>
          <p:cNvSpPr/>
          <p:nvPr>
            <p:ph idx="104" type="title" hasCustomPrompt="1"/>
          </p:nvPr>
        </p:nvSpPr>
        <p:spPr>
          <a:xfrm>
            <a:off x="640080" y="2011680"/>
            <a:ext cx="78638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7" name="Text 3"/>
          <p:cNvSpPr/>
          <p:nvPr>
            <p:ph idx="105" type="body" hasCustomPrompt="1"/>
          </p:nvPr>
        </p:nvSpPr>
        <p:spPr>
          <a:xfrm>
            <a:off x="640080" y="2880360"/>
            <a:ext cx="7863840" cy="548640"/>
          </a:xfrm>
          <a:prstGeom prst="rect">
            <a:avLst/>
          </a:prstGeom>
          <a:noFill/>
          <a:ln/>
        </p:spPr>
        <p:txBody>
          <a:bodyPr wrap="square" rtlCol="0"/>
          <a:lstStyle>
            <a:lvl1pPr algn="l" indent="0" marL="0">
              <a:buNone/>
              <a:defRPr lang="en-US" sz="1600" dirty="0">
                <a:solidFill>
                  <a:srgbClr val="999999"/>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0F0F0F"/>
        </a:solidFill>
      </p:bgPr>
    </p:bg>
    <p:spTree>
      <p:nvGrpSpPr>
        <p:cNvPr id="1" name=""/>
        <p:cNvGrpSpPr/>
        <p:nvPr/>
      </p:nvGrpSpPr>
      <p:grpSpPr>
        <a:xfrm>
          <a:off x="0" y="0"/>
          <a:ext cx="0" cy="0"/>
          <a:chOff x="0" y="0"/>
          <a:chExt cx="0" cy="0"/>
        </a:xfrm>
      </p:grpSpPr>
      <p:pic>
        <p:nvPicPr>
          <p:cNvPr id="2" name="Image 0" descr="/tmp/claude-0/-home-user-MITREPO/21d91df9-1cfc-5dbc-823a-a27b9a33fab4/scratchpad/deck/logo.png">    </p:cNvPr>
          <p:cNvPicPr>
            <a:picLocks noChangeAspect="1"/>
          </p:cNvPicPr>
          <p:nvPr/>
        </p:nvPicPr>
        <p:blipFill>
          <a:blip r:embed="rId1"/>
          <a:stretch>
            <a:fillRect/>
          </a:stretch>
        </p:blipFill>
        <p:spPr>
          <a:xfrm>
            <a:off x="457200" y="4727448"/>
            <a:ext cx="237744" cy="237744"/>
          </a:xfrm>
          <a:prstGeom prst="rect">
            <a:avLst/>
          </a:prstGeom>
        </p:spPr>
      </p:pic>
      <p:sp>
        <p:nvSpPr>
          <p:cNvPr id="3" name="Text 0"/>
          <p:cNvSpPr/>
          <p:nvPr/>
        </p:nvSpPr>
        <p:spPr>
          <a:xfrm>
            <a:off x="749808" y="4700016"/>
            <a:ext cx="502920" cy="292608"/>
          </a:xfrm>
          <a:prstGeom prst="rect">
            <a:avLst/>
          </a:prstGeom>
          <a:noFill/>
          <a:ln/>
        </p:spPr>
        <p:txBody>
          <a:bodyPr wrap="square" lIns="0" tIns="0" rIns="0" bIns="0" rtlCol="0" anchor="ctr"/>
          <a:lstStyle/>
          <a:p>
            <a:pPr indent="0" marL="0">
              <a:buNone/>
            </a:pPr>
            <a:r>
              <a:rPr lang="en-US" sz="1000" b="1" spc="100" kern="0" dirty="0">
                <a:solidFill>
                  <a:srgbClr val="FFFFFF"/>
                </a:solidFill>
              </a:rPr>
              <a:t>TORSA</a:t>
            </a:r>
            <a:endParaRPr lang="en-US" sz="1000" dirty="0"/>
          </a:p>
        </p:txBody>
      </p:sp>
      <p:sp>
        <p:nvSpPr>
          <p:cNvPr id="4" name="Text 1"/>
          <p:cNvSpPr/>
          <p:nvPr/>
        </p:nvSpPr>
        <p:spPr>
          <a:xfrm>
            <a:off x="1216152" y="4700016"/>
            <a:ext cx="548640" cy="292608"/>
          </a:xfrm>
          <a:prstGeom prst="rect">
            <a:avLst/>
          </a:prstGeom>
          <a:noFill/>
          <a:ln/>
        </p:spPr>
        <p:txBody>
          <a:bodyPr wrap="square" lIns="0" tIns="0" rIns="0" bIns="0" rtlCol="0" anchor="ctr"/>
          <a:lstStyle/>
          <a:p>
            <a:pPr indent="0" marL="0">
              <a:buNone/>
            </a:pPr>
            <a:r>
              <a:rPr lang="en-US" sz="1000" spc="100" kern="0" dirty="0">
                <a:solidFill>
                  <a:srgbClr val="999999"/>
                </a:solidFill>
              </a:rPr>
              <a:t>CORE</a:t>
            </a:r>
            <a:endParaRPr lang="en-US" sz="1000" dirty="0"/>
          </a:p>
        </p:txBody>
      </p:sp>
      <p:sp>
        <p:nvSpPr>
          <p:cNvPr id="5" name="Text 2"/>
          <p:cNvSpPr/>
          <p:nvPr/>
        </p:nvSpPr>
        <p:spPr>
          <a:xfrm>
            <a:off x="2286000" y="4700016"/>
            <a:ext cx="4572000" cy="292608"/>
          </a:xfrm>
          <a:prstGeom prst="rect">
            <a:avLst/>
          </a:prstGeom>
          <a:noFill/>
          <a:ln/>
        </p:spPr>
        <p:txBody>
          <a:bodyPr wrap="square" lIns="0" tIns="0" rIns="0" bIns="0" rtlCol="0" anchor="ctr"/>
          <a:lstStyle/>
          <a:p>
            <a:pPr indent="0" marL="0">
              <a:buNone/>
            </a:pPr>
            <a:r>
              <a:rPr lang="en-US" sz="900" dirty="0">
                <a:solidFill>
                  <a:srgbClr val="666666"/>
                </a:solidFill>
              </a:rPr>
              <a:t>Pruebas de campo · Madrid · Octubre 2026</a:t>
            </a:r>
            <a:endParaRPr lang="en-US" sz="900" dirty="0"/>
          </a:p>
        </p:txBody>
      </p:sp>
      <p:sp>
        <p:nvSpPr>
          <p:cNvPr id="6" name="Text 3"/>
          <p:cNvSpPr/>
          <p:nvPr>
            <p:ph idx="104" type="title" hasCustomPrompt="1"/>
          </p:nvPr>
        </p:nvSpPr>
        <p:spPr>
          <a:xfrm>
            <a:off x="457200" y="292608"/>
            <a:ext cx="6675120" cy="56692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TORSA" descr="/tmp/claude-0/-home-user-MITREPO/21d91df9-1cfc-5dbc-823a-a27b9a33fab4/scratchpad/deck/logo.png">    </p:cNvPr>
          <p:cNvPicPr>
            <a:picLocks noChangeAspect="1"/>
          </p:cNvPicPr>
          <p:nvPr/>
        </p:nvPicPr>
        <p:blipFill>
          <a:blip r:embed="rId1"/>
          <a:stretch>
            <a:fillRect/>
          </a:stretch>
        </p:blipFill>
        <p:spPr>
          <a:xfrm>
            <a:off x="640080" y="685800"/>
            <a:ext cx="685800" cy="694944"/>
          </a:xfrm>
          <a:prstGeom prst="rect">
            <a:avLst/>
          </a:prstGeom>
        </p:spPr>
      </p:pic>
      <p:sp>
        <p:nvSpPr>
          <p:cNvPr id="3" name="marca"/>
          <p:cNvSpPr txBox="1"/>
          <p:nvPr/>
        </p:nvSpPr>
        <p:spPr>
          <a:xfrm>
            <a:off x="1463040" y="822960"/>
            <a:ext cx="2743200" cy="411480"/>
          </a:xfrm>
          <a:prstGeom prst="rect">
            <a:avLst/>
          </a:prstGeom>
          <a:noFill/>
          <a:ln/>
        </p:spPr>
        <p:txBody>
          <a:bodyPr wrap="square" lIns="0" tIns="0" rIns="0" bIns="0" rtlCol="0" anchor="ctr"/>
          <a:lstStyle/>
          <a:p>
            <a:pPr indent="0" marL="0">
              <a:buNone/>
            </a:pPr>
            <a:r>
              <a:rPr lang="en-US" sz="2000" b="1" spc="150" kern="0" dirty="0">
                <a:solidFill>
                  <a:srgbClr val="FFFFFF"/>
                </a:solidFill>
              </a:rPr>
              <a:t>TORSA </a:t>
            </a:r>
            <a:pPr indent="0" marL="0">
              <a:buNone/>
            </a:pPr>
            <a:r>
              <a:rPr lang="en-US" sz="2000" spc="150" kern="0" dirty="0">
                <a:solidFill>
                  <a:srgbClr val="999999"/>
                </a:solidFill>
              </a:rPr>
              <a:t>CORE</a:t>
            </a:r>
            <a:endParaRPr lang="en-US" sz="2000" dirty="0"/>
          </a:p>
        </p:txBody>
      </p:sp>
      <p:sp>
        <p:nvSpPr>
          <p:cNvPr id="4" name="programa"/>
          <p:cNvSpPr txBox="1"/>
          <p:nvPr/>
        </p:nvSpPr>
        <p:spPr>
          <a:xfrm>
            <a:off x="640080" y="1572768"/>
            <a:ext cx="5486400" cy="228600"/>
          </a:xfrm>
          <a:prstGeom prst="rect">
            <a:avLst/>
          </a:prstGeom>
          <a:noFill/>
          <a:ln/>
        </p:spPr>
        <p:txBody>
          <a:bodyPr wrap="square" lIns="0" tIns="0" rIns="0" bIns="0" rtlCol="0" anchor="t"/>
          <a:lstStyle/>
          <a:p>
            <a:pPr indent="0" marL="0">
              <a:buNone/>
            </a:pPr>
            <a:r>
              <a:rPr lang="en-US" sz="900" b="1" spc="200" kern="0" dirty="0">
                <a:solidFill>
                  <a:srgbClr val="999999"/>
                </a:solidFill>
              </a:rPr>
              <a:t>OPERACIÓN AUMENTADA · VALIDACIÓN DE PRODUCTO</a:t>
            </a:r>
            <a:endParaRPr lang="en-US" sz="900" dirty="0"/>
          </a:p>
        </p:txBody>
      </p:sp>
      <p:sp>
        <p:nvSpPr>
          <p:cNvPr id="5" name="Text 0"/>
          <p:cNvSpPr/>
          <p:nvPr>
            <p:ph idx="100" type="title" hasCustomPrompt="1"/>
          </p:nvPr>
        </p:nvSpPr>
        <p:spPr>
          <a:xfrm>
            <a:off x="640080" y="1874520"/>
            <a:ext cx="7863840" cy="1005840"/>
          </a:xfrm>
          <a:prstGeom prst="rect">
            <a:avLst/>
          </a:prstGeom>
          <a:noFill/>
          <a:ln/>
        </p:spPr>
        <p:txBody>
          <a:bodyPr wrap="square" lIns="0" tIns="0" rIns="0" bIns="0" rtlCol="0" anchor="b"/>
          <a:lstStyle/>
          <a:p>
            <a:pPr algn="l" indent="0" marL="0">
              <a:buNone/>
            </a:pPr>
            <a:r>
              <a:rPr lang="en-US" sz="4000" b="1" dirty="0">
                <a:solidFill>
                  <a:schemeClr val="tx1"/>
                </a:solidFill>
              </a:rPr>
              <a:t>Pruebas de campo en Madrid</a:t>
            </a:r>
            <a:endParaRPr lang="en-US" sz="4000" dirty="0"/>
          </a:p>
        </p:txBody>
      </p:sp>
      <p:sp>
        <p:nvSpPr>
          <p:cNvPr id="6" name="Text 0"/>
          <p:cNvSpPr/>
          <p:nvPr>
            <p:ph idx="101" type="body" hasCustomPrompt="1"/>
          </p:nvPr>
        </p:nvSpPr>
        <p:spPr>
          <a:xfrm>
            <a:off x="640080" y="2926080"/>
            <a:ext cx="7863840" cy="548640"/>
          </a:xfrm>
          <a:prstGeom prst="rect">
            <a:avLst/>
          </a:prstGeom>
          <a:noFill/>
          <a:ln/>
        </p:spPr>
        <p:txBody>
          <a:bodyPr wrap="square" lIns="0" tIns="0" rIns="0" bIns="0" rtlCol="0" anchor="t"/>
          <a:lstStyle/>
          <a:p>
            <a:pPr algn="l" indent="0" marL="0">
              <a:buNone/>
            </a:pPr>
            <a:r>
              <a:rPr lang="en-US" sz="1800" dirty="0">
                <a:solidFill>
                  <a:srgbClr val="C3C2B7"/>
                </a:solidFill>
              </a:rPr>
              <a:t>Briefing de seguridad y plan de pruebas</a:t>
            </a:r>
            <a:endParaRPr lang="en-US" sz="1800" dirty="0"/>
          </a:p>
        </p:txBody>
      </p:sp>
      <p:sp>
        <p:nvSpPr>
          <p:cNvPr id="7" name="fecha fondo"/>
          <p:cNvSpPr/>
          <p:nvPr/>
        </p:nvSpPr>
        <p:spPr>
          <a:xfrm>
            <a:off x="640080" y="3931920"/>
            <a:ext cx="1463040" cy="274320"/>
          </a:xfrm>
          <a:prstGeom prst="roundRect">
            <a:avLst>
              <a:gd name="adj" fmla="val 50000"/>
            </a:avLst>
          </a:prstGeom>
          <a:solidFill>
            <a:srgbClr val="1A1A1A"/>
          </a:solidFill>
          <a:ln w="9525">
            <a:solidFill>
              <a:srgbClr val="444444"/>
            </a:solidFill>
            <a:prstDash val="solid"/>
          </a:ln>
        </p:spPr>
      </p:sp>
      <p:sp>
        <p:nvSpPr>
          <p:cNvPr id="8" name="fecha punto"/>
          <p:cNvSpPr/>
          <p:nvPr/>
        </p:nvSpPr>
        <p:spPr>
          <a:xfrm>
            <a:off x="749808" y="4027932"/>
            <a:ext cx="82296" cy="82296"/>
          </a:xfrm>
          <a:prstGeom prst="ellipse">
            <a:avLst/>
          </a:prstGeom>
          <a:solidFill>
            <a:srgbClr val="6BA6FF"/>
          </a:solidFill>
          <a:ln w="12700">
            <a:solidFill>
              <a:srgbClr val="6BA6FF"/>
            </a:solidFill>
            <a:prstDash val="solid"/>
          </a:ln>
        </p:spPr>
      </p:sp>
      <p:sp>
        <p:nvSpPr>
          <p:cNvPr id="9" name="fecha"/>
          <p:cNvSpPr txBox="1"/>
          <p:nvPr/>
        </p:nvSpPr>
        <p:spPr>
          <a:xfrm>
            <a:off x="896112" y="3931920"/>
            <a:ext cx="1152144" cy="274320"/>
          </a:xfrm>
          <a:prstGeom prst="rect">
            <a:avLst/>
          </a:prstGeom>
          <a:noFill/>
          <a:ln/>
        </p:spPr>
        <p:txBody>
          <a:bodyPr wrap="square" lIns="0" tIns="0" rIns="0" bIns="0" rtlCol="0" anchor="ctr"/>
          <a:lstStyle/>
          <a:p>
            <a:pPr indent="0" marL="0">
              <a:buNone/>
            </a:pPr>
            <a:r>
              <a:rPr lang="en-US" sz="1000" dirty="0">
                <a:solidFill>
                  <a:srgbClr val="C3C2B7"/>
                </a:solidFill>
              </a:rPr>
              <a:t>Octubre 2026</a:t>
            </a:r>
            <a:endParaRPr lang="en-US" sz="1000" dirty="0"/>
          </a:p>
        </p:txBody>
      </p:sp>
      <p:sp>
        <p:nvSpPr>
          <p:cNvPr id="10" name="resumen fondo"/>
          <p:cNvSpPr/>
          <p:nvPr/>
        </p:nvSpPr>
        <p:spPr>
          <a:xfrm>
            <a:off x="2240280" y="3931920"/>
            <a:ext cx="1828800" cy="274320"/>
          </a:xfrm>
          <a:prstGeom prst="roundRect">
            <a:avLst>
              <a:gd name="adj" fmla="val 50000"/>
            </a:avLst>
          </a:prstGeom>
          <a:solidFill>
            <a:srgbClr val="1A1A1A"/>
          </a:solidFill>
          <a:ln w="9525">
            <a:solidFill>
              <a:srgbClr val="444444"/>
            </a:solidFill>
            <a:prstDash val="solid"/>
          </a:ln>
        </p:spPr>
      </p:sp>
      <p:sp>
        <p:nvSpPr>
          <p:cNvPr id="11" name="resumen punto"/>
          <p:cNvSpPr/>
          <p:nvPr/>
        </p:nvSpPr>
        <p:spPr>
          <a:xfrm>
            <a:off x="2350008" y="4027932"/>
            <a:ext cx="82296" cy="82296"/>
          </a:xfrm>
          <a:prstGeom prst="ellipse">
            <a:avLst/>
          </a:prstGeom>
          <a:solidFill>
            <a:srgbClr val="6BA6FF"/>
          </a:solidFill>
          <a:ln w="12700">
            <a:solidFill>
              <a:srgbClr val="6BA6FF"/>
            </a:solidFill>
            <a:prstDash val="solid"/>
          </a:ln>
        </p:spPr>
      </p:sp>
      <p:sp>
        <p:nvSpPr>
          <p:cNvPr id="12" name="resumen"/>
          <p:cNvSpPr txBox="1"/>
          <p:nvPr/>
        </p:nvSpPr>
        <p:spPr>
          <a:xfrm>
            <a:off x="2496312" y="3931920"/>
            <a:ext cx="1517904" cy="274320"/>
          </a:xfrm>
          <a:prstGeom prst="rect">
            <a:avLst/>
          </a:prstGeom>
          <a:noFill/>
          <a:ln/>
        </p:spPr>
        <p:txBody>
          <a:bodyPr wrap="square" lIns="0" tIns="0" rIns="0" bIns="0" rtlCol="0" anchor="ctr"/>
          <a:lstStyle/>
          <a:p>
            <a:pPr indent="0" marL="0">
              <a:buNone/>
            </a:pPr>
            <a:r>
              <a:rPr lang="en-US" sz="1000" dirty="0">
                <a:solidFill>
                  <a:srgbClr val="C3C2B7"/>
                </a:solidFill>
              </a:rPr>
              <a:t>2 camiones · 5 pruebas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Qué vamos a ver</a:t>
            </a:r>
            <a:endParaRPr lang="en-US" sz="2600" dirty="0"/>
          </a:p>
        </p:txBody>
      </p:sp>
      <p:sp>
        <p:nvSpPr>
          <p:cNvPr id="3" name="bloque 01"/>
          <p:cNvSpPr/>
          <p:nvPr/>
        </p:nvSpPr>
        <p:spPr>
          <a:xfrm>
            <a:off x="457200" y="1097280"/>
            <a:ext cx="4023360" cy="3429000"/>
          </a:xfrm>
          <a:prstGeom prst="roundRect">
            <a:avLst>
              <a:gd name="adj" fmla="val 2667"/>
            </a:avLst>
          </a:prstGeom>
          <a:solidFill>
            <a:srgbClr val="1A1A1A"/>
          </a:solidFill>
          <a:ln w="9525">
            <a:solidFill>
              <a:srgbClr val="333333"/>
            </a:solidFill>
            <a:prstDash val="solid"/>
          </a:ln>
        </p:spPr>
      </p:sp>
      <p:sp>
        <p:nvSpPr>
          <p:cNvPr id="4" name="icono 01 fondo"/>
          <p:cNvSpPr/>
          <p:nvPr/>
        </p:nvSpPr>
        <p:spPr>
          <a:xfrm>
            <a:off x="731520" y="1371600"/>
            <a:ext cx="640080" cy="640080"/>
          </a:xfrm>
          <a:prstGeom prst="ellipse">
            <a:avLst/>
          </a:prstGeom>
          <a:solidFill>
            <a:srgbClr val="3E8EF7">
              <a:alpha val="18000"/>
            </a:srgbClr>
          </a:solidFill>
          <a:ln w="6350">
            <a:solidFill>
              <a:srgbClr val="3E8EF7">
                <a:alpha val="40000"/>
              </a:srgbClr>
            </a:solidFill>
            <a:prstDash val="solid"/>
          </a:ln>
        </p:spPr>
      </p:sp>
      <p:pic>
        <p:nvPicPr>
          <p:cNvPr id="5" name="icono 01" descr="preencoded.png">    </p:cNvPr>
          <p:cNvPicPr>
            <a:picLocks noChangeAspect="1"/>
          </p:cNvPicPr>
          <p:nvPr/>
        </p:nvPicPr>
        <p:blipFill>
          <a:blip r:embed="rId1"/>
          <a:stretch>
            <a:fillRect/>
          </a:stretch>
        </p:blipFill>
        <p:spPr>
          <a:xfrm>
            <a:off x="891540" y="1531620"/>
            <a:ext cx="320040" cy="320040"/>
          </a:xfrm>
          <a:prstGeom prst="rect">
            <a:avLst/>
          </a:prstGeom>
        </p:spPr>
      </p:pic>
      <p:sp>
        <p:nvSpPr>
          <p:cNvPr id="6" name="número 01"/>
          <p:cNvSpPr txBox="1"/>
          <p:nvPr/>
        </p:nvSpPr>
        <p:spPr>
          <a:xfrm>
            <a:off x="1508760" y="1371600"/>
            <a:ext cx="548640" cy="274320"/>
          </a:xfrm>
          <a:prstGeom prst="rect">
            <a:avLst/>
          </a:prstGeom>
          <a:noFill/>
          <a:ln/>
        </p:spPr>
        <p:txBody>
          <a:bodyPr wrap="square" lIns="0" tIns="0" rIns="0" bIns="0" rtlCol="0" anchor="t"/>
          <a:lstStyle/>
          <a:p>
            <a:pPr indent="0" marL="0">
              <a:buNone/>
            </a:pPr>
            <a:r>
              <a:rPr lang="en-US" sz="1100" b="1" dirty="0">
                <a:solidFill>
                  <a:srgbClr val="6BA6FF"/>
                </a:solidFill>
              </a:rPr>
              <a:t>01</a:t>
            </a:r>
            <a:endParaRPr lang="en-US" sz="1100" dirty="0"/>
          </a:p>
        </p:txBody>
      </p:sp>
      <p:sp>
        <p:nvSpPr>
          <p:cNvPr id="7" name="título 01"/>
          <p:cNvSpPr txBox="1"/>
          <p:nvPr/>
        </p:nvSpPr>
        <p:spPr>
          <a:xfrm>
            <a:off x="1508760" y="1627632"/>
            <a:ext cx="2743200" cy="411480"/>
          </a:xfrm>
          <a:prstGeom prst="rect">
            <a:avLst/>
          </a:prstGeom>
          <a:noFill/>
          <a:ln/>
        </p:spPr>
        <p:txBody>
          <a:bodyPr wrap="square" lIns="0" tIns="0" rIns="0" bIns="0" rtlCol="0" anchor="t"/>
          <a:lstStyle/>
          <a:p>
            <a:pPr indent="0" marL="0">
              <a:buNone/>
            </a:pPr>
            <a:r>
              <a:rPr lang="en-US" sz="1700" b="1" dirty="0">
                <a:solidFill>
                  <a:srgbClr val="FFFFFF"/>
                </a:solidFill>
              </a:rPr>
              <a:t>Seguridad en la zona de pruebas</a:t>
            </a:r>
            <a:endParaRPr lang="en-US" sz="1700" dirty="0"/>
          </a:p>
        </p:txBody>
      </p:sp>
      <p:sp>
        <p:nvSpPr>
          <p:cNvPr id="8" name="descripción 01"/>
          <p:cNvSpPr txBox="1"/>
          <p:nvPr/>
        </p:nvSpPr>
        <p:spPr>
          <a:xfrm>
            <a:off x="731520" y="2194560"/>
            <a:ext cx="3474720" cy="502920"/>
          </a:xfrm>
          <a:prstGeom prst="rect">
            <a:avLst/>
          </a:prstGeom>
          <a:noFill/>
          <a:ln/>
        </p:spPr>
        <p:txBody>
          <a:bodyPr wrap="square" lIns="0" tIns="0" rIns="0" bIns="0" rtlCol="0" anchor="t"/>
          <a:lstStyle/>
          <a:p>
            <a:pPr indent="0" marL="0">
              <a:buNone/>
            </a:pPr>
            <a:r>
              <a:rPr lang="en-US" sz="1250" dirty="0">
                <a:solidFill>
                  <a:srgbClr val="C3C2B7"/>
                </a:solidFill>
              </a:rPr>
              <a:t>Cinco reglas que se cumplen en todo momento mientras estemos en la zona.</a:t>
            </a:r>
            <a:endParaRPr lang="en-US" sz="1250" dirty="0"/>
          </a:p>
        </p:txBody>
      </p:sp>
      <p:sp>
        <p:nvSpPr>
          <p:cNvPr id="9" name="lista 01"/>
          <p:cNvSpPr txBox="1"/>
          <p:nvPr/>
        </p:nvSpPr>
        <p:spPr>
          <a:xfrm>
            <a:off x="731520" y="2788920"/>
            <a:ext cx="3474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0E0E0"/>
                </a:solidFill>
              </a:rPr>
              <a:t>Chaleco de alta visibilidad</a:t>
            </a:r>
            <a:endParaRPr lang="en-US" sz="1300" dirty="0"/>
          </a:p>
          <a:p>
            <a:pPr marL="177800" indent="-177800">
              <a:spcAft>
                <a:spcPts val="500"/>
              </a:spcAft>
              <a:buSzPct val="100000"/>
              <a:buChar char="•"/>
            </a:pPr>
            <a:r>
              <a:rPr lang="en-US" sz="1300" dirty="0">
                <a:solidFill>
                  <a:srgbClr val="E0E0E0"/>
                </a:solidFill>
              </a:rPr>
              <a:t>Zona delimitada y acceso a pie</a:t>
            </a:r>
            <a:endParaRPr lang="en-US" sz="1300" dirty="0"/>
          </a:p>
          <a:p>
            <a:pPr marL="177800" indent="-177800">
              <a:spcAft>
                <a:spcPts val="500"/>
              </a:spcAft>
              <a:buSzPct val="100000"/>
              <a:buChar char="•"/>
            </a:pPr>
            <a:r>
              <a:rPr lang="en-US" sz="1300" dirty="0">
                <a:solidFill>
                  <a:srgbClr val="E0E0E0"/>
                </a:solidFill>
              </a:rPr>
              <a:t>Carpa: punto de espera</a:t>
            </a:r>
            <a:endParaRPr lang="en-US" sz="1300" dirty="0"/>
          </a:p>
          <a:p>
            <a:pPr marL="177800" indent="-177800">
              <a:spcAft>
                <a:spcPts val="500"/>
              </a:spcAft>
              <a:buSzPct val="100000"/>
              <a:buChar char="•"/>
            </a:pPr>
            <a:r>
              <a:rPr lang="en-US" sz="1300" dirty="0">
                <a:solidFill>
                  <a:srgbClr val="E0E0E0"/>
                </a:solidFill>
              </a:rPr>
              <a:t>Cómo acercarse a un camión</a:t>
            </a:r>
            <a:endParaRPr lang="en-US" sz="1300" dirty="0"/>
          </a:p>
          <a:p>
            <a:pPr marL="177800" indent="-177800">
              <a:spcAft>
                <a:spcPts val="500"/>
              </a:spcAft>
              <a:buSzPct val="100000"/>
              <a:buChar char="•"/>
            </a:pPr>
            <a:r>
              <a:rPr lang="en-US" sz="1300" dirty="0">
                <a:solidFill>
                  <a:srgbClr val="E0E0E0"/>
                </a:solidFill>
              </a:rPr>
              <a:t>Avisar siempre antes de entrar</a:t>
            </a:r>
            <a:endParaRPr lang="en-US" sz="1300" dirty="0"/>
          </a:p>
        </p:txBody>
      </p:sp>
      <p:sp>
        <p:nvSpPr>
          <p:cNvPr id="10" name="bloque 02"/>
          <p:cNvSpPr/>
          <p:nvPr/>
        </p:nvSpPr>
        <p:spPr>
          <a:xfrm>
            <a:off x="4663440" y="1097280"/>
            <a:ext cx="4023360" cy="3429000"/>
          </a:xfrm>
          <a:prstGeom prst="roundRect">
            <a:avLst>
              <a:gd name="adj" fmla="val 2667"/>
            </a:avLst>
          </a:prstGeom>
          <a:solidFill>
            <a:srgbClr val="1A1A1A"/>
          </a:solidFill>
          <a:ln w="9525">
            <a:solidFill>
              <a:srgbClr val="333333"/>
            </a:solidFill>
            <a:prstDash val="solid"/>
          </a:ln>
        </p:spPr>
      </p:sp>
      <p:sp>
        <p:nvSpPr>
          <p:cNvPr id="11" name="icono 02 fondo"/>
          <p:cNvSpPr/>
          <p:nvPr/>
        </p:nvSpPr>
        <p:spPr>
          <a:xfrm>
            <a:off x="4937760" y="1371600"/>
            <a:ext cx="640080" cy="640080"/>
          </a:xfrm>
          <a:prstGeom prst="ellipse">
            <a:avLst/>
          </a:prstGeom>
          <a:solidFill>
            <a:srgbClr val="3E8EF7">
              <a:alpha val="18000"/>
            </a:srgbClr>
          </a:solidFill>
          <a:ln w="6350">
            <a:solidFill>
              <a:srgbClr val="3E8EF7">
                <a:alpha val="40000"/>
              </a:srgbClr>
            </a:solidFill>
            <a:prstDash val="solid"/>
          </a:ln>
        </p:spPr>
      </p:sp>
      <p:pic>
        <p:nvPicPr>
          <p:cNvPr id="12" name="icono 02" descr="preencoded.png">    </p:cNvPr>
          <p:cNvPicPr>
            <a:picLocks noChangeAspect="1"/>
          </p:cNvPicPr>
          <p:nvPr/>
        </p:nvPicPr>
        <p:blipFill>
          <a:blip r:embed="rId2"/>
          <a:stretch>
            <a:fillRect/>
          </a:stretch>
        </p:blipFill>
        <p:spPr>
          <a:xfrm>
            <a:off x="5097780" y="1531620"/>
            <a:ext cx="320040" cy="320040"/>
          </a:xfrm>
          <a:prstGeom prst="rect">
            <a:avLst/>
          </a:prstGeom>
        </p:spPr>
      </p:pic>
      <p:sp>
        <p:nvSpPr>
          <p:cNvPr id="13" name="número 02"/>
          <p:cNvSpPr txBox="1"/>
          <p:nvPr/>
        </p:nvSpPr>
        <p:spPr>
          <a:xfrm>
            <a:off x="5715000" y="1371600"/>
            <a:ext cx="548640" cy="274320"/>
          </a:xfrm>
          <a:prstGeom prst="rect">
            <a:avLst/>
          </a:prstGeom>
          <a:noFill/>
          <a:ln/>
        </p:spPr>
        <p:txBody>
          <a:bodyPr wrap="square" lIns="0" tIns="0" rIns="0" bIns="0" rtlCol="0" anchor="t"/>
          <a:lstStyle/>
          <a:p>
            <a:pPr indent="0" marL="0">
              <a:buNone/>
            </a:pPr>
            <a:r>
              <a:rPr lang="en-US" sz="1100" b="1" dirty="0">
                <a:solidFill>
                  <a:srgbClr val="6BA6FF"/>
                </a:solidFill>
              </a:rPr>
              <a:t>02</a:t>
            </a:r>
            <a:endParaRPr lang="en-US" sz="1100" dirty="0"/>
          </a:p>
        </p:txBody>
      </p:sp>
      <p:sp>
        <p:nvSpPr>
          <p:cNvPr id="14" name="título 02"/>
          <p:cNvSpPr txBox="1"/>
          <p:nvPr/>
        </p:nvSpPr>
        <p:spPr>
          <a:xfrm>
            <a:off x="5715000" y="1627632"/>
            <a:ext cx="2743200" cy="411480"/>
          </a:xfrm>
          <a:prstGeom prst="rect">
            <a:avLst/>
          </a:prstGeom>
          <a:noFill/>
          <a:ln/>
        </p:spPr>
        <p:txBody>
          <a:bodyPr wrap="square" lIns="0" tIns="0" rIns="0" bIns="0" rtlCol="0" anchor="t"/>
          <a:lstStyle/>
          <a:p>
            <a:pPr indent="0" marL="0">
              <a:buNone/>
            </a:pPr>
            <a:r>
              <a:rPr lang="en-US" sz="1700" b="1" dirty="0">
                <a:solidFill>
                  <a:srgbClr val="FFFFFF"/>
                </a:solidFill>
              </a:rPr>
              <a:t>Plan de pruebas</a:t>
            </a:r>
            <a:endParaRPr lang="en-US" sz="1700" dirty="0"/>
          </a:p>
        </p:txBody>
      </p:sp>
      <p:sp>
        <p:nvSpPr>
          <p:cNvPr id="15" name="descripción 02"/>
          <p:cNvSpPr txBox="1"/>
          <p:nvPr/>
        </p:nvSpPr>
        <p:spPr>
          <a:xfrm>
            <a:off x="4937760" y="2194560"/>
            <a:ext cx="3474720" cy="502920"/>
          </a:xfrm>
          <a:prstGeom prst="rect">
            <a:avLst/>
          </a:prstGeom>
          <a:noFill/>
          <a:ln/>
        </p:spPr>
        <p:txBody>
          <a:bodyPr wrap="square" lIns="0" tIns="0" rIns="0" bIns="0" rtlCol="0" anchor="t"/>
          <a:lstStyle/>
          <a:p>
            <a:pPr indent="0" marL="0">
              <a:buNone/>
            </a:pPr>
            <a:r>
              <a:rPr lang="en-US" sz="1250" dirty="0">
                <a:solidFill>
                  <a:srgbClr val="C3C2B7"/>
                </a:solidFill>
              </a:rPr>
              <a:t>Secuencia de cinco pruebas con dos camiones, cada uno en su carril.</a:t>
            </a:r>
            <a:endParaRPr lang="en-US" sz="1250" dirty="0"/>
          </a:p>
        </p:txBody>
      </p:sp>
      <p:sp>
        <p:nvSpPr>
          <p:cNvPr id="16" name="lista 02"/>
          <p:cNvSpPr txBox="1"/>
          <p:nvPr/>
        </p:nvSpPr>
        <p:spPr>
          <a:xfrm>
            <a:off x="4937760" y="2788920"/>
            <a:ext cx="3474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0E0E0"/>
                </a:solidFill>
              </a:rPr>
              <a:t>Enfrentamiento</a:t>
            </a:r>
            <a:endParaRPr lang="en-US" sz="1300" dirty="0"/>
          </a:p>
          <a:p>
            <a:pPr marL="177800" indent="-177800">
              <a:spcAft>
                <a:spcPts val="500"/>
              </a:spcAft>
              <a:buSzPct val="100000"/>
              <a:buChar char="•"/>
            </a:pPr>
            <a:r>
              <a:rPr lang="en-US" sz="1300" dirty="0">
                <a:solidFill>
                  <a:srgbClr val="E0E0E0"/>
                </a:solidFill>
              </a:rPr>
              <a:t>Cruce en carriles distintos</a:t>
            </a:r>
            <a:endParaRPr lang="en-US" sz="1300" dirty="0"/>
          </a:p>
          <a:p>
            <a:pPr marL="177800" indent="-177800">
              <a:spcAft>
                <a:spcPts val="500"/>
              </a:spcAft>
              <a:buSzPct val="100000"/>
              <a:buChar char="•"/>
            </a:pPr>
            <a:r>
              <a:rPr lang="en-US" sz="1300" dirty="0">
                <a:solidFill>
                  <a:srgbClr val="E0E0E0"/>
                </a:solidFill>
              </a:rPr>
              <a:t>Seguimiento</a:t>
            </a:r>
            <a:endParaRPr lang="en-US" sz="1300" dirty="0"/>
          </a:p>
          <a:p>
            <a:pPr marL="177800" indent="-177800">
              <a:spcAft>
                <a:spcPts val="500"/>
              </a:spcAft>
              <a:buSzPct val="100000"/>
              <a:buChar char="•"/>
            </a:pPr>
            <a:r>
              <a:rPr lang="en-US" sz="1300" dirty="0">
                <a:solidFill>
                  <a:srgbClr val="E0E0E0"/>
                </a:solidFill>
              </a:rPr>
              <a:t>Cruce en intersección</a:t>
            </a:r>
            <a:endParaRPr lang="en-US" sz="1300" dirty="0"/>
          </a:p>
          <a:p>
            <a:pPr marL="177800" indent="-177800">
              <a:spcAft>
                <a:spcPts val="500"/>
              </a:spcAft>
              <a:buSzPct val="100000"/>
              <a:buChar char="•"/>
            </a:pPr>
            <a:r>
              <a:rPr lang="en-US" sz="1300" dirty="0">
                <a:solidFill>
                  <a:srgbClr val="E0E0E0"/>
                </a:solidFill>
              </a:rPr>
              <a:t>Recta: validación final</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úmero de sección"/>
          <p:cNvSpPr txBox="1"/>
          <p:nvPr/>
        </p:nvSpPr>
        <p:spPr>
          <a:xfrm>
            <a:off x="640080" y="1234440"/>
            <a:ext cx="1828800" cy="731520"/>
          </a:xfrm>
          <a:prstGeom prst="rect">
            <a:avLst/>
          </a:prstGeom>
          <a:noFill/>
          <a:ln/>
        </p:spPr>
        <p:txBody>
          <a:bodyPr wrap="square" lIns="0" tIns="0" rIns="0" bIns="0" rtlCol="0" anchor="t"/>
          <a:lstStyle/>
          <a:p>
            <a:pPr indent="0" marL="0">
              <a:buNone/>
            </a:pPr>
            <a:r>
              <a:rPr lang="en-US" sz="5400" b="1" dirty="0">
                <a:solidFill>
                  <a:srgbClr val="3E8EF7"/>
                </a:solidFill>
              </a:rPr>
              <a:t>01</a:t>
            </a:r>
            <a:endParaRPr lang="en-US" sz="5400" dirty="0"/>
          </a:p>
        </p:txBody>
      </p:sp>
      <p:sp>
        <p:nvSpPr>
          <p:cNvPr id="3" name="Text 3"/>
          <p:cNvSpPr/>
          <p:nvPr>
            <p:ph idx="104" type="title" hasCustomPrompt="1"/>
          </p:nvPr>
        </p:nvSpPr>
        <p:spPr>
          <a:xfrm>
            <a:off x="640080" y="2011680"/>
            <a:ext cx="7863840" cy="822960"/>
          </a:xfrm>
          <a:prstGeom prst="rect">
            <a:avLst/>
          </a:prstGeom>
          <a:noFill/>
          <a:ln/>
        </p:spPr>
        <p:txBody>
          <a:bodyPr wrap="square" lIns="0" tIns="0" rIns="0" bIns="0" rtlCol="0" anchor="b"/>
          <a:lstStyle/>
          <a:p>
            <a:pPr algn="l" indent="0" marL="0">
              <a:buNone/>
            </a:pPr>
            <a:r>
              <a:rPr lang="en-US" sz="3600" b="1" dirty="0">
                <a:solidFill>
                  <a:schemeClr val="tx1"/>
                </a:solidFill>
              </a:rPr>
              <a:t>Seguridad en la zona de pruebas</a:t>
            </a:r>
            <a:endParaRPr lang="en-US" sz="3600" dirty="0"/>
          </a:p>
        </p:txBody>
      </p:sp>
      <p:sp>
        <p:nvSpPr>
          <p:cNvPr id="4" name="Text 3"/>
          <p:cNvSpPr/>
          <p:nvPr>
            <p:ph idx="105" type="body" hasCustomPrompt="1"/>
          </p:nvPr>
        </p:nvSpPr>
        <p:spPr>
          <a:xfrm>
            <a:off x="640080" y="2880360"/>
            <a:ext cx="7863840" cy="548640"/>
          </a:xfrm>
          <a:prstGeom prst="rect">
            <a:avLst/>
          </a:prstGeom>
          <a:noFill/>
          <a:ln/>
        </p:spPr>
        <p:txBody>
          <a:bodyPr wrap="square" lIns="0" tIns="0" rIns="0" bIns="0" rtlCol="0" anchor="t"/>
          <a:lstStyle/>
          <a:p>
            <a:pPr algn="l" indent="0" marL="0">
              <a:buNone/>
            </a:pPr>
            <a:r>
              <a:rPr lang="en-US" sz="1600" dirty="0">
                <a:solidFill>
                  <a:srgbClr val="999999"/>
                </a:solidFill>
              </a:rPr>
              <a:t>Cinco reglas que se cumplen en todo momento. Ninguna admite excepciones.</a:t>
            </a: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Chaleco de alta visibilidad</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1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icono regla fondo"/>
          <p:cNvSpPr/>
          <p:nvPr/>
        </p:nvSpPr>
        <p:spPr>
          <a:xfrm>
            <a:off x="777240" y="1417320"/>
            <a:ext cx="1005840" cy="1005840"/>
          </a:xfrm>
          <a:prstGeom prst="ellipse">
            <a:avLst/>
          </a:prstGeom>
          <a:solidFill>
            <a:srgbClr val="3E8EF7">
              <a:alpha val="18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FFFFFF"/>
                </a:solidFill>
              </a:rPr>
              <a:t>Se entrega un chaleco reflectante a cada asistente antes de entrar.</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E0E0E0"/>
                </a:solidFill>
              </a:rPr>
              <a:t>Se lleva puesto desde que se entra en la zona de pruebas.</a:t>
            </a:r>
            <a:endParaRPr lang="en-US" sz="1400" dirty="0"/>
          </a:p>
          <a:p>
            <a:pPr marL="177800" indent="-177800">
              <a:spcAft>
                <a:spcPts val="800"/>
              </a:spcAft>
              <a:buSzPct val="100000"/>
              <a:buChar char="•"/>
            </a:pPr>
            <a:r>
              <a:rPr lang="en-US" sz="1400" dirty="0">
                <a:solidFill>
                  <a:srgbClr val="E0E0E0"/>
                </a:solidFill>
              </a:rPr>
              <a:t>No se retira en ningún momento mientras se esté dentro de la zona.</a:t>
            </a:r>
            <a:endParaRPr lang="en-US" sz="1400" dirty="0"/>
          </a:p>
          <a:p>
            <a:pPr marL="177800" indent="-177800">
              <a:spcAft>
                <a:spcPts val="800"/>
              </a:spcAft>
              <a:buSzPct val="100000"/>
              <a:buChar char="•"/>
            </a:pPr>
            <a:r>
              <a:rPr lang="en-US" sz="1400" dirty="0">
                <a:solidFill>
                  <a:srgbClr val="E0E0E0"/>
                </a:solidFill>
              </a:rPr>
              <a:t>Si alguien no tiene chaleco, no accede a la zona.</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POR QUÉ</a:t>
            </a:r>
            <a:endParaRPr lang="en-US" sz="900" dirty="0"/>
          </a:p>
        </p:txBody>
      </p:sp>
      <p:sp>
        <p:nvSpPr>
          <p:cNvPr id="13" name="icono lateral fondo"/>
          <p:cNvSpPr/>
          <p:nvPr/>
        </p:nvSpPr>
        <p:spPr>
          <a:xfrm>
            <a:off x="6126480" y="1645920"/>
            <a:ext cx="640080" cy="640080"/>
          </a:xfrm>
          <a:prstGeom prst="ellipse">
            <a:avLst/>
          </a:prstGeom>
          <a:solidFill>
            <a:srgbClr val="3E8EF7">
              <a:alpha val="18000"/>
            </a:srgbClr>
          </a:solidFill>
          <a:ln w="6350">
            <a:solidFill>
              <a:srgbClr val="3E8EF7">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dirty="0">
                <a:solidFill>
                  <a:srgbClr val="C3C2B7"/>
                </a:solidFill>
              </a:rPr>
              <a:t>Los conductores de los camiones tienen que poder identificar a todas las personas a distancia, también con lluvia o poca luz. El chaleco es la primera barrera de seguridad.</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Zona delimitada y acceso a pie</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2 de 5</a:t>
            </a:r>
            <a:endParaRPr lang="en-US" sz="1000" dirty="0"/>
          </a:p>
        </p:txBody>
      </p:sp>
      <p:sp>
        <p:nvSpPr>
          <p:cNvPr id="6" name="plano de la zon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plano"/>
          <p:cNvSpPr txBox="1"/>
          <p:nvPr/>
        </p:nvSpPr>
        <p:spPr>
          <a:xfrm>
            <a:off x="731520" y="1280160"/>
            <a:ext cx="3657600" cy="228600"/>
          </a:xfrm>
          <a:prstGeom prst="rect">
            <a:avLst/>
          </a:prstGeom>
          <a:noFill/>
          <a:ln/>
        </p:spPr>
        <p:txBody>
          <a:bodyPr wrap="square" lIns="0" tIns="0" rIns="0" bIns="0" rtlCol="0" anchor="t"/>
          <a:lstStyle/>
          <a:p>
            <a:pPr indent="0" marL="0">
              <a:buNone/>
            </a:pPr>
            <a:r>
              <a:rPr lang="en-US" sz="900" b="1" spc="200" kern="0" dirty="0">
                <a:solidFill>
                  <a:srgbClr val="999999"/>
                </a:solidFill>
              </a:rPr>
              <a:t>PLANO ORIENTATIVO DE LA ZONA</a:t>
            </a:r>
            <a:endParaRPr lang="en-US" sz="900" dirty="0"/>
          </a:p>
        </p:txBody>
      </p:sp>
      <p:sp>
        <p:nvSpPr>
          <p:cNvPr id="8" name="pista"/>
          <p:cNvSpPr/>
          <p:nvPr/>
        </p:nvSpPr>
        <p:spPr>
          <a:xfrm>
            <a:off x="731520" y="1691640"/>
            <a:ext cx="3931920" cy="1463040"/>
          </a:xfrm>
          <a:prstGeom prst="rect">
            <a:avLst/>
          </a:prstGeom>
          <a:solidFill>
            <a:srgbClr val="161616"/>
          </a:solidFill>
          <a:ln w="12700">
            <a:solidFill>
              <a:srgbClr val="444444"/>
            </a:solidFill>
            <a:prstDash val="solid"/>
          </a:ln>
        </p:spPr>
      </p:sp>
      <p:sp>
        <p:nvSpPr>
          <p:cNvPr id="9" name="pista división 1"/>
          <p:cNvSpPr/>
          <p:nvPr/>
        </p:nvSpPr>
        <p:spPr>
          <a:xfrm>
            <a:off x="731520" y="2423160"/>
            <a:ext cx="3931920" cy="0"/>
          </a:xfrm>
          <a:prstGeom prst="line">
            <a:avLst/>
          </a:prstGeom>
          <a:noFill/>
          <a:ln w="12700">
            <a:solidFill>
              <a:srgbClr val="666666"/>
            </a:solidFill>
            <a:prstDash val="dash"/>
          </a:ln>
        </p:spPr>
      </p:sp>
      <p:sp>
        <p:nvSpPr>
          <p:cNvPr id="10" name="rótulo pista"/>
          <p:cNvSpPr txBox="1"/>
          <p:nvPr/>
        </p:nvSpPr>
        <p:spPr>
          <a:xfrm>
            <a:off x="822960" y="1737360"/>
            <a:ext cx="3749040" cy="201168"/>
          </a:xfrm>
          <a:prstGeom prst="rect">
            <a:avLst/>
          </a:prstGeom>
          <a:noFill/>
          <a:ln/>
        </p:spPr>
        <p:txBody>
          <a:bodyPr wrap="square" lIns="0" tIns="0" rIns="0" bIns="0" rtlCol="0" anchor="t"/>
          <a:lstStyle/>
          <a:p>
            <a:pPr indent="0" marL="0">
              <a:buNone/>
            </a:pPr>
            <a:r>
              <a:rPr lang="en-US" sz="800" b="1" spc="150" kern="0" dirty="0">
                <a:solidFill>
                  <a:srgbClr val="999999"/>
                </a:solidFill>
              </a:rPr>
              <a:t>ZONA DE PRUEBAS · PASO DE CAMIONES</a:t>
            </a:r>
            <a:endParaRPr lang="en-US" sz="800" dirty="0"/>
          </a:p>
        </p:txBody>
      </p:sp>
      <p:sp>
        <p:nvSpPr>
          <p:cNvPr id="11" name="camión A plano remolque"/>
          <p:cNvSpPr/>
          <p:nvPr/>
        </p:nvSpPr>
        <p:spPr>
          <a:xfrm>
            <a:off x="1280160" y="1920240"/>
            <a:ext cx="603504" cy="365760"/>
          </a:xfrm>
          <a:prstGeom prst="roundRect">
            <a:avLst>
              <a:gd name="adj" fmla="val 10000"/>
            </a:avLst>
          </a:prstGeom>
          <a:solidFill>
            <a:srgbClr val="2A2A2A"/>
          </a:solidFill>
          <a:ln w="15875">
            <a:solidFill>
              <a:srgbClr val="3987E5"/>
            </a:solidFill>
            <a:prstDash val="solid"/>
          </a:ln>
        </p:spPr>
      </p:sp>
      <p:sp>
        <p:nvSpPr>
          <p:cNvPr id="12" name="camión A plano cabina"/>
          <p:cNvSpPr/>
          <p:nvPr/>
        </p:nvSpPr>
        <p:spPr>
          <a:xfrm>
            <a:off x="1920240" y="1947672"/>
            <a:ext cx="274320" cy="310896"/>
          </a:xfrm>
          <a:prstGeom prst="roundRect">
            <a:avLst>
              <a:gd name="adj" fmla="val 16667"/>
            </a:avLst>
          </a:prstGeom>
          <a:solidFill>
            <a:srgbClr val="3987E5"/>
          </a:solidFill>
          <a:ln w="12700">
            <a:solidFill>
              <a:srgbClr val="3987E5"/>
            </a:solidFill>
            <a:prstDash val="solid"/>
          </a:ln>
        </p:spPr>
      </p:sp>
      <p:sp>
        <p:nvSpPr>
          <p:cNvPr id="13" name="camión A plano sentido"/>
          <p:cNvSpPr/>
          <p:nvPr/>
        </p:nvSpPr>
        <p:spPr>
          <a:xfrm>
            <a:off x="2267712" y="2103120"/>
            <a:ext cx="457200" cy="0"/>
          </a:xfrm>
          <a:prstGeom prst="line">
            <a:avLst/>
          </a:prstGeom>
          <a:noFill/>
          <a:ln w="25400">
            <a:solidFill>
              <a:srgbClr val="3987E5"/>
            </a:solidFill>
            <a:prstDash val="solid"/>
            <a:tailEnd type="triangle"/>
          </a:ln>
        </p:spPr>
      </p:sp>
      <p:sp>
        <p:nvSpPr>
          <p:cNvPr id="14" name="camión B plano remolque"/>
          <p:cNvSpPr/>
          <p:nvPr/>
        </p:nvSpPr>
        <p:spPr>
          <a:xfrm>
            <a:off x="3511296" y="2606040"/>
            <a:ext cx="603504" cy="365760"/>
          </a:xfrm>
          <a:prstGeom prst="roundRect">
            <a:avLst>
              <a:gd name="adj" fmla="val 10000"/>
            </a:avLst>
          </a:prstGeom>
          <a:solidFill>
            <a:srgbClr val="2A2A2A"/>
          </a:solidFill>
          <a:ln w="15875">
            <a:solidFill>
              <a:srgbClr val="D95926"/>
            </a:solidFill>
            <a:prstDash val="solid"/>
          </a:ln>
        </p:spPr>
      </p:sp>
      <p:sp>
        <p:nvSpPr>
          <p:cNvPr id="15" name="camión B plano cabina"/>
          <p:cNvSpPr/>
          <p:nvPr/>
        </p:nvSpPr>
        <p:spPr>
          <a:xfrm>
            <a:off x="3200400" y="2633472"/>
            <a:ext cx="274320" cy="310896"/>
          </a:xfrm>
          <a:prstGeom prst="roundRect">
            <a:avLst>
              <a:gd name="adj" fmla="val 16667"/>
            </a:avLst>
          </a:prstGeom>
          <a:solidFill>
            <a:srgbClr val="D95926"/>
          </a:solidFill>
          <a:ln w="12700">
            <a:solidFill>
              <a:srgbClr val="D95926"/>
            </a:solidFill>
            <a:prstDash val="solid"/>
          </a:ln>
        </p:spPr>
      </p:sp>
      <p:sp>
        <p:nvSpPr>
          <p:cNvPr id="16" name="camión B plano sentido"/>
          <p:cNvSpPr/>
          <p:nvPr/>
        </p:nvSpPr>
        <p:spPr>
          <a:xfrm flipH="1">
            <a:off x="2670048" y="2788920"/>
            <a:ext cx="457200" cy="0"/>
          </a:xfrm>
          <a:prstGeom prst="line">
            <a:avLst/>
          </a:prstGeom>
          <a:noFill/>
          <a:ln w="25400">
            <a:solidFill>
              <a:srgbClr val="D95926"/>
            </a:solidFill>
            <a:prstDash val="solid"/>
            <a:tailEnd type="triangle"/>
          </a:ln>
        </p:spPr>
      </p:sp>
      <p:sp>
        <p:nvSpPr>
          <p:cNvPr id="17" name="perímetro delimitado"/>
          <p:cNvSpPr/>
          <p:nvPr/>
        </p:nvSpPr>
        <p:spPr>
          <a:xfrm>
            <a:off x="621792" y="1581912"/>
            <a:ext cx="4151376" cy="1682496"/>
          </a:xfrm>
          <a:prstGeom prst="rect">
            <a:avLst/>
          </a:prstGeom>
          <a:solidFill>
            <a:srgbClr val="0F0F0F">
              <a:alpha val="0"/>
            </a:srgbClr>
          </a:solidFill>
          <a:ln w="19050">
            <a:solidFill>
              <a:srgbClr val="FAB219"/>
            </a:solidFill>
            <a:prstDash val="sysDash"/>
          </a:ln>
        </p:spPr>
      </p:sp>
      <p:sp>
        <p:nvSpPr>
          <p:cNvPr id="18" name="etiqueta perímetro"/>
          <p:cNvSpPr txBox="1"/>
          <p:nvPr/>
        </p:nvSpPr>
        <p:spPr>
          <a:xfrm>
            <a:off x="3291840" y="1371600"/>
            <a:ext cx="1463040" cy="201168"/>
          </a:xfrm>
          <a:prstGeom prst="rect">
            <a:avLst/>
          </a:prstGeom>
          <a:noFill/>
          <a:ln/>
        </p:spPr>
        <p:txBody>
          <a:bodyPr wrap="square" lIns="0" tIns="0" rIns="0" bIns="0" rtlCol="0" anchor="t"/>
          <a:lstStyle/>
          <a:p>
            <a:pPr algn="r" indent="0" marL="0">
              <a:buNone/>
            </a:pPr>
            <a:r>
              <a:rPr lang="en-US" sz="900" dirty="0">
                <a:solidFill>
                  <a:srgbClr val="FAB219"/>
                </a:solidFill>
              </a:rPr>
              <a:t>Área delimitada</a:t>
            </a:r>
            <a:endParaRPr lang="en-US" sz="900" dirty="0"/>
          </a:p>
        </p:txBody>
      </p:sp>
      <p:sp>
        <p:nvSpPr>
          <p:cNvPr id="19" name="carpa"/>
          <p:cNvSpPr/>
          <p:nvPr/>
        </p:nvSpPr>
        <p:spPr>
          <a:xfrm>
            <a:off x="4800600" y="2103120"/>
            <a:ext cx="640080" cy="640080"/>
          </a:xfrm>
          <a:prstGeom prst="roundRect">
            <a:avLst>
              <a:gd name="adj" fmla="val 11429"/>
            </a:avLst>
          </a:prstGeom>
          <a:solidFill>
            <a:srgbClr val="3E8EF7">
              <a:alpha val="18000"/>
            </a:srgbClr>
          </a:solidFill>
          <a:ln w="12700">
            <a:solidFill>
              <a:srgbClr val="3E8EF7"/>
            </a:solidFill>
            <a:prstDash val="solid"/>
          </a:ln>
        </p:spPr>
      </p:sp>
      <p:pic>
        <p:nvPicPr>
          <p:cNvPr id="20" name="icono carpa" descr="preencoded.png">    </p:cNvPr>
          <p:cNvPicPr>
            <a:picLocks noChangeAspect="1"/>
          </p:cNvPicPr>
          <p:nvPr/>
        </p:nvPicPr>
        <p:blipFill>
          <a:blip r:embed="rId1"/>
          <a:stretch>
            <a:fillRect/>
          </a:stretch>
        </p:blipFill>
        <p:spPr>
          <a:xfrm>
            <a:off x="4937760" y="2240280"/>
            <a:ext cx="365760" cy="365760"/>
          </a:xfrm>
          <a:prstGeom prst="rect">
            <a:avLst/>
          </a:prstGeom>
        </p:spPr>
      </p:pic>
      <p:sp>
        <p:nvSpPr>
          <p:cNvPr id="21" name="etiqueta carpa"/>
          <p:cNvSpPr txBox="1"/>
          <p:nvPr/>
        </p:nvSpPr>
        <p:spPr>
          <a:xfrm>
            <a:off x="4709160" y="2770632"/>
            <a:ext cx="822960" cy="201168"/>
          </a:xfrm>
          <a:prstGeom prst="rect">
            <a:avLst/>
          </a:prstGeom>
          <a:noFill/>
          <a:ln/>
        </p:spPr>
        <p:txBody>
          <a:bodyPr wrap="square" lIns="0" tIns="0" rIns="0" bIns="0" rtlCol="0" anchor="t"/>
          <a:lstStyle/>
          <a:p>
            <a:pPr algn="ctr" indent="0" marL="0">
              <a:buNone/>
            </a:pPr>
            <a:r>
              <a:rPr lang="en-US" sz="900" dirty="0">
                <a:solidFill>
                  <a:srgbClr val="C3C2B7"/>
                </a:solidFill>
              </a:rPr>
              <a:t>Carpa</a:t>
            </a:r>
            <a:endParaRPr lang="en-US" sz="900" dirty="0"/>
          </a:p>
        </p:txBody>
      </p:sp>
      <p:sp>
        <p:nvSpPr>
          <p:cNvPr id="22" name="paso peatonal"/>
          <p:cNvSpPr/>
          <p:nvPr/>
        </p:nvSpPr>
        <p:spPr>
          <a:xfrm>
            <a:off x="1737360" y="3383280"/>
            <a:ext cx="0" cy="685800"/>
          </a:xfrm>
          <a:prstGeom prst="line">
            <a:avLst/>
          </a:prstGeom>
          <a:noFill/>
          <a:ln w="31750">
            <a:solidFill>
              <a:srgbClr val="0CA30C"/>
            </a:solidFill>
            <a:prstDash val="dash"/>
          </a:ln>
        </p:spPr>
      </p:sp>
      <p:pic>
        <p:nvPicPr>
          <p:cNvPr id="23" name="icono peatón" descr="preencoded.png">    </p:cNvPr>
          <p:cNvPicPr>
            <a:picLocks noChangeAspect="1"/>
          </p:cNvPicPr>
          <p:nvPr/>
        </p:nvPicPr>
        <p:blipFill>
          <a:blip r:embed="rId2"/>
          <a:stretch>
            <a:fillRect/>
          </a:stretch>
        </p:blipFill>
        <p:spPr>
          <a:xfrm>
            <a:off x="1591056" y="4069080"/>
            <a:ext cx="292608" cy="292608"/>
          </a:xfrm>
          <a:prstGeom prst="rect">
            <a:avLst/>
          </a:prstGeom>
        </p:spPr>
      </p:pic>
      <p:sp>
        <p:nvSpPr>
          <p:cNvPr id="24" name="etiqueta paso"/>
          <p:cNvSpPr txBox="1"/>
          <p:nvPr/>
        </p:nvSpPr>
        <p:spPr>
          <a:xfrm>
            <a:off x="1965960" y="3611880"/>
            <a:ext cx="2743200" cy="411480"/>
          </a:xfrm>
          <a:prstGeom prst="rect">
            <a:avLst/>
          </a:prstGeom>
          <a:noFill/>
          <a:ln/>
        </p:spPr>
        <p:txBody>
          <a:bodyPr wrap="square" lIns="0" tIns="0" rIns="0" bIns="0" rtlCol="0" anchor="ctr"/>
          <a:lstStyle/>
          <a:p>
            <a:pPr indent="0" marL="0">
              <a:buNone/>
            </a:pPr>
            <a:r>
              <a:rPr lang="en-US" sz="1000" dirty="0">
                <a:solidFill>
                  <a:srgbClr val="2BB82B"/>
                </a:solidFill>
              </a:rPr>
              <a:t>Acceso: paso peatonal señalizado, siempre caminando</a:t>
            </a:r>
            <a:endParaRPr lang="en-US" sz="1000" dirty="0"/>
          </a:p>
        </p:txBody>
      </p:sp>
      <p:sp>
        <p:nvSpPr>
          <p:cNvPr id="25" name="etiqueta prohibido"/>
          <p:cNvSpPr txBox="1"/>
          <p:nvPr/>
        </p:nvSpPr>
        <p:spPr>
          <a:xfrm>
            <a:off x="1965960" y="4023360"/>
            <a:ext cx="2743200" cy="274320"/>
          </a:xfrm>
          <a:prstGeom prst="rect">
            <a:avLst/>
          </a:prstGeom>
          <a:noFill/>
          <a:ln/>
        </p:spPr>
        <p:txBody>
          <a:bodyPr wrap="square" lIns="0" tIns="0" rIns="0" bIns="0" rtlCol="0" anchor="ctr"/>
          <a:lstStyle/>
          <a:p>
            <a:pPr indent="0" marL="0">
              <a:buNone/>
            </a:pPr>
            <a:r>
              <a:rPr lang="en-US" sz="1000" dirty="0">
                <a:solidFill>
                  <a:srgbClr val="E66767"/>
                </a:solidFill>
              </a:rPr>
              <a:t>Fuera del área delimitada: prohibido</a:t>
            </a:r>
            <a:endParaRPr lang="en-US" sz="1000" dirty="0"/>
          </a:p>
        </p:txBody>
      </p:sp>
      <p:sp>
        <p:nvSpPr>
          <p:cNvPr id="26"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27" name="icono zona fondo"/>
          <p:cNvSpPr/>
          <p:nvPr/>
        </p:nvSpPr>
        <p:spPr>
          <a:xfrm>
            <a:off x="6126480" y="1371600"/>
            <a:ext cx="640080" cy="640080"/>
          </a:xfrm>
          <a:prstGeom prst="ellipse">
            <a:avLst/>
          </a:prstGeom>
          <a:solidFill>
            <a:srgbClr val="3E8EF7">
              <a:alpha val="18000"/>
            </a:srgbClr>
          </a:solidFill>
          <a:ln w="6350">
            <a:solidFill>
              <a:srgbClr val="3E8EF7">
                <a:alpha val="40000"/>
              </a:srgbClr>
            </a:solidFill>
            <a:prstDash val="solid"/>
          </a:ln>
        </p:spPr>
      </p:sp>
      <p:pic>
        <p:nvPicPr>
          <p:cNvPr id="28" name="icono zona" descr="preencoded.png">    </p:cNvPr>
          <p:cNvPicPr>
            <a:picLocks noChangeAspect="1"/>
          </p:cNvPicPr>
          <p:nvPr/>
        </p:nvPicPr>
        <p:blipFill>
          <a:blip r:embed="rId3"/>
          <a:stretch>
            <a:fillRect/>
          </a:stretch>
        </p:blipFill>
        <p:spPr>
          <a:xfrm>
            <a:off x="6286500" y="1531620"/>
            <a:ext cx="320040" cy="320040"/>
          </a:xfrm>
          <a:prstGeom prst="rect">
            <a:avLst/>
          </a:prstGeom>
        </p:spPr>
      </p:pic>
      <p:sp>
        <p:nvSpPr>
          <p:cNvPr id="29" name="puntos zona"/>
          <p:cNvSpPr txBox="1"/>
          <p:nvPr/>
        </p:nvSpPr>
        <p:spPr>
          <a:xfrm>
            <a:off x="6126480" y="2194560"/>
            <a:ext cx="2331720" cy="22402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E0E0E0"/>
                </a:solidFill>
              </a:rPr>
              <a:t>La zona de pruebas está delimitada: solo se circula dentro de ella.</a:t>
            </a:r>
            <a:endParaRPr lang="en-US" sz="1300" dirty="0"/>
          </a:p>
          <a:p>
            <a:pPr marL="177800" indent="-177800">
              <a:spcAft>
                <a:spcPts val="800"/>
              </a:spcAft>
              <a:buSzPct val="100000"/>
              <a:buChar char="•"/>
            </a:pPr>
            <a:r>
              <a:rPr lang="en-US" sz="1300" dirty="0">
                <a:solidFill>
                  <a:srgbClr val="E0E0E0"/>
                </a:solidFill>
              </a:rPr>
              <a:t>El acceso es siempre a pie, por el paso peatonal señalizado.</a:t>
            </a:r>
            <a:endParaRPr lang="en-US" sz="1300" dirty="0"/>
          </a:p>
          <a:p>
            <a:pPr marL="177800" indent="-177800">
              <a:spcAft>
                <a:spcPts val="800"/>
              </a:spcAft>
              <a:buSzPct val="100000"/>
              <a:buChar char="•"/>
            </a:pPr>
            <a:r>
              <a:rPr lang="en-US" sz="1300" dirty="0">
                <a:solidFill>
                  <a:srgbClr val="E0E0E0"/>
                </a:solidFill>
              </a:rPr>
              <a:t>Nadie se sitúa fuera del área delimitada: es por donde circulan los camiones.</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Carpa: el punto de espera</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3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icono regla fondo"/>
          <p:cNvSpPr/>
          <p:nvPr/>
        </p:nvSpPr>
        <p:spPr>
          <a:xfrm>
            <a:off x="777240" y="1417320"/>
            <a:ext cx="1005840" cy="1005840"/>
          </a:xfrm>
          <a:prstGeom prst="ellipse">
            <a:avLst/>
          </a:prstGeom>
          <a:solidFill>
            <a:srgbClr val="3E8EF7">
              <a:alpha val="18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FFFFFF"/>
                </a:solidFill>
              </a:rPr>
              <a:t>Cuando no se estén desplazando, se permanece en la carpa.</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E0E0E0"/>
                </a:solidFill>
              </a:rPr>
              <a:t>Hay una carpa instalada junto a la zona de pruebas.</a:t>
            </a:r>
            <a:endParaRPr lang="en-US" sz="1400" dirty="0"/>
          </a:p>
          <a:p>
            <a:pPr marL="177800" indent="-177800">
              <a:spcAft>
                <a:spcPts val="800"/>
              </a:spcAft>
              <a:buSzPct val="100000"/>
              <a:buChar char="•"/>
            </a:pPr>
            <a:r>
              <a:rPr lang="en-US" sz="1400" dirty="0">
                <a:solidFill>
                  <a:srgbClr val="E0E0E0"/>
                </a:solidFill>
              </a:rPr>
              <a:t>Protege del sol y, con el pronóstico de estos días, de la lluvia.</a:t>
            </a:r>
            <a:endParaRPr lang="en-US" sz="1400" dirty="0"/>
          </a:p>
          <a:p>
            <a:pPr marL="177800" indent="-177800">
              <a:spcAft>
                <a:spcPts val="800"/>
              </a:spcAft>
              <a:buSzPct val="100000"/>
              <a:buChar char="•"/>
            </a:pPr>
            <a:r>
              <a:rPr lang="en-US" sz="1400" dirty="0">
                <a:solidFill>
                  <a:srgbClr val="E0E0E0"/>
                </a:solidFill>
              </a:rPr>
              <a:t>Es el único punto de espera durante las pruebas: no se espera en ningún otro lugar.</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PRONÓSTICO</a:t>
            </a:r>
            <a:endParaRPr lang="en-US" sz="900" dirty="0"/>
          </a:p>
        </p:txBody>
      </p:sp>
      <p:sp>
        <p:nvSpPr>
          <p:cNvPr id="13" name="icono lateral fondo"/>
          <p:cNvSpPr/>
          <p:nvPr/>
        </p:nvSpPr>
        <p:spPr>
          <a:xfrm>
            <a:off x="6126480" y="1645920"/>
            <a:ext cx="640080" cy="640080"/>
          </a:xfrm>
          <a:prstGeom prst="ellipse">
            <a:avLst/>
          </a:prstGeom>
          <a:solidFill>
            <a:srgbClr val="FAB219">
              <a:alpha val="18000"/>
            </a:srgbClr>
          </a:solidFill>
          <a:ln w="6350">
            <a:solidFill>
              <a:srgbClr val="FAB219">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dirty="0">
                <a:solidFill>
                  <a:srgbClr val="C3C2B7"/>
                </a:solidFill>
              </a:rPr>
              <a:t>Se prevé lluvia durante las pruebas. Además de resguardarse, conviene tener en cuenta que el suelo puede estar resbaladizo y que la visibilidad de los conductores se reduce.</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Cómo acercarse a un camión</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4 de 5</a:t>
            </a:r>
            <a:endParaRPr lang="en-US" sz="1000" dirty="0"/>
          </a:p>
        </p:txBody>
      </p:sp>
      <p:sp>
        <p:nvSpPr>
          <p:cNvPr id="6" name="aviso crítico"/>
          <p:cNvSpPr/>
          <p:nvPr/>
        </p:nvSpPr>
        <p:spPr>
          <a:xfrm>
            <a:off x="457200" y="1097280"/>
            <a:ext cx="8229600" cy="685800"/>
          </a:xfrm>
          <a:prstGeom prst="roundRect">
            <a:avLst>
              <a:gd name="adj" fmla="val 13333"/>
            </a:avLst>
          </a:prstGeom>
          <a:solidFill>
            <a:srgbClr val="202020"/>
          </a:solidFill>
          <a:ln w="9525">
            <a:solidFill>
              <a:srgbClr val="333333"/>
            </a:solidFill>
            <a:prstDash val="solid"/>
          </a:ln>
        </p:spPr>
      </p:sp>
      <p:sp>
        <p:nvSpPr>
          <p:cNvPr id="7" name="icono prohibición fondo"/>
          <p:cNvSpPr/>
          <p:nvPr/>
        </p:nvSpPr>
        <p:spPr>
          <a:xfrm>
            <a:off x="621792" y="1188720"/>
            <a:ext cx="502920" cy="502920"/>
          </a:xfrm>
          <a:prstGeom prst="ellipse">
            <a:avLst/>
          </a:prstGeom>
          <a:solidFill>
            <a:srgbClr val="D03B3B">
              <a:alpha val="18000"/>
            </a:srgbClr>
          </a:solidFill>
          <a:ln w="6350">
            <a:solidFill>
              <a:srgbClr val="D03B3B">
                <a:alpha val="40000"/>
              </a:srgbClr>
            </a:solidFill>
            <a:prstDash val="solid"/>
          </a:ln>
        </p:spPr>
      </p:sp>
      <p:pic>
        <p:nvPicPr>
          <p:cNvPr id="8" name="icono prohibición" descr="preencoded.png">    </p:cNvPr>
          <p:cNvPicPr>
            <a:picLocks noChangeAspect="1"/>
          </p:cNvPicPr>
          <p:nvPr/>
        </p:nvPicPr>
        <p:blipFill>
          <a:blip r:embed="rId1"/>
          <a:stretch>
            <a:fillRect/>
          </a:stretch>
        </p:blipFill>
        <p:spPr>
          <a:xfrm>
            <a:off x="747522" y="1314450"/>
            <a:ext cx="251460" cy="251460"/>
          </a:xfrm>
          <a:prstGeom prst="rect">
            <a:avLst/>
          </a:prstGeom>
        </p:spPr>
      </p:pic>
      <p:sp>
        <p:nvSpPr>
          <p:cNvPr id="9" name="texto aviso"/>
          <p:cNvSpPr txBox="1"/>
          <p:nvPr/>
        </p:nvSpPr>
        <p:spPr>
          <a:xfrm>
            <a:off x="1280160" y="1097280"/>
            <a:ext cx="7223760" cy="685800"/>
          </a:xfrm>
          <a:prstGeom prst="rect">
            <a:avLst/>
          </a:prstGeom>
          <a:noFill/>
          <a:ln/>
        </p:spPr>
        <p:txBody>
          <a:bodyPr wrap="square" lIns="0" tIns="0" rIns="0" bIns="0" rtlCol="0" anchor="ctr"/>
          <a:lstStyle/>
          <a:p>
            <a:pPr indent="0" marL="0">
              <a:buNone/>
            </a:pPr>
            <a:r>
              <a:rPr lang="en-US" sz="1400" b="1" dirty="0">
                <a:solidFill>
                  <a:srgbClr val="FFFFFF"/>
                </a:solidFill>
              </a:rPr>
              <a:t>Bajo ninguna circunstancia se entra en la zona de pruebas para subir a un camión sin avisar antes a uno de los responsables.</a:t>
            </a:r>
            <a:endParaRPr lang="en-US" sz="1400" dirty="0"/>
          </a:p>
        </p:txBody>
      </p:sp>
      <p:sp>
        <p:nvSpPr>
          <p:cNvPr id="10" name="paso 1"/>
          <p:cNvSpPr/>
          <p:nvPr/>
        </p:nvSpPr>
        <p:spPr>
          <a:xfrm>
            <a:off x="457200" y="2011680"/>
            <a:ext cx="1920240" cy="2514600"/>
          </a:xfrm>
          <a:prstGeom prst="roundRect">
            <a:avLst>
              <a:gd name="adj" fmla="val 4762"/>
            </a:avLst>
          </a:prstGeom>
          <a:solidFill>
            <a:srgbClr val="1A1A1A"/>
          </a:solidFill>
          <a:ln w="9525">
            <a:solidFill>
              <a:srgbClr val="333333"/>
            </a:solidFill>
            <a:prstDash val="solid"/>
          </a:ln>
        </p:spPr>
      </p:sp>
      <p:sp>
        <p:nvSpPr>
          <p:cNvPr id="11" name="icono paso 1 fondo"/>
          <p:cNvSpPr/>
          <p:nvPr/>
        </p:nvSpPr>
        <p:spPr>
          <a:xfrm>
            <a:off x="685800" y="2240280"/>
            <a:ext cx="566928" cy="566928"/>
          </a:xfrm>
          <a:prstGeom prst="ellipse">
            <a:avLst/>
          </a:prstGeom>
          <a:solidFill>
            <a:srgbClr val="3E8EF7">
              <a:alpha val="18000"/>
            </a:srgbClr>
          </a:solidFill>
          <a:ln w="6350">
            <a:solidFill>
              <a:srgbClr val="3E8EF7">
                <a:alpha val="40000"/>
              </a:srgbClr>
            </a:solidFill>
            <a:prstDash val="solid"/>
          </a:ln>
        </p:spPr>
      </p:sp>
      <p:pic>
        <p:nvPicPr>
          <p:cNvPr id="12" name="icono paso 1" descr="preencoded.png">    </p:cNvPr>
          <p:cNvPicPr>
            <a:picLocks noChangeAspect="1"/>
          </p:cNvPicPr>
          <p:nvPr/>
        </p:nvPicPr>
        <p:blipFill>
          <a:blip r:embed="rId2"/>
          <a:stretch>
            <a:fillRect/>
          </a:stretch>
        </p:blipFill>
        <p:spPr>
          <a:xfrm>
            <a:off x="827532" y="2382012"/>
            <a:ext cx="283464" cy="283464"/>
          </a:xfrm>
          <a:prstGeom prst="rect">
            <a:avLst/>
          </a:prstGeom>
        </p:spPr>
      </p:pic>
      <p:sp>
        <p:nvSpPr>
          <p:cNvPr id="13" name="número paso 1"/>
          <p:cNvSpPr txBox="1"/>
          <p:nvPr/>
        </p:nvSpPr>
        <p:spPr>
          <a:xfrm>
            <a:off x="182880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1</a:t>
            </a:r>
            <a:endParaRPr lang="en-US" sz="2200" dirty="0"/>
          </a:p>
        </p:txBody>
      </p:sp>
      <p:sp>
        <p:nvSpPr>
          <p:cNvPr id="14" name="título paso 1"/>
          <p:cNvSpPr txBox="1"/>
          <p:nvPr/>
        </p:nvSpPr>
        <p:spPr>
          <a:xfrm>
            <a:off x="68580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Avisar a un responsable</a:t>
            </a:r>
            <a:endParaRPr lang="en-US" sz="1300" dirty="0"/>
          </a:p>
        </p:txBody>
      </p:sp>
      <p:sp>
        <p:nvSpPr>
          <p:cNvPr id="15" name="detalle paso 1"/>
          <p:cNvSpPr txBox="1"/>
          <p:nvPr/>
        </p:nvSpPr>
        <p:spPr>
          <a:xfrm>
            <a:off x="68580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Antes de moverse, se avisa a cualquiera de los responsables de la prueba.</a:t>
            </a:r>
            <a:endParaRPr lang="en-US" sz="1100" dirty="0"/>
          </a:p>
        </p:txBody>
      </p:sp>
      <p:sp>
        <p:nvSpPr>
          <p:cNvPr id="16" name="flecha paso 1"/>
          <p:cNvSpPr/>
          <p:nvPr/>
        </p:nvSpPr>
        <p:spPr>
          <a:xfrm>
            <a:off x="2395728" y="3268980"/>
            <a:ext cx="146304" cy="0"/>
          </a:xfrm>
          <a:prstGeom prst="line">
            <a:avLst/>
          </a:prstGeom>
          <a:noFill/>
          <a:ln w="19050">
            <a:solidFill>
              <a:srgbClr val="444444"/>
            </a:solidFill>
            <a:prstDash val="solid"/>
            <a:tailEnd type="triangle"/>
          </a:ln>
        </p:spPr>
      </p:sp>
      <p:sp>
        <p:nvSpPr>
          <p:cNvPr id="17" name="paso 2"/>
          <p:cNvSpPr/>
          <p:nvPr/>
        </p:nvSpPr>
        <p:spPr>
          <a:xfrm>
            <a:off x="2560320" y="2011680"/>
            <a:ext cx="1920240" cy="2514600"/>
          </a:xfrm>
          <a:prstGeom prst="roundRect">
            <a:avLst>
              <a:gd name="adj" fmla="val 4762"/>
            </a:avLst>
          </a:prstGeom>
          <a:solidFill>
            <a:srgbClr val="1A1A1A"/>
          </a:solidFill>
          <a:ln w="9525">
            <a:solidFill>
              <a:srgbClr val="333333"/>
            </a:solidFill>
            <a:prstDash val="solid"/>
          </a:ln>
        </p:spPr>
      </p:sp>
      <p:sp>
        <p:nvSpPr>
          <p:cNvPr id="18" name="icono paso 2 fondo"/>
          <p:cNvSpPr/>
          <p:nvPr/>
        </p:nvSpPr>
        <p:spPr>
          <a:xfrm>
            <a:off x="2788920" y="2240280"/>
            <a:ext cx="566928" cy="566928"/>
          </a:xfrm>
          <a:prstGeom prst="ellipse">
            <a:avLst/>
          </a:prstGeom>
          <a:solidFill>
            <a:srgbClr val="3E8EF7">
              <a:alpha val="18000"/>
            </a:srgbClr>
          </a:solidFill>
          <a:ln w="6350">
            <a:solidFill>
              <a:srgbClr val="3E8EF7">
                <a:alpha val="40000"/>
              </a:srgbClr>
            </a:solidFill>
            <a:prstDash val="solid"/>
          </a:ln>
        </p:spPr>
      </p:sp>
      <p:pic>
        <p:nvPicPr>
          <p:cNvPr id="19" name="icono paso 2" descr="preencoded.png">    </p:cNvPr>
          <p:cNvPicPr>
            <a:picLocks noChangeAspect="1"/>
          </p:cNvPicPr>
          <p:nvPr/>
        </p:nvPicPr>
        <p:blipFill>
          <a:blip r:embed="rId3"/>
          <a:stretch>
            <a:fillRect/>
          </a:stretch>
        </p:blipFill>
        <p:spPr>
          <a:xfrm>
            <a:off x="2930652" y="2382012"/>
            <a:ext cx="283464" cy="283464"/>
          </a:xfrm>
          <a:prstGeom prst="rect">
            <a:avLst/>
          </a:prstGeom>
        </p:spPr>
      </p:pic>
      <p:sp>
        <p:nvSpPr>
          <p:cNvPr id="20" name="número paso 2"/>
          <p:cNvSpPr txBox="1"/>
          <p:nvPr/>
        </p:nvSpPr>
        <p:spPr>
          <a:xfrm>
            <a:off x="393192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2</a:t>
            </a:r>
            <a:endParaRPr lang="en-US" sz="2200" dirty="0"/>
          </a:p>
        </p:txBody>
      </p:sp>
      <p:sp>
        <p:nvSpPr>
          <p:cNvPr id="21" name="título paso 2"/>
          <p:cNvSpPr txBox="1"/>
          <p:nvPr/>
        </p:nvSpPr>
        <p:spPr>
          <a:xfrm>
            <a:off x="278892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Camión detenido</a:t>
            </a:r>
            <a:endParaRPr lang="en-US" sz="1300" dirty="0"/>
          </a:p>
        </p:txBody>
      </p:sp>
      <p:sp>
        <p:nvSpPr>
          <p:cNvPr id="22" name="detalle paso 2"/>
          <p:cNvSpPr txBox="1"/>
          <p:nvPr/>
        </p:nvSpPr>
        <p:spPr>
          <a:xfrm>
            <a:off x="278892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Solo se avanza si el camión está completamente parado. Nunca en movimiento.</a:t>
            </a:r>
            <a:endParaRPr lang="en-US" sz="1100" dirty="0"/>
          </a:p>
        </p:txBody>
      </p:sp>
      <p:sp>
        <p:nvSpPr>
          <p:cNvPr id="23" name="flecha paso 2"/>
          <p:cNvSpPr/>
          <p:nvPr/>
        </p:nvSpPr>
        <p:spPr>
          <a:xfrm>
            <a:off x="4498848" y="3268980"/>
            <a:ext cx="146304" cy="0"/>
          </a:xfrm>
          <a:prstGeom prst="line">
            <a:avLst/>
          </a:prstGeom>
          <a:noFill/>
          <a:ln w="19050">
            <a:solidFill>
              <a:srgbClr val="444444"/>
            </a:solidFill>
            <a:prstDash val="solid"/>
            <a:tailEnd type="triangle"/>
          </a:ln>
        </p:spPr>
      </p:sp>
      <p:sp>
        <p:nvSpPr>
          <p:cNvPr id="24" name="paso 3"/>
          <p:cNvSpPr/>
          <p:nvPr/>
        </p:nvSpPr>
        <p:spPr>
          <a:xfrm>
            <a:off x="4663440" y="2011680"/>
            <a:ext cx="1920240" cy="2514600"/>
          </a:xfrm>
          <a:prstGeom prst="roundRect">
            <a:avLst>
              <a:gd name="adj" fmla="val 4762"/>
            </a:avLst>
          </a:prstGeom>
          <a:solidFill>
            <a:srgbClr val="1A1A1A"/>
          </a:solidFill>
          <a:ln w="9525">
            <a:solidFill>
              <a:srgbClr val="333333"/>
            </a:solidFill>
            <a:prstDash val="solid"/>
          </a:ln>
        </p:spPr>
      </p:sp>
      <p:sp>
        <p:nvSpPr>
          <p:cNvPr id="25" name="icono paso 3 fondo"/>
          <p:cNvSpPr/>
          <p:nvPr/>
        </p:nvSpPr>
        <p:spPr>
          <a:xfrm>
            <a:off x="4892040" y="2240280"/>
            <a:ext cx="566928" cy="566928"/>
          </a:xfrm>
          <a:prstGeom prst="ellipse">
            <a:avLst/>
          </a:prstGeom>
          <a:solidFill>
            <a:srgbClr val="3E8EF7">
              <a:alpha val="18000"/>
            </a:srgbClr>
          </a:solidFill>
          <a:ln w="6350">
            <a:solidFill>
              <a:srgbClr val="3E8EF7">
                <a:alpha val="40000"/>
              </a:srgbClr>
            </a:solidFill>
            <a:prstDash val="solid"/>
          </a:ln>
        </p:spPr>
      </p:sp>
      <p:pic>
        <p:nvPicPr>
          <p:cNvPr id="26" name="icono paso 3" descr="preencoded.png">    </p:cNvPr>
          <p:cNvPicPr>
            <a:picLocks noChangeAspect="1"/>
          </p:cNvPicPr>
          <p:nvPr/>
        </p:nvPicPr>
        <p:blipFill>
          <a:blip r:embed="rId4"/>
          <a:stretch>
            <a:fillRect/>
          </a:stretch>
        </p:blipFill>
        <p:spPr>
          <a:xfrm>
            <a:off x="5033772" y="2382012"/>
            <a:ext cx="283464" cy="283464"/>
          </a:xfrm>
          <a:prstGeom prst="rect">
            <a:avLst/>
          </a:prstGeom>
        </p:spPr>
      </p:pic>
      <p:sp>
        <p:nvSpPr>
          <p:cNvPr id="27" name="número paso 3"/>
          <p:cNvSpPr txBox="1"/>
          <p:nvPr/>
        </p:nvSpPr>
        <p:spPr>
          <a:xfrm>
            <a:off x="603504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3</a:t>
            </a:r>
            <a:endParaRPr lang="en-US" sz="2200" dirty="0"/>
          </a:p>
        </p:txBody>
      </p:sp>
      <p:sp>
        <p:nvSpPr>
          <p:cNvPr id="28" name="título paso 3"/>
          <p:cNvSpPr txBox="1"/>
          <p:nvPr/>
        </p:nvSpPr>
        <p:spPr>
          <a:xfrm>
            <a:off x="489204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Punto prudente y aviso al conductor</a:t>
            </a:r>
            <a:endParaRPr lang="en-US" sz="1300" dirty="0"/>
          </a:p>
        </p:txBody>
      </p:sp>
      <p:sp>
        <p:nvSpPr>
          <p:cNvPr id="29" name="detalle paso 3"/>
          <p:cNvSpPr txBox="1"/>
          <p:nvPr/>
        </p:nvSpPr>
        <p:spPr>
          <a:xfrm>
            <a:off x="489204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Se acerca hasta un punto prudente y se le indica al conductor que va a aproximarse.</a:t>
            </a:r>
            <a:endParaRPr lang="en-US" sz="1100" dirty="0"/>
          </a:p>
        </p:txBody>
      </p:sp>
      <p:sp>
        <p:nvSpPr>
          <p:cNvPr id="30" name="flecha paso 3"/>
          <p:cNvSpPr/>
          <p:nvPr/>
        </p:nvSpPr>
        <p:spPr>
          <a:xfrm>
            <a:off x="6601968" y="3268980"/>
            <a:ext cx="146304" cy="0"/>
          </a:xfrm>
          <a:prstGeom prst="line">
            <a:avLst/>
          </a:prstGeom>
          <a:noFill/>
          <a:ln w="19050">
            <a:solidFill>
              <a:srgbClr val="444444"/>
            </a:solidFill>
            <a:prstDash val="solid"/>
            <a:tailEnd type="triangle"/>
          </a:ln>
        </p:spPr>
      </p:sp>
      <p:sp>
        <p:nvSpPr>
          <p:cNvPr id="31" name="paso 4"/>
          <p:cNvSpPr/>
          <p:nvPr/>
        </p:nvSpPr>
        <p:spPr>
          <a:xfrm>
            <a:off x="6766560" y="2011680"/>
            <a:ext cx="1920240" cy="2514600"/>
          </a:xfrm>
          <a:prstGeom prst="roundRect">
            <a:avLst>
              <a:gd name="adj" fmla="val 4762"/>
            </a:avLst>
          </a:prstGeom>
          <a:solidFill>
            <a:srgbClr val="1A1A1A"/>
          </a:solidFill>
          <a:ln w="9525">
            <a:solidFill>
              <a:srgbClr val="333333"/>
            </a:solidFill>
            <a:prstDash val="solid"/>
          </a:ln>
        </p:spPr>
      </p:sp>
      <p:sp>
        <p:nvSpPr>
          <p:cNvPr id="32" name="icono paso 4 fondo"/>
          <p:cNvSpPr/>
          <p:nvPr/>
        </p:nvSpPr>
        <p:spPr>
          <a:xfrm>
            <a:off x="6995160" y="2240280"/>
            <a:ext cx="566928" cy="566928"/>
          </a:xfrm>
          <a:prstGeom prst="ellipse">
            <a:avLst/>
          </a:prstGeom>
          <a:solidFill>
            <a:srgbClr val="0CA30C">
              <a:alpha val="18000"/>
            </a:srgbClr>
          </a:solidFill>
          <a:ln w="6350">
            <a:solidFill>
              <a:srgbClr val="0CA30C">
                <a:alpha val="40000"/>
              </a:srgbClr>
            </a:solidFill>
            <a:prstDash val="solid"/>
          </a:ln>
        </p:spPr>
      </p:sp>
      <p:pic>
        <p:nvPicPr>
          <p:cNvPr id="33" name="icono paso 4" descr="preencoded.png">    </p:cNvPr>
          <p:cNvPicPr>
            <a:picLocks noChangeAspect="1"/>
          </p:cNvPicPr>
          <p:nvPr/>
        </p:nvPicPr>
        <p:blipFill>
          <a:blip r:embed="rId5"/>
          <a:stretch>
            <a:fillRect/>
          </a:stretch>
        </p:blipFill>
        <p:spPr>
          <a:xfrm>
            <a:off x="7136892" y="2382012"/>
            <a:ext cx="283464" cy="283464"/>
          </a:xfrm>
          <a:prstGeom prst="rect">
            <a:avLst/>
          </a:prstGeom>
        </p:spPr>
      </p:pic>
      <p:sp>
        <p:nvSpPr>
          <p:cNvPr id="34" name="número paso 4"/>
          <p:cNvSpPr txBox="1"/>
          <p:nvPr/>
        </p:nvSpPr>
        <p:spPr>
          <a:xfrm>
            <a:off x="8138160" y="2240280"/>
            <a:ext cx="320040" cy="365760"/>
          </a:xfrm>
          <a:prstGeom prst="rect">
            <a:avLst/>
          </a:prstGeom>
          <a:noFill/>
          <a:ln/>
        </p:spPr>
        <p:txBody>
          <a:bodyPr wrap="square" lIns="0" tIns="0" rIns="0" bIns="0" rtlCol="0" anchor="t"/>
          <a:lstStyle/>
          <a:p>
            <a:pPr algn="r" indent="0" marL="0">
              <a:buNone/>
            </a:pPr>
            <a:r>
              <a:rPr lang="en-US" sz="2200" b="1" dirty="0">
                <a:solidFill>
                  <a:srgbClr val="666666"/>
                </a:solidFill>
              </a:rPr>
              <a:t>4</a:t>
            </a:r>
            <a:endParaRPr lang="en-US" sz="2200" dirty="0"/>
          </a:p>
        </p:txBody>
      </p:sp>
      <p:sp>
        <p:nvSpPr>
          <p:cNvPr id="35" name="título paso 4"/>
          <p:cNvSpPr txBox="1"/>
          <p:nvPr/>
        </p:nvSpPr>
        <p:spPr>
          <a:xfrm>
            <a:off x="6995160" y="2926080"/>
            <a:ext cx="1463040" cy="685800"/>
          </a:xfrm>
          <a:prstGeom prst="rect">
            <a:avLst/>
          </a:prstGeom>
          <a:noFill/>
          <a:ln/>
        </p:spPr>
        <p:txBody>
          <a:bodyPr wrap="square" lIns="0" tIns="0" rIns="0" bIns="0" rtlCol="0" anchor="t"/>
          <a:lstStyle/>
          <a:p>
            <a:pPr indent="0" marL="0">
              <a:buNone/>
            </a:pPr>
            <a:r>
              <a:rPr lang="en-US" sz="1300" b="1" dirty="0">
                <a:solidFill>
                  <a:srgbClr val="FFFFFF"/>
                </a:solidFill>
              </a:rPr>
              <a:t>Esperar la aprobación</a:t>
            </a:r>
            <a:endParaRPr lang="en-US" sz="1300" dirty="0"/>
          </a:p>
        </p:txBody>
      </p:sp>
      <p:sp>
        <p:nvSpPr>
          <p:cNvPr id="36" name="detalle paso 4"/>
          <p:cNvSpPr txBox="1"/>
          <p:nvPr/>
        </p:nvSpPr>
        <p:spPr>
          <a:xfrm>
            <a:off x="6995160" y="3657600"/>
            <a:ext cx="1463040" cy="822960"/>
          </a:xfrm>
          <a:prstGeom prst="rect">
            <a:avLst/>
          </a:prstGeom>
          <a:noFill/>
          <a:ln/>
        </p:spPr>
        <p:txBody>
          <a:bodyPr wrap="square" lIns="0" tIns="0" rIns="0" bIns="0" rtlCol="0" anchor="t"/>
          <a:lstStyle/>
          <a:p>
            <a:pPr indent="0" marL="0">
              <a:buNone/>
            </a:pPr>
            <a:r>
              <a:rPr lang="en-US" sz="1100" dirty="0">
                <a:solidFill>
                  <a:srgbClr val="C3C2B7"/>
                </a:solidFill>
              </a:rPr>
              <a:t>No se acerca ni se sube hasta que el conductor lo apruebe de forma explícita.</a:t>
            </a:r>
            <a:endParaRPr lang="en-US" sz="11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Avisar siempre antes de entrar</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regl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Regla 5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icono regla fondo"/>
          <p:cNvSpPr/>
          <p:nvPr/>
        </p:nvSpPr>
        <p:spPr>
          <a:xfrm>
            <a:off x="777240" y="1417320"/>
            <a:ext cx="1005840" cy="1005840"/>
          </a:xfrm>
          <a:prstGeom prst="ellipse">
            <a:avLst/>
          </a:prstGeom>
          <a:solidFill>
            <a:srgbClr val="3E8EF7">
              <a:alpha val="18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FFFFFF"/>
                </a:solidFill>
              </a:rPr>
              <a:t>Cualquier acceso a la zona de pruebas se comunica antes de hacerlo.</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E0E0E0"/>
                </a:solidFill>
              </a:rPr>
              <a:t>Se avisa a un responsable de TORSA en pista, nunca se entra por iniciativa propia.</a:t>
            </a:r>
            <a:endParaRPr lang="en-US" sz="1400" dirty="0"/>
          </a:p>
          <a:p>
            <a:pPr marL="177800" indent="-177800">
              <a:spcAft>
                <a:spcPts val="800"/>
              </a:spcAft>
              <a:buSzPct val="100000"/>
              <a:buChar char="•"/>
            </a:pPr>
            <a:r>
              <a:rPr lang="en-US" sz="1400" dirty="0">
                <a:solidFill>
                  <a:srgbClr val="E0E0E0"/>
                </a:solidFill>
              </a:rPr>
              <a:t>Si hay un imprevisto, se detiene lo que se esté haciendo y se avisa.</a:t>
            </a:r>
            <a:endParaRPr lang="en-US" sz="1400" dirty="0"/>
          </a:p>
          <a:p>
            <a:pPr marL="177800" indent="-177800">
              <a:spcAft>
                <a:spcPts val="800"/>
              </a:spcAft>
              <a:buSzPct val="100000"/>
              <a:buChar char="•"/>
            </a:pPr>
            <a:r>
              <a:rPr lang="en-US" sz="1400" dirty="0">
                <a:solidFill>
                  <a:srgbClr val="E0E0E0"/>
                </a:solidFill>
              </a:rPr>
              <a:t>Ante cualquier duda: preguntar antes, no después.</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202020"/>
          </a:solidFill>
          <a:ln w="9525">
            <a:solidFill>
              <a:srgbClr val="333333"/>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RESPONSABLES EN PISTA</a:t>
            </a:r>
            <a:endParaRPr lang="en-US" sz="900" dirty="0"/>
          </a:p>
        </p:txBody>
      </p:sp>
      <p:sp>
        <p:nvSpPr>
          <p:cNvPr id="13" name="icono lateral fondo"/>
          <p:cNvSpPr/>
          <p:nvPr/>
        </p:nvSpPr>
        <p:spPr>
          <a:xfrm>
            <a:off x="6126480" y="1645920"/>
            <a:ext cx="640080" cy="640080"/>
          </a:xfrm>
          <a:prstGeom prst="ellipse">
            <a:avLst/>
          </a:prstGeom>
          <a:solidFill>
            <a:srgbClr val="3E8EF7">
              <a:alpha val="18000"/>
            </a:srgbClr>
          </a:solidFill>
          <a:ln w="6350">
            <a:solidFill>
              <a:srgbClr val="3E8EF7">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dirty="0">
                <a:solidFill>
                  <a:srgbClr val="C3C2B7"/>
                </a:solidFill>
              </a:rPr>
              <a:t>Nombre · Rol · Teléfono</a:t>
            </a:r>
            <a:endParaRPr lang="en-US" sz="1300" dirty="0"/>
          </a:p>
          <a:p>
            <a:pPr indent="0" marL="0">
              <a:buNone/>
            </a:pPr>
            <a:r>
              <a:rPr lang="en-US" sz="1300" dirty="0">
                <a:solidFill>
                  <a:srgbClr val="C3C2B7"/>
                </a:solidFill>
              </a:rPr>
              <a:t>Nombre · Rol · Teléfono</a:t>
            </a:r>
            <a:endParaRPr lang="en-US" sz="1300" dirty="0"/>
          </a:p>
          <a:p>
            <a:pPr indent="0" marL="0">
              <a:buNone/>
            </a:pPr>
            <a:r>
              <a:rPr lang="en-US" sz="1300" dirty="0">
                <a:solidFill>
                  <a:srgbClr val="C3C2B7"/>
                </a:solidFill>
              </a:rPr>
              <a:t>Nombre · Rol · Teléfono</a:t>
            </a:r>
            <a:endParaRPr lang="en-US" sz="1300" dirty="0"/>
          </a:p>
          <a:p>
            <a:pPr indent="0" marL="0">
              <a:buNone/>
            </a:pPr>
            <a:endParaRPr lang="en-US" sz="1300" dirty="0"/>
          </a:p>
          <a:p>
            <a:pPr indent="0" marL="0">
              <a:buNone/>
            </a:pPr>
            <a:r>
              <a:rPr lang="en-US" sz="1300" dirty="0">
                <a:solidFill>
                  <a:srgbClr val="C3C2B7"/>
                </a:solidFill>
              </a:rPr>
              <a:t>Completar antes de la sesión. Son las personas a las que hay que avisar para cualquier acceso a la zona.</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Antes de entrar, recuerde</a:t>
            </a:r>
            <a:endParaRPr lang="en-US" sz="2600" dirty="0"/>
          </a:p>
        </p:txBody>
      </p:sp>
      <p:sp>
        <p:nvSpPr>
          <p:cNvPr id="3" name="fila 1"/>
          <p:cNvSpPr/>
          <p:nvPr/>
        </p:nvSpPr>
        <p:spPr>
          <a:xfrm>
            <a:off x="457200" y="1097280"/>
            <a:ext cx="5669280" cy="585216"/>
          </a:xfrm>
          <a:prstGeom prst="roundRect">
            <a:avLst>
              <a:gd name="adj" fmla="val 15625"/>
            </a:avLst>
          </a:prstGeom>
          <a:solidFill>
            <a:srgbClr val="1A1A1A"/>
          </a:solidFill>
          <a:ln w="9525">
            <a:solidFill>
              <a:srgbClr val="333333"/>
            </a:solidFill>
            <a:prstDash val="solid"/>
          </a:ln>
        </p:spPr>
      </p:sp>
      <p:sp>
        <p:nvSpPr>
          <p:cNvPr id="4" name="icono fila 1 fondo"/>
          <p:cNvSpPr/>
          <p:nvPr/>
        </p:nvSpPr>
        <p:spPr>
          <a:xfrm>
            <a:off x="566928" y="1161288"/>
            <a:ext cx="457200" cy="457200"/>
          </a:xfrm>
          <a:prstGeom prst="ellipse">
            <a:avLst/>
          </a:prstGeom>
          <a:solidFill>
            <a:srgbClr val="3E8EF7">
              <a:alpha val="18000"/>
            </a:srgbClr>
          </a:solidFill>
          <a:ln w="6350">
            <a:solidFill>
              <a:srgbClr val="3E8EF7">
                <a:alpha val="40000"/>
              </a:srgbClr>
            </a:solidFill>
            <a:prstDash val="solid"/>
          </a:ln>
        </p:spPr>
      </p:sp>
      <p:pic>
        <p:nvPicPr>
          <p:cNvPr id="5" name="icono fila 1" descr="preencoded.png">    </p:cNvPr>
          <p:cNvPicPr>
            <a:picLocks noChangeAspect="1"/>
          </p:cNvPicPr>
          <p:nvPr/>
        </p:nvPicPr>
        <p:blipFill>
          <a:blip r:embed="rId1"/>
          <a:stretch>
            <a:fillRect/>
          </a:stretch>
        </p:blipFill>
        <p:spPr>
          <a:xfrm>
            <a:off x="681228" y="1275588"/>
            <a:ext cx="228600" cy="228600"/>
          </a:xfrm>
          <a:prstGeom prst="rect">
            <a:avLst/>
          </a:prstGeom>
        </p:spPr>
      </p:pic>
      <p:sp>
        <p:nvSpPr>
          <p:cNvPr id="6" name="texto fila 1"/>
          <p:cNvSpPr txBox="1"/>
          <p:nvPr/>
        </p:nvSpPr>
        <p:spPr>
          <a:xfrm>
            <a:off x="1188720" y="1097280"/>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Chaleco puesto  </a:t>
            </a:r>
            <a:pPr indent="0" marL="0">
              <a:buNone/>
            </a:pPr>
            <a:r>
              <a:rPr lang="en-US" sz="1350" dirty="0">
                <a:solidFill>
                  <a:srgbClr val="C3C2B7"/>
                </a:solidFill>
              </a:rPr>
              <a:t>en todo momento dentro de la zona</a:t>
            </a:r>
            <a:endParaRPr lang="en-US" sz="1350" dirty="0"/>
          </a:p>
        </p:txBody>
      </p:sp>
      <p:sp>
        <p:nvSpPr>
          <p:cNvPr id="7" name="fila 2"/>
          <p:cNvSpPr/>
          <p:nvPr/>
        </p:nvSpPr>
        <p:spPr>
          <a:xfrm>
            <a:off x="457200" y="1773936"/>
            <a:ext cx="5669280" cy="585216"/>
          </a:xfrm>
          <a:prstGeom prst="roundRect">
            <a:avLst>
              <a:gd name="adj" fmla="val 15625"/>
            </a:avLst>
          </a:prstGeom>
          <a:solidFill>
            <a:srgbClr val="1A1A1A"/>
          </a:solidFill>
          <a:ln w="9525">
            <a:solidFill>
              <a:srgbClr val="333333"/>
            </a:solidFill>
            <a:prstDash val="solid"/>
          </a:ln>
        </p:spPr>
      </p:sp>
      <p:sp>
        <p:nvSpPr>
          <p:cNvPr id="8" name="icono fila 2 fondo"/>
          <p:cNvSpPr/>
          <p:nvPr/>
        </p:nvSpPr>
        <p:spPr>
          <a:xfrm>
            <a:off x="566928" y="1837944"/>
            <a:ext cx="457200" cy="457200"/>
          </a:xfrm>
          <a:prstGeom prst="ellipse">
            <a:avLst/>
          </a:prstGeom>
          <a:solidFill>
            <a:srgbClr val="3E8EF7">
              <a:alpha val="18000"/>
            </a:srgbClr>
          </a:solidFill>
          <a:ln w="6350">
            <a:solidFill>
              <a:srgbClr val="3E8EF7">
                <a:alpha val="40000"/>
              </a:srgbClr>
            </a:solidFill>
            <a:prstDash val="solid"/>
          </a:ln>
        </p:spPr>
      </p:sp>
      <p:pic>
        <p:nvPicPr>
          <p:cNvPr id="9" name="icono fila 2" descr="preencoded.png">    </p:cNvPr>
          <p:cNvPicPr>
            <a:picLocks noChangeAspect="1"/>
          </p:cNvPicPr>
          <p:nvPr/>
        </p:nvPicPr>
        <p:blipFill>
          <a:blip r:embed="rId2"/>
          <a:stretch>
            <a:fillRect/>
          </a:stretch>
        </p:blipFill>
        <p:spPr>
          <a:xfrm>
            <a:off x="681228" y="1952244"/>
            <a:ext cx="228600" cy="228600"/>
          </a:xfrm>
          <a:prstGeom prst="rect">
            <a:avLst/>
          </a:prstGeom>
        </p:spPr>
      </p:pic>
      <p:sp>
        <p:nvSpPr>
          <p:cNvPr id="10" name="texto fila 2"/>
          <p:cNvSpPr txBox="1"/>
          <p:nvPr/>
        </p:nvSpPr>
        <p:spPr>
          <a:xfrm>
            <a:off x="1188720" y="1773936"/>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Dentro del área delimitada  </a:t>
            </a:r>
            <a:pPr indent="0" marL="0">
              <a:buNone/>
            </a:pPr>
            <a:r>
              <a:rPr lang="en-US" sz="1350" dirty="0">
                <a:solidFill>
                  <a:srgbClr val="C3C2B7"/>
                </a:solidFill>
              </a:rPr>
              <a:t>acceso a pie por el paso señalizado</a:t>
            </a:r>
            <a:endParaRPr lang="en-US" sz="1350" dirty="0"/>
          </a:p>
        </p:txBody>
      </p:sp>
      <p:sp>
        <p:nvSpPr>
          <p:cNvPr id="11" name="fila 3"/>
          <p:cNvSpPr/>
          <p:nvPr/>
        </p:nvSpPr>
        <p:spPr>
          <a:xfrm>
            <a:off x="457200" y="2450592"/>
            <a:ext cx="5669280" cy="585216"/>
          </a:xfrm>
          <a:prstGeom prst="roundRect">
            <a:avLst>
              <a:gd name="adj" fmla="val 15625"/>
            </a:avLst>
          </a:prstGeom>
          <a:solidFill>
            <a:srgbClr val="1A1A1A"/>
          </a:solidFill>
          <a:ln w="9525">
            <a:solidFill>
              <a:srgbClr val="333333"/>
            </a:solidFill>
            <a:prstDash val="solid"/>
          </a:ln>
        </p:spPr>
      </p:sp>
      <p:sp>
        <p:nvSpPr>
          <p:cNvPr id="12" name="icono fila 3 fondo"/>
          <p:cNvSpPr/>
          <p:nvPr/>
        </p:nvSpPr>
        <p:spPr>
          <a:xfrm>
            <a:off x="566928" y="2514600"/>
            <a:ext cx="457200" cy="457200"/>
          </a:xfrm>
          <a:prstGeom prst="ellipse">
            <a:avLst/>
          </a:prstGeom>
          <a:solidFill>
            <a:srgbClr val="3E8EF7">
              <a:alpha val="18000"/>
            </a:srgbClr>
          </a:solidFill>
          <a:ln w="6350">
            <a:solidFill>
              <a:srgbClr val="3E8EF7">
                <a:alpha val="40000"/>
              </a:srgbClr>
            </a:solidFill>
            <a:prstDash val="solid"/>
          </a:ln>
        </p:spPr>
      </p:sp>
      <p:pic>
        <p:nvPicPr>
          <p:cNvPr id="13" name="icono fila 3" descr="preencoded.png">    </p:cNvPr>
          <p:cNvPicPr>
            <a:picLocks noChangeAspect="1"/>
          </p:cNvPicPr>
          <p:nvPr/>
        </p:nvPicPr>
        <p:blipFill>
          <a:blip r:embed="rId3"/>
          <a:stretch>
            <a:fillRect/>
          </a:stretch>
        </p:blipFill>
        <p:spPr>
          <a:xfrm>
            <a:off x="681228" y="2628900"/>
            <a:ext cx="228600" cy="228600"/>
          </a:xfrm>
          <a:prstGeom prst="rect">
            <a:avLst/>
          </a:prstGeom>
        </p:spPr>
      </p:pic>
      <p:sp>
        <p:nvSpPr>
          <p:cNvPr id="14" name="texto fila 3"/>
          <p:cNvSpPr txBox="1"/>
          <p:nvPr/>
        </p:nvSpPr>
        <p:spPr>
          <a:xfrm>
            <a:off x="1188720" y="2450592"/>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En la carpa  </a:t>
            </a:r>
            <a:pPr indent="0" marL="0">
              <a:buNone/>
            </a:pPr>
            <a:r>
              <a:rPr lang="en-US" sz="1350" dirty="0">
                <a:solidFill>
                  <a:srgbClr val="C3C2B7"/>
                </a:solidFill>
              </a:rPr>
              <a:t>cuando no se esté desplazando</a:t>
            </a:r>
            <a:endParaRPr lang="en-US" sz="1350" dirty="0"/>
          </a:p>
        </p:txBody>
      </p:sp>
      <p:sp>
        <p:nvSpPr>
          <p:cNvPr id="15" name="fila 4"/>
          <p:cNvSpPr/>
          <p:nvPr/>
        </p:nvSpPr>
        <p:spPr>
          <a:xfrm>
            <a:off x="457200" y="3127248"/>
            <a:ext cx="5669280" cy="585216"/>
          </a:xfrm>
          <a:prstGeom prst="roundRect">
            <a:avLst>
              <a:gd name="adj" fmla="val 15625"/>
            </a:avLst>
          </a:prstGeom>
          <a:solidFill>
            <a:srgbClr val="1A1A1A"/>
          </a:solidFill>
          <a:ln w="9525">
            <a:solidFill>
              <a:srgbClr val="333333"/>
            </a:solidFill>
            <a:prstDash val="solid"/>
          </a:ln>
        </p:spPr>
      </p:sp>
      <p:sp>
        <p:nvSpPr>
          <p:cNvPr id="16" name="icono fila 4 fondo"/>
          <p:cNvSpPr/>
          <p:nvPr/>
        </p:nvSpPr>
        <p:spPr>
          <a:xfrm>
            <a:off x="566928" y="3191256"/>
            <a:ext cx="457200" cy="457200"/>
          </a:xfrm>
          <a:prstGeom prst="ellipse">
            <a:avLst/>
          </a:prstGeom>
          <a:solidFill>
            <a:srgbClr val="3E8EF7">
              <a:alpha val="18000"/>
            </a:srgbClr>
          </a:solidFill>
          <a:ln w="6350">
            <a:solidFill>
              <a:srgbClr val="3E8EF7">
                <a:alpha val="40000"/>
              </a:srgbClr>
            </a:solidFill>
            <a:prstDash val="solid"/>
          </a:ln>
        </p:spPr>
      </p:sp>
      <p:pic>
        <p:nvPicPr>
          <p:cNvPr id="17" name="icono fila 4" descr="preencoded.png">    </p:cNvPr>
          <p:cNvPicPr>
            <a:picLocks noChangeAspect="1"/>
          </p:cNvPicPr>
          <p:nvPr/>
        </p:nvPicPr>
        <p:blipFill>
          <a:blip r:embed="rId4"/>
          <a:stretch>
            <a:fillRect/>
          </a:stretch>
        </p:blipFill>
        <p:spPr>
          <a:xfrm>
            <a:off x="681228" y="3305556"/>
            <a:ext cx="228600" cy="228600"/>
          </a:xfrm>
          <a:prstGeom prst="rect">
            <a:avLst/>
          </a:prstGeom>
        </p:spPr>
      </p:pic>
      <p:sp>
        <p:nvSpPr>
          <p:cNvPr id="18" name="texto fila 4"/>
          <p:cNvSpPr txBox="1"/>
          <p:nvPr/>
        </p:nvSpPr>
        <p:spPr>
          <a:xfrm>
            <a:off x="1188720" y="3127248"/>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Camión detenido y conductor avisado  </a:t>
            </a:r>
            <a:pPr indent="0" marL="0">
              <a:buNone/>
            </a:pPr>
            <a:r>
              <a:rPr lang="en-US" sz="1350" dirty="0">
                <a:solidFill>
                  <a:srgbClr val="C3C2B7"/>
                </a:solidFill>
              </a:rPr>
              <a:t>y esperar su aprobación</a:t>
            </a:r>
            <a:endParaRPr lang="en-US" sz="1350" dirty="0"/>
          </a:p>
        </p:txBody>
      </p:sp>
      <p:sp>
        <p:nvSpPr>
          <p:cNvPr id="19" name="fila 5"/>
          <p:cNvSpPr/>
          <p:nvPr/>
        </p:nvSpPr>
        <p:spPr>
          <a:xfrm>
            <a:off x="457200" y="3803904"/>
            <a:ext cx="5669280" cy="585216"/>
          </a:xfrm>
          <a:prstGeom prst="roundRect">
            <a:avLst>
              <a:gd name="adj" fmla="val 15625"/>
            </a:avLst>
          </a:prstGeom>
          <a:solidFill>
            <a:srgbClr val="1A1A1A"/>
          </a:solidFill>
          <a:ln w="9525">
            <a:solidFill>
              <a:srgbClr val="333333"/>
            </a:solidFill>
            <a:prstDash val="solid"/>
          </a:ln>
        </p:spPr>
      </p:sp>
      <p:sp>
        <p:nvSpPr>
          <p:cNvPr id="20" name="icono fila 5 fondo"/>
          <p:cNvSpPr/>
          <p:nvPr/>
        </p:nvSpPr>
        <p:spPr>
          <a:xfrm>
            <a:off x="566928" y="3867912"/>
            <a:ext cx="457200" cy="457200"/>
          </a:xfrm>
          <a:prstGeom prst="ellipse">
            <a:avLst/>
          </a:prstGeom>
          <a:solidFill>
            <a:srgbClr val="3E8EF7">
              <a:alpha val="18000"/>
            </a:srgbClr>
          </a:solidFill>
          <a:ln w="6350">
            <a:solidFill>
              <a:srgbClr val="3E8EF7">
                <a:alpha val="40000"/>
              </a:srgbClr>
            </a:solidFill>
            <a:prstDash val="solid"/>
          </a:ln>
        </p:spPr>
      </p:sp>
      <p:pic>
        <p:nvPicPr>
          <p:cNvPr id="21" name="icono fila 5" descr="preencoded.png">    </p:cNvPr>
          <p:cNvPicPr>
            <a:picLocks noChangeAspect="1"/>
          </p:cNvPicPr>
          <p:nvPr/>
        </p:nvPicPr>
        <p:blipFill>
          <a:blip r:embed="rId5"/>
          <a:stretch>
            <a:fillRect/>
          </a:stretch>
        </p:blipFill>
        <p:spPr>
          <a:xfrm>
            <a:off x="681228" y="3982212"/>
            <a:ext cx="228600" cy="228600"/>
          </a:xfrm>
          <a:prstGeom prst="rect">
            <a:avLst/>
          </a:prstGeom>
        </p:spPr>
      </p:pic>
      <p:sp>
        <p:nvSpPr>
          <p:cNvPr id="22" name="texto fila 5"/>
          <p:cNvSpPr txBox="1"/>
          <p:nvPr/>
        </p:nvSpPr>
        <p:spPr>
          <a:xfrm>
            <a:off x="1188720" y="3803904"/>
            <a:ext cx="4846320" cy="585216"/>
          </a:xfrm>
          <a:prstGeom prst="rect">
            <a:avLst/>
          </a:prstGeom>
          <a:noFill/>
          <a:ln/>
        </p:spPr>
        <p:txBody>
          <a:bodyPr wrap="square" lIns="0" tIns="0" rIns="0" bIns="0" rtlCol="0" anchor="ctr"/>
          <a:lstStyle/>
          <a:p>
            <a:pPr indent="0" marL="0">
              <a:buNone/>
            </a:pPr>
            <a:r>
              <a:rPr lang="en-US" sz="1350" b="1" dirty="0">
                <a:solidFill>
                  <a:srgbClr val="FFFFFF"/>
                </a:solidFill>
              </a:rPr>
              <a:t>Avisar a un responsable  </a:t>
            </a:r>
            <a:pPr indent="0" marL="0">
              <a:buNone/>
            </a:pPr>
            <a:r>
              <a:rPr lang="en-US" sz="1350" dirty="0">
                <a:solidFill>
                  <a:srgbClr val="C3C2B7"/>
                </a:solidFill>
              </a:rPr>
              <a:t>antes de cualquier acceso</a:t>
            </a:r>
            <a:endParaRPr lang="en-US" sz="1350" dirty="0"/>
          </a:p>
        </p:txBody>
      </p:sp>
      <p:sp>
        <p:nvSpPr>
          <p:cNvPr id="23" name="tarjeta compromiso"/>
          <p:cNvSpPr/>
          <p:nvPr/>
        </p:nvSpPr>
        <p:spPr>
          <a:xfrm>
            <a:off x="6355080" y="1097280"/>
            <a:ext cx="2331720" cy="3328416"/>
          </a:xfrm>
          <a:prstGeom prst="roundRect">
            <a:avLst>
              <a:gd name="adj" fmla="val 3922"/>
            </a:avLst>
          </a:prstGeom>
          <a:solidFill>
            <a:srgbClr val="202020"/>
          </a:solidFill>
          <a:ln w="9525">
            <a:solidFill>
              <a:srgbClr val="333333"/>
            </a:solidFill>
            <a:prstDash val="solid"/>
          </a:ln>
        </p:spPr>
      </p:sp>
      <p:sp>
        <p:nvSpPr>
          <p:cNvPr id="24" name="icono compromiso fondo"/>
          <p:cNvSpPr/>
          <p:nvPr/>
        </p:nvSpPr>
        <p:spPr>
          <a:xfrm>
            <a:off x="6629400" y="1371600"/>
            <a:ext cx="640080" cy="640080"/>
          </a:xfrm>
          <a:prstGeom prst="ellipse">
            <a:avLst/>
          </a:prstGeom>
          <a:solidFill>
            <a:srgbClr val="3E8EF7">
              <a:alpha val="18000"/>
            </a:srgbClr>
          </a:solidFill>
          <a:ln w="6350">
            <a:solidFill>
              <a:srgbClr val="3E8EF7">
                <a:alpha val="40000"/>
              </a:srgbClr>
            </a:solidFill>
            <a:prstDash val="solid"/>
          </a:ln>
        </p:spPr>
      </p:sp>
      <p:pic>
        <p:nvPicPr>
          <p:cNvPr id="25" name="icono compromiso" descr="preencoded.png">    </p:cNvPr>
          <p:cNvPicPr>
            <a:picLocks noChangeAspect="1"/>
          </p:cNvPicPr>
          <p:nvPr/>
        </p:nvPicPr>
        <p:blipFill>
          <a:blip r:embed="rId6"/>
          <a:stretch>
            <a:fillRect/>
          </a:stretch>
        </p:blipFill>
        <p:spPr>
          <a:xfrm>
            <a:off x="6789420" y="1531620"/>
            <a:ext cx="320040" cy="320040"/>
          </a:xfrm>
          <a:prstGeom prst="rect">
            <a:avLst/>
          </a:prstGeom>
        </p:spPr>
      </p:pic>
      <p:sp>
        <p:nvSpPr>
          <p:cNvPr id="26" name="título compromiso"/>
          <p:cNvSpPr txBox="1"/>
          <p:nvPr/>
        </p:nvSpPr>
        <p:spPr>
          <a:xfrm>
            <a:off x="6629400" y="2194560"/>
            <a:ext cx="1828800" cy="457200"/>
          </a:xfrm>
          <a:prstGeom prst="rect">
            <a:avLst/>
          </a:prstGeom>
          <a:noFill/>
          <a:ln/>
        </p:spPr>
        <p:txBody>
          <a:bodyPr wrap="square" lIns="0" tIns="0" rIns="0" bIns="0" rtlCol="0" anchor="t"/>
          <a:lstStyle/>
          <a:p>
            <a:pPr indent="0" marL="0">
              <a:buNone/>
            </a:pPr>
            <a:r>
              <a:rPr lang="en-US" sz="1400" b="1" dirty="0">
                <a:solidFill>
                  <a:srgbClr val="FFFFFF"/>
                </a:solidFill>
              </a:rPr>
              <a:t>Una sola norma general</a:t>
            </a:r>
            <a:endParaRPr lang="en-US" sz="1400" dirty="0"/>
          </a:p>
        </p:txBody>
      </p:sp>
      <p:sp>
        <p:nvSpPr>
          <p:cNvPr id="27" name="texto compromiso"/>
          <p:cNvSpPr txBox="1"/>
          <p:nvPr/>
        </p:nvSpPr>
        <p:spPr>
          <a:xfrm>
            <a:off x="6629400" y="2697480"/>
            <a:ext cx="1828800" cy="1554480"/>
          </a:xfrm>
          <a:prstGeom prst="rect">
            <a:avLst/>
          </a:prstGeom>
          <a:noFill/>
          <a:ln/>
        </p:spPr>
        <p:txBody>
          <a:bodyPr wrap="square" lIns="0" tIns="0" rIns="0" bIns="0" rtlCol="0" anchor="t"/>
          <a:lstStyle/>
          <a:p>
            <a:pPr indent="0" marL="0">
              <a:buNone/>
            </a:pPr>
            <a:r>
              <a:rPr lang="en-US" sz="1250" dirty="0">
                <a:solidFill>
                  <a:srgbClr val="C3C2B7"/>
                </a:solidFill>
              </a:rPr>
              <a:t>Si no está seguro de si puede hacer algo, no lo haga y pregunte a un responsable.</a:t>
            </a:r>
            <a:endParaRPr lang="en-US" sz="125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úmero de sección"/>
          <p:cNvSpPr txBox="1"/>
          <p:nvPr/>
        </p:nvSpPr>
        <p:spPr>
          <a:xfrm>
            <a:off x="640080" y="1234440"/>
            <a:ext cx="1828800" cy="731520"/>
          </a:xfrm>
          <a:prstGeom prst="rect">
            <a:avLst/>
          </a:prstGeom>
          <a:noFill/>
          <a:ln/>
        </p:spPr>
        <p:txBody>
          <a:bodyPr wrap="square" lIns="0" tIns="0" rIns="0" bIns="0" rtlCol="0" anchor="t"/>
          <a:lstStyle/>
          <a:p>
            <a:pPr indent="0" marL="0">
              <a:buNone/>
            </a:pPr>
            <a:r>
              <a:rPr lang="en-US" sz="5400" b="1" dirty="0">
                <a:solidFill>
                  <a:srgbClr val="3E8EF7"/>
                </a:solidFill>
              </a:rPr>
              <a:t>02</a:t>
            </a:r>
            <a:endParaRPr lang="en-US" sz="5400" dirty="0"/>
          </a:p>
        </p:txBody>
      </p:sp>
      <p:sp>
        <p:nvSpPr>
          <p:cNvPr id="3" name="Text 3"/>
          <p:cNvSpPr/>
          <p:nvPr>
            <p:ph idx="104" type="title" hasCustomPrompt="1"/>
          </p:nvPr>
        </p:nvSpPr>
        <p:spPr>
          <a:xfrm>
            <a:off x="640080" y="2011680"/>
            <a:ext cx="7863840" cy="822960"/>
          </a:xfrm>
          <a:prstGeom prst="rect">
            <a:avLst/>
          </a:prstGeom>
          <a:noFill/>
          <a:ln/>
        </p:spPr>
        <p:txBody>
          <a:bodyPr wrap="square" lIns="0" tIns="0" rIns="0" bIns="0" rtlCol="0" anchor="b"/>
          <a:lstStyle/>
          <a:p>
            <a:pPr algn="l" indent="0" marL="0">
              <a:buNone/>
            </a:pPr>
            <a:r>
              <a:rPr lang="en-US" sz="3600" b="1" dirty="0">
                <a:solidFill>
                  <a:schemeClr val="tx1"/>
                </a:solidFill>
              </a:rPr>
              <a:t>Plan de pruebas</a:t>
            </a:r>
            <a:endParaRPr lang="en-US" sz="3600" dirty="0"/>
          </a:p>
        </p:txBody>
      </p:sp>
      <p:sp>
        <p:nvSpPr>
          <p:cNvPr id="4" name="Text 3"/>
          <p:cNvSpPr/>
          <p:nvPr>
            <p:ph idx="105" type="body" hasCustomPrompt="1"/>
          </p:nvPr>
        </p:nvSpPr>
        <p:spPr>
          <a:xfrm>
            <a:off x="640080" y="2880360"/>
            <a:ext cx="7863840" cy="548640"/>
          </a:xfrm>
          <a:prstGeom prst="rect">
            <a:avLst/>
          </a:prstGeom>
          <a:noFill/>
          <a:ln/>
        </p:spPr>
        <p:txBody>
          <a:bodyPr wrap="square" lIns="0" tIns="0" rIns="0" bIns="0" rtlCol="0" anchor="t"/>
          <a:lstStyle/>
          <a:p>
            <a:pPr algn="l" indent="0" marL="0">
              <a:buNone/>
            </a:pPr>
            <a:r>
              <a:rPr lang="en-US" sz="1600" dirty="0">
                <a:solidFill>
                  <a:srgbClr val="999999"/>
                </a:solidFill>
              </a:rPr>
              <a:t>Secuencia de cinco pruebas con dos camiones. Cada camión en su carril.</a:t>
            </a: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Cómo se desarrollan las pruebas</a:t>
            </a:r>
            <a:endParaRPr lang="en-US" sz="2600" dirty="0"/>
          </a:p>
        </p:txBody>
      </p:sp>
      <p:sp>
        <p:nvSpPr>
          <p:cNvPr id="3" name="principio 1"/>
          <p:cNvSpPr/>
          <p:nvPr/>
        </p:nvSpPr>
        <p:spPr>
          <a:xfrm>
            <a:off x="457200" y="1097280"/>
            <a:ext cx="2651760" cy="1965960"/>
          </a:xfrm>
          <a:prstGeom prst="roundRect">
            <a:avLst>
              <a:gd name="adj" fmla="val 4651"/>
            </a:avLst>
          </a:prstGeom>
          <a:solidFill>
            <a:srgbClr val="1A1A1A"/>
          </a:solidFill>
          <a:ln w="9525">
            <a:solidFill>
              <a:srgbClr val="333333"/>
            </a:solidFill>
            <a:prstDash val="solid"/>
          </a:ln>
        </p:spPr>
      </p:sp>
      <p:sp>
        <p:nvSpPr>
          <p:cNvPr id="4" name="icono principio 1 fondo"/>
          <p:cNvSpPr/>
          <p:nvPr/>
        </p:nvSpPr>
        <p:spPr>
          <a:xfrm>
            <a:off x="685800" y="1298448"/>
            <a:ext cx="548640" cy="548640"/>
          </a:xfrm>
          <a:prstGeom prst="ellipse">
            <a:avLst/>
          </a:prstGeom>
          <a:solidFill>
            <a:srgbClr val="3E8EF7">
              <a:alpha val="18000"/>
            </a:srgbClr>
          </a:solidFill>
          <a:ln w="6350">
            <a:solidFill>
              <a:srgbClr val="3E8EF7">
                <a:alpha val="40000"/>
              </a:srgbClr>
            </a:solidFill>
            <a:prstDash val="solid"/>
          </a:ln>
        </p:spPr>
      </p:sp>
      <p:pic>
        <p:nvPicPr>
          <p:cNvPr id="5" name="icono principio 1" descr="preencoded.png">    </p:cNvPr>
          <p:cNvPicPr>
            <a:picLocks noChangeAspect="1"/>
          </p:cNvPicPr>
          <p:nvPr/>
        </p:nvPicPr>
        <p:blipFill>
          <a:blip r:embed="rId1"/>
          <a:stretch>
            <a:fillRect/>
          </a:stretch>
        </p:blipFill>
        <p:spPr>
          <a:xfrm>
            <a:off x="822960" y="1435608"/>
            <a:ext cx="274320" cy="274320"/>
          </a:xfrm>
          <a:prstGeom prst="rect">
            <a:avLst/>
          </a:prstGeom>
        </p:spPr>
      </p:pic>
      <p:sp>
        <p:nvSpPr>
          <p:cNvPr id="6" name="título principio 1"/>
          <p:cNvSpPr txBox="1"/>
          <p:nvPr/>
        </p:nvSpPr>
        <p:spPr>
          <a:xfrm>
            <a:off x="685800" y="1920240"/>
            <a:ext cx="2194560" cy="274320"/>
          </a:xfrm>
          <a:prstGeom prst="rect">
            <a:avLst/>
          </a:prstGeom>
          <a:noFill/>
          <a:ln/>
        </p:spPr>
        <p:txBody>
          <a:bodyPr wrap="square" lIns="0" tIns="0" rIns="0" bIns="0" rtlCol="0" anchor="t"/>
          <a:lstStyle/>
          <a:p>
            <a:pPr indent="0" marL="0">
              <a:buNone/>
            </a:pPr>
            <a:r>
              <a:rPr lang="en-US" sz="1300" b="1" dirty="0">
                <a:solidFill>
                  <a:srgbClr val="FFFFFF"/>
                </a:solidFill>
              </a:rPr>
              <a:t>Cada camión, en su carril</a:t>
            </a:r>
            <a:endParaRPr lang="en-US" sz="1300" dirty="0"/>
          </a:p>
        </p:txBody>
      </p:sp>
      <p:sp>
        <p:nvSpPr>
          <p:cNvPr id="7" name="texto principio 1"/>
          <p:cNvSpPr txBox="1"/>
          <p:nvPr/>
        </p:nvSpPr>
        <p:spPr>
          <a:xfrm>
            <a:off x="685800" y="2240280"/>
            <a:ext cx="2194560" cy="731520"/>
          </a:xfrm>
          <a:prstGeom prst="rect">
            <a:avLst/>
          </a:prstGeom>
          <a:noFill/>
          <a:ln/>
        </p:spPr>
        <p:txBody>
          <a:bodyPr wrap="square" lIns="0" tIns="0" rIns="0" bIns="0" rtlCol="0" anchor="t"/>
          <a:lstStyle/>
          <a:p>
            <a:pPr indent="0" marL="0">
              <a:buNone/>
            </a:pPr>
            <a:r>
              <a:rPr lang="en-US" sz="1100" dirty="0">
                <a:solidFill>
                  <a:srgbClr val="C3C2B7"/>
                </a:solidFill>
              </a:rPr>
              <a:t>Se respeta el carril de cada camión en todas las pruebas. La interacción es segura: no hay enfrentamientos directos.</a:t>
            </a:r>
            <a:endParaRPr lang="en-US" sz="1100" dirty="0"/>
          </a:p>
        </p:txBody>
      </p:sp>
      <p:sp>
        <p:nvSpPr>
          <p:cNvPr id="8" name="principio 2"/>
          <p:cNvSpPr/>
          <p:nvPr/>
        </p:nvSpPr>
        <p:spPr>
          <a:xfrm>
            <a:off x="3246120" y="1097280"/>
            <a:ext cx="2651760" cy="1965960"/>
          </a:xfrm>
          <a:prstGeom prst="roundRect">
            <a:avLst>
              <a:gd name="adj" fmla="val 4651"/>
            </a:avLst>
          </a:prstGeom>
          <a:solidFill>
            <a:srgbClr val="1A1A1A"/>
          </a:solidFill>
          <a:ln w="9525">
            <a:solidFill>
              <a:srgbClr val="333333"/>
            </a:solidFill>
            <a:prstDash val="solid"/>
          </a:ln>
        </p:spPr>
      </p:sp>
      <p:sp>
        <p:nvSpPr>
          <p:cNvPr id="9" name="icono principio 2 fondo"/>
          <p:cNvSpPr/>
          <p:nvPr/>
        </p:nvSpPr>
        <p:spPr>
          <a:xfrm>
            <a:off x="3474720" y="1298448"/>
            <a:ext cx="548640" cy="548640"/>
          </a:xfrm>
          <a:prstGeom prst="ellipse">
            <a:avLst/>
          </a:prstGeom>
          <a:solidFill>
            <a:srgbClr val="3E8EF7">
              <a:alpha val="18000"/>
            </a:srgbClr>
          </a:solidFill>
          <a:ln w="6350">
            <a:solidFill>
              <a:srgbClr val="3E8EF7">
                <a:alpha val="40000"/>
              </a:srgbClr>
            </a:solidFill>
            <a:prstDash val="solid"/>
          </a:ln>
        </p:spPr>
      </p:sp>
      <p:pic>
        <p:nvPicPr>
          <p:cNvPr id="10" name="icono principio 2" descr="preencoded.png">    </p:cNvPr>
          <p:cNvPicPr>
            <a:picLocks noChangeAspect="1"/>
          </p:cNvPicPr>
          <p:nvPr/>
        </p:nvPicPr>
        <p:blipFill>
          <a:blip r:embed="rId2"/>
          <a:stretch>
            <a:fillRect/>
          </a:stretch>
        </p:blipFill>
        <p:spPr>
          <a:xfrm>
            <a:off x="3611880" y="1435608"/>
            <a:ext cx="274320" cy="274320"/>
          </a:xfrm>
          <a:prstGeom prst="rect">
            <a:avLst/>
          </a:prstGeom>
        </p:spPr>
      </p:pic>
      <p:sp>
        <p:nvSpPr>
          <p:cNvPr id="11" name="título principio 2"/>
          <p:cNvSpPr txBox="1"/>
          <p:nvPr/>
        </p:nvSpPr>
        <p:spPr>
          <a:xfrm>
            <a:off x="3474720" y="1920240"/>
            <a:ext cx="2194560" cy="274320"/>
          </a:xfrm>
          <a:prstGeom prst="rect">
            <a:avLst/>
          </a:prstGeom>
          <a:noFill/>
          <a:ln/>
        </p:spPr>
        <p:txBody>
          <a:bodyPr wrap="square" lIns="0" tIns="0" rIns="0" bIns="0" rtlCol="0" anchor="t"/>
          <a:lstStyle/>
          <a:p>
            <a:pPr indent="0" marL="0">
              <a:buNone/>
            </a:pPr>
            <a:r>
              <a:rPr lang="en-US" sz="1300" b="1" dirty="0">
                <a:solidFill>
                  <a:srgbClr val="FFFFFF"/>
                </a:solidFill>
              </a:rPr>
              <a:t>Espacio para maniobrar</a:t>
            </a:r>
            <a:endParaRPr lang="en-US" sz="1300" dirty="0"/>
          </a:p>
        </p:txBody>
      </p:sp>
      <p:sp>
        <p:nvSpPr>
          <p:cNvPr id="12" name="texto principio 2"/>
          <p:cNvSpPr txBox="1"/>
          <p:nvPr/>
        </p:nvSpPr>
        <p:spPr>
          <a:xfrm>
            <a:off x="3474720" y="2240280"/>
            <a:ext cx="2194560" cy="731520"/>
          </a:xfrm>
          <a:prstGeom prst="rect">
            <a:avLst/>
          </a:prstGeom>
          <a:noFill/>
          <a:ln/>
        </p:spPr>
        <p:txBody>
          <a:bodyPr wrap="square" lIns="0" tIns="0" rIns="0" bIns="0" rtlCol="0" anchor="t"/>
          <a:lstStyle/>
          <a:p>
            <a:pPr indent="0" marL="0">
              <a:buNone/>
            </a:pPr>
            <a:r>
              <a:rPr lang="en-US" sz="1100" dirty="0">
                <a:solidFill>
                  <a:srgbClr val="C3C2B7"/>
                </a:solidFill>
              </a:rPr>
              <a:t>Se dejan distancias suficientes para que cada camión pueda maniobrar sin invadir el carril del otro.</a:t>
            </a:r>
            <a:endParaRPr lang="en-US" sz="1100" dirty="0"/>
          </a:p>
        </p:txBody>
      </p:sp>
      <p:sp>
        <p:nvSpPr>
          <p:cNvPr id="13" name="principio 3"/>
          <p:cNvSpPr/>
          <p:nvPr/>
        </p:nvSpPr>
        <p:spPr>
          <a:xfrm>
            <a:off x="6035040" y="1097280"/>
            <a:ext cx="2651760" cy="1965960"/>
          </a:xfrm>
          <a:prstGeom prst="roundRect">
            <a:avLst>
              <a:gd name="adj" fmla="val 4651"/>
            </a:avLst>
          </a:prstGeom>
          <a:solidFill>
            <a:srgbClr val="1A1A1A"/>
          </a:solidFill>
          <a:ln w="9525">
            <a:solidFill>
              <a:srgbClr val="333333"/>
            </a:solidFill>
            <a:prstDash val="solid"/>
          </a:ln>
        </p:spPr>
      </p:sp>
      <p:sp>
        <p:nvSpPr>
          <p:cNvPr id="14" name="icono principio 3 fondo"/>
          <p:cNvSpPr/>
          <p:nvPr/>
        </p:nvSpPr>
        <p:spPr>
          <a:xfrm>
            <a:off x="6263640" y="1298448"/>
            <a:ext cx="548640" cy="548640"/>
          </a:xfrm>
          <a:prstGeom prst="ellipse">
            <a:avLst/>
          </a:prstGeom>
          <a:solidFill>
            <a:srgbClr val="FAB219">
              <a:alpha val="18000"/>
            </a:srgbClr>
          </a:solidFill>
          <a:ln w="6350">
            <a:solidFill>
              <a:srgbClr val="FAB219">
                <a:alpha val="40000"/>
              </a:srgbClr>
            </a:solidFill>
            <a:prstDash val="solid"/>
          </a:ln>
        </p:spPr>
      </p:sp>
      <p:pic>
        <p:nvPicPr>
          <p:cNvPr id="15" name="icono principio 3" descr="preencoded.png">    </p:cNvPr>
          <p:cNvPicPr>
            <a:picLocks noChangeAspect="1"/>
          </p:cNvPicPr>
          <p:nvPr/>
        </p:nvPicPr>
        <p:blipFill>
          <a:blip r:embed="rId3"/>
          <a:stretch>
            <a:fillRect/>
          </a:stretch>
        </p:blipFill>
        <p:spPr>
          <a:xfrm>
            <a:off x="6400800" y="1435608"/>
            <a:ext cx="274320" cy="274320"/>
          </a:xfrm>
          <a:prstGeom prst="rect">
            <a:avLst/>
          </a:prstGeom>
        </p:spPr>
      </p:pic>
      <p:sp>
        <p:nvSpPr>
          <p:cNvPr id="16" name="título principio 3"/>
          <p:cNvSpPr txBox="1"/>
          <p:nvPr/>
        </p:nvSpPr>
        <p:spPr>
          <a:xfrm>
            <a:off x="6263640" y="1920240"/>
            <a:ext cx="2194560" cy="274320"/>
          </a:xfrm>
          <a:prstGeom prst="rect">
            <a:avLst/>
          </a:prstGeom>
          <a:noFill/>
          <a:ln/>
        </p:spPr>
        <p:txBody>
          <a:bodyPr wrap="square" lIns="0" tIns="0" rIns="0" bIns="0" rtlCol="0" anchor="t"/>
          <a:lstStyle/>
          <a:p>
            <a:pPr indent="0" marL="0">
              <a:buNone/>
            </a:pPr>
            <a:r>
              <a:rPr lang="en-US" sz="1300" b="1" dirty="0">
                <a:solidFill>
                  <a:srgbClr val="FFFFFF"/>
                </a:solidFill>
              </a:rPr>
              <a:t>Ante un imprevisto, se detiene</a:t>
            </a:r>
            <a:endParaRPr lang="en-US" sz="1300" dirty="0"/>
          </a:p>
        </p:txBody>
      </p:sp>
      <p:sp>
        <p:nvSpPr>
          <p:cNvPr id="17" name="texto principio 3"/>
          <p:cNvSpPr txBox="1"/>
          <p:nvPr/>
        </p:nvSpPr>
        <p:spPr>
          <a:xfrm>
            <a:off x="6263640" y="2240280"/>
            <a:ext cx="2194560" cy="731520"/>
          </a:xfrm>
          <a:prstGeom prst="rect">
            <a:avLst/>
          </a:prstGeom>
          <a:noFill/>
          <a:ln/>
        </p:spPr>
        <p:txBody>
          <a:bodyPr wrap="square" lIns="0" tIns="0" rIns="0" bIns="0" rtlCol="0" anchor="t"/>
          <a:lstStyle/>
          <a:p>
            <a:pPr indent="0" marL="0">
              <a:buNone/>
            </a:pPr>
            <a:r>
              <a:rPr lang="en-US" sz="1100" dirty="0">
                <a:solidFill>
                  <a:srgbClr val="C3C2B7"/>
                </a:solidFill>
              </a:rPr>
              <a:t>Si surge cualquier imprevisto, la prueba se para y se retoma solo cuando vuelve a ser segura.</a:t>
            </a:r>
            <a:endParaRPr lang="en-US" sz="1100" dirty="0"/>
          </a:p>
        </p:txBody>
      </p:sp>
      <p:sp>
        <p:nvSpPr>
          <p:cNvPr id="18" name="etiqueta secuencia"/>
          <p:cNvSpPr txBox="1"/>
          <p:nvPr/>
        </p:nvSpPr>
        <p:spPr>
          <a:xfrm>
            <a:off x="457200" y="3246120"/>
            <a:ext cx="2743200" cy="228600"/>
          </a:xfrm>
          <a:prstGeom prst="rect">
            <a:avLst/>
          </a:prstGeom>
          <a:noFill/>
          <a:ln/>
        </p:spPr>
        <p:txBody>
          <a:bodyPr wrap="square" lIns="0" tIns="0" rIns="0" bIns="0" rtlCol="0" anchor="t"/>
          <a:lstStyle/>
          <a:p>
            <a:pPr indent="0" marL="0">
              <a:buNone/>
            </a:pPr>
            <a:r>
              <a:rPr lang="en-US" sz="900" b="1" spc="200" kern="0" dirty="0">
                <a:solidFill>
                  <a:srgbClr val="999999"/>
                </a:solidFill>
              </a:rPr>
              <a:t>SECUENCIA</a:t>
            </a:r>
            <a:endParaRPr lang="en-US" sz="900" dirty="0"/>
          </a:p>
        </p:txBody>
      </p:sp>
      <p:sp>
        <p:nvSpPr>
          <p:cNvPr id="19" name="secuencia 1"/>
          <p:cNvSpPr/>
          <p:nvPr/>
        </p:nvSpPr>
        <p:spPr>
          <a:xfrm>
            <a:off x="457200" y="3520440"/>
            <a:ext cx="1554480" cy="960120"/>
          </a:xfrm>
          <a:prstGeom prst="roundRect">
            <a:avLst>
              <a:gd name="adj" fmla="val 9524"/>
            </a:avLst>
          </a:prstGeom>
          <a:solidFill>
            <a:srgbClr val="202020"/>
          </a:solidFill>
          <a:ln w="9525">
            <a:solidFill>
              <a:srgbClr val="333333"/>
            </a:solidFill>
            <a:prstDash val="solid"/>
          </a:ln>
        </p:spPr>
      </p:sp>
      <p:sp>
        <p:nvSpPr>
          <p:cNvPr id="20" name="número secuencia 1 fondo"/>
          <p:cNvSpPr/>
          <p:nvPr/>
        </p:nvSpPr>
        <p:spPr>
          <a:xfrm>
            <a:off x="594360" y="3657600"/>
            <a:ext cx="310896" cy="310896"/>
          </a:xfrm>
          <a:prstGeom prst="ellipse">
            <a:avLst/>
          </a:prstGeom>
          <a:solidFill>
            <a:srgbClr val="3E8EF7"/>
          </a:solidFill>
          <a:ln w="12700">
            <a:solidFill>
              <a:srgbClr val="3E8EF7"/>
            </a:solidFill>
            <a:prstDash val="solid"/>
          </a:ln>
        </p:spPr>
      </p:sp>
      <p:sp>
        <p:nvSpPr>
          <p:cNvPr id="21" name="número secuencia 1"/>
          <p:cNvSpPr txBox="1"/>
          <p:nvPr/>
        </p:nvSpPr>
        <p:spPr>
          <a:xfrm>
            <a:off x="594360"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2" name="texto secuencia 1"/>
          <p:cNvSpPr txBox="1"/>
          <p:nvPr/>
        </p:nvSpPr>
        <p:spPr>
          <a:xfrm>
            <a:off x="594360"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Enfrentamiento</a:t>
            </a:r>
            <a:endParaRPr lang="en-US" sz="1050" dirty="0"/>
          </a:p>
        </p:txBody>
      </p:sp>
      <p:sp>
        <p:nvSpPr>
          <p:cNvPr id="23" name="flecha secuencia 1"/>
          <p:cNvSpPr/>
          <p:nvPr/>
        </p:nvSpPr>
        <p:spPr>
          <a:xfrm>
            <a:off x="2020824" y="4000500"/>
            <a:ext cx="109728" cy="0"/>
          </a:xfrm>
          <a:prstGeom prst="line">
            <a:avLst/>
          </a:prstGeom>
          <a:noFill/>
          <a:ln w="19050">
            <a:solidFill>
              <a:srgbClr val="444444"/>
            </a:solidFill>
            <a:prstDash val="solid"/>
            <a:tailEnd type="triangle"/>
          </a:ln>
        </p:spPr>
      </p:sp>
      <p:sp>
        <p:nvSpPr>
          <p:cNvPr id="24" name="secuencia 2"/>
          <p:cNvSpPr/>
          <p:nvPr/>
        </p:nvSpPr>
        <p:spPr>
          <a:xfrm>
            <a:off x="2139696" y="3520440"/>
            <a:ext cx="1554480" cy="960120"/>
          </a:xfrm>
          <a:prstGeom prst="roundRect">
            <a:avLst>
              <a:gd name="adj" fmla="val 9524"/>
            </a:avLst>
          </a:prstGeom>
          <a:solidFill>
            <a:srgbClr val="202020"/>
          </a:solidFill>
          <a:ln w="9525">
            <a:solidFill>
              <a:srgbClr val="333333"/>
            </a:solidFill>
            <a:prstDash val="solid"/>
          </a:ln>
        </p:spPr>
      </p:sp>
      <p:sp>
        <p:nvSpPr>
          <p:cNvPr id="25" name="número secuencia 2 fondo"/>
          <p:cNvSpPr/>
          <p:nvPr/>
        </p:nvSpPr>
        <p:spPr>
          <a:xfrm>
            <a:off x="2276856" y="3657600"/>
            <a:ext cx="310896" cy="310896"/>
          </a:xfrm>
          <a:prstGeom prst="ellipse">
            <a:avLst/>
          </a:prstGeom>
          <a:solidFill>
            <a:srgbClr val="3E8EF7"/>
          </a:solidFill>
          <a:ln w="12700">
            <a:solidFill>
              <a:srgbClr val="3E8EF7"/>
            </a:solidFill>
            <a:prstDash val="solid"/>
          </a:ln>
        </p:spPr>
      </p:sp>
      <p:sp>
        <p:nvSpPr>
          <p:cNvPr id="26" name="número secuencia 2"/>
          <p:cNvSpPr txBox="1"/>
          <p:nvPr/>
        </p:nvSpPr>
        <p:spPr>
          <a:xfrm>
            <a:off x="2276856"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7" name="texto secuencia 2"/>
          <p:cNvSpPr txBox="1"/>
          <p:nvPr/>
        </p:nvSpPr>
        <p:spPr>
          <a:xfrm>
            <a:off x="2276856"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Cruce en carriles</a:t>
            </a:r>
            <a:endParaRPr lang="en-US" sz="1050" dirty="0"/>
          </a:p>
          <a:p>
            <a:pPr indent="0" marL="0">
              <a:buNone/>
            </a:pPr>
            <a:r>
              <a:rPr lang="en-US" sz="1050" b="1" dirty="0">
                <a:solidFill>
                  <a:srgbClr val="E0E0E0"/>
                </a:solidFill>
              </a:rPr>
              <a:t>distintos</a:t>
            </a:r>
            <a:endParaRPr lang="en-US" sz="1050" dirty="0"/>
          </a:p>
        </p:txBody>
      </p:sp>
      <p:sp>
        <p:nvSpPr>
          <p:cNvPr id="28" name="flecha secuencia 2"/>
          <p:cNvSpPr/>
          <p:nvPr/>
        </p:nvSpPr>
        <p:spPr>
          <a:xfrm>
            <a:off x="3703320" y="4000500"/>
            <a:ext cx="109728" cy="0"/>
          </a:xfrm>
          <a:prstGeom prst="line">
            <a:avLst/>
          </a:prstGeom>
          <a:noFill/>
          <a:ln w="19050">
            <a:solidFill>
              <a:srgbClr val="444444"/>
            </a:solidFill>
            <a:prstDash val="solid"/>
            <a:tailEnd type="triangle"/>
          </a:ln>
        </p:spPr>
      </p:sp>
      <p:sp>
        <p:nvSpPr>
          <p:cNvPr id="29" name="secuencia 3"/>
          <p:cNvSpPr/>
          <p:nvPr/>
        </p:nvSpPr>
        <p:spPr>
          <a:xfrm>
            <a:off x="3822192" y="3520440"/>
            <a:ext cx="1554480" cy="960120"/>
          </a:xfrm>
          <a:prstGeom prst="roundRect">
            <a:avLst>
              <a:gd name="adj" fmla="val 9524"/>
            </a:avLst>
          </a:prstGeom>
          <a:solidFill>
            <a:srgbClr val="202020"/>
          </a:solidFill>
          <a:ln w="9525">
            <a:solidFill>
              <a:srgbClr val="333333"/>
            </a:solidFill>
            <a:prstDash val="solid"/>
          </a:ln>
        </p:spPr>
      </p:sp>
      <p:sp>
        <p:nvSpPr>
          <p:cNvPr id="30" name="número secuencia 3 fondo"/>
          <p:cNvSpPr/>
          <p:nvPr/>
        </p:nvSpPr>
        <p:spPr>
          <a:xfrm>
            <a:off x="3959352" y="3657600"/>
            <a:ext cx="310896" cy="310896"/>
          </a:xfrm>
          <a:prstGeom prst="ellipse">
            <a:avLst/>
          </a:prstGeom>
          <a:solidFill>
            <a:srgbClr val="3E8EF7"/>
          </a:solidFill>
          <a:ln w="12700">
            <a:solidFill>
              <a:srgbClr val="3E8EF7"/>
            </a:solidFill>
            <a:prstDash val="solid"/>
          </a:ln>
        </p:spPr>
      </p:sp>
      <p:sp>
        <p:nvSpPr>
          <p:cNvPr id="31" name="número secuencia 3"/>
          <p:cNvSpPr txBox="1"/>
          <p:nvPr/>
        </p:nvSpPr>
        <p:spPr>
          <a:xfrm>
            <a:off x="3959352"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2" name="texto secuencia 3"/>
          <p:cNvSpPr txBox="1"/>
          <p:nvPr/>
        </p:nvSpPr>
        <p:spPr>
          <a:xfrm>
            <a:off x="3959352"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Seguimiento</a:t>
            </a:r>
            <a:endParaRPr lang="en-US" sz="1050" dirty="0"/>
          </a:p>
        </p:txBody>
      </p:sp>
      <p:sp>
        <p:nvSpPr>
          <p:cNvPr id="33" name="flecha secuencia 3"/>
          <p:cNvSpPr/>
          <p:nvPr/>
        </p:nvSpPr>
        <p:spPr>
          <a:xfrm>
            <a:off x="5385816" y="4000500"/>
            <a:ext cx="109728" cy="0"/>
          </a:xfrm>
          <a:prstGeom prst="line">
            <a:avLst/>
          </a:prstGeom>
          <a:noFill/>
          <a:ln w="19050">
            <a:solidFill>
              <a:srgbClr val="444444"/>
            </a:solidFill>
            <a:prstDash val="solid"/>
            <a:tailEnd type="triangle"/>
          </a:ln>
        </p:spPr>
      </p:sp>
      <p:sp>
        <p:nvSpPr>
          <p:cNvPr id="34" name="secuencia 4"/>
          <p:cNvSpPr/>
          <p:nvPr/>
        </p:nvSpPr>
        <p:spPr>
          <a:xfrm>
            <a:off x="5504688" y="3520440"/>
            <a:ext cx="1554480" cy="960120"/>
          </a:xfrm>
          <a:prstGeom prst="roundRect">
            <a:avLst>
              <a:gd name="adj" fmla="val 9524"/>
            </a:avLst>
          </a:prstGeom>
          <a:solidFill>
            <a:srgbClr val="202020"/>
          </a:solidFill>
          <a:ln w="9525">
            <a:solidFill>
              <a:srgbClr val="333333"/>
            </a:solidFill>
            <a:prstDash val="solid"/>
          </a:ln>
        </p:spPr>
      </p:sp>
      <p:sp>
        <p:nvSpPr>
          <p:cNvPr id="35" name="número secuencia 4 fondo"/>
          <p:cNvSpPr/>
          <p:nvPr/>
        </p:nvSpPr>
        <p:spPr>
          <a:xfrm>
            <a:off x="5641848" y="3657600"/>
            <a:ext cx="310896" cy="310896"/>
          </a:xfrm>
          <a:prstGeom prst="ellipse">
            <a:avLst/>
          </a:prstGeom>
          <a:solidFill>
            <a:srgbClr val="3E8EF7"/>
          </a:solidFill>
          <a:ln w="12700">
            <a:solidFill>
              <a:srgbClr val="3E8EF7"/>
            </a:solidFill>
            <a:prstDash val="solid"/>
          </a:ln>
        </p:spPr>
      </p:sp>
      <p:sp>
        <p:nvSpPr>
          <p:cNvPr id="36" name="número secuencia 4"/>
          <p:cNvSpPr txBox="1"/>
          <p:nvPr/>
        </p:nvSpPr>
        <p:spPr>
          <a:xfrm>
            <a:off x="5641848"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7" name="texto secuencia 4"/>
          <p:cNvSpPr txBox="1"/>
          <p:nvPr/>
        </p:nvSpPr>
        <p:spPr>
          <a:xfrm>
            <a:off x="5641848"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Cruce en</a:t>
            </a:r>
            <a:endParaRPr lang="en-US" sz="1050" dirty="0"/>
          </a:p>
          <a:p>
            <a:pPr indent="0" marL="0">
              <a:buNone/>
            </a:pPr>
            <a:r>
              <a:rPr lang="en-US" sz="1050" b="1" dirty="0">
                <a:solidFill>
                  <a:srgbClr val="E0E0E0"/>
                </a:solidFill>
              </a:rPr>
              <a:t>intersección</a:t>
            </a:r>
            <a:endParaRPr lang="en-US" sz="1050" dirty="0"/>
          </a:p>
        </p:txBody>
      </p:sp>
      <p:sp>
        <p:nvSpPr>
          <p:cNvPr id="38" name="flecha secuencia 4"/>
          <p:cNvSpPr/>
          <p:nvPr/>
        </p:nvSpPr>
        <p:spPr>
          <a:xfrm>
            <a:off x="7068312" y="4000500"/>
            <a:ext cx="109728" cy="0"/>
          </a:xfrm>
          <a:prstGeom prst="line">
            <a:avLst/>
          </a:prstGeom>
          <a:noFill/>
          <a:ln w="19050">
            <a:solidFill>
              <a:srgbClr val="444444"/>
            </a:solidFill>
            <a:prstDash val="solid"/>
            <a:tailEnd type="triangle"/>
          </a:ln>
        </p:spPr>
      </p:sp>
      <p:sp>
        <p:nvSpPr>
          <p:cNvPr id="39" name="secuencia 5"/>
          <p:cNvSpPr/>
          <p:nvPr/>
        </p:nvSpPr>
        <p:spPr>
          <a:xfrm>
            <a:off x="7187184" y="3520440"/>
            <a:ext cx="1554480" cy="960120"/>
          </a:xfrm>
          <a:prstGeom prst="roundRect">
            <a:avLst>
              <a:gd name="adj" fmla="val 9524"/>
            </a:avLst>
          </a:prstGeom>
          <a:solidFill>
            <a:srgbClr val="202020"/>
          </a:solidFill>
          <a:ln w="9525">
            <a:solidFill>
              <a:srgbClr val="333333"/>
            </a:solidFill>
            <a:prstDash val="solid"/>
          </a:ln>
        </p:spPr>
      </p:sp>
      <p:sp>
        <p:nvSpPr>
          <p:cNvPr id="40" name="número secuencia 5 fondo"/>
          <p:cNvSpPr/>
          <p:nvPr/>
        </p:nvSpPr>
        <p:spPr>
          <a:xfrm>
            <a:off x="7324344" y="3657600"/>
            <a:ext cx="310896" cy="310896"/>
          </a:xfrm>
          <a:prstGeom prst="ellipse">
            <a:avLst/>
          </a:prstGeom>
          <a:solidFill>
            <a:srgbClr val="0CA30C"/>
          </a:solidFill>
          <a:ln w="12700">
            <a:solidFill>
              <a:srgbClr val="0CA30C"/>
            </a:solidFill>
            <a:prstDash val="solid"/>
          </a:ln>
        </p:spPr>
      </p:sp>
      <p:sp>
        <p:nvSpPr>
          <p:cNvPr id="41" name="número secuencia 5"/>
          <p:cNvSpPr txBox="1"/>
          <p:nvPr/>
        </p:nvSpPr>
        <p:spPr>
          <a:xfrm>
            <a:off x="7324344"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42" name="texto secuencia 5"/>
          <p:cNvSpPr txBox="1"/>
          <p:nvPr/>
        </p:nvSpPr>
        <p:spPr>
          <a:xfrm>
            <a:off x="7324344" y="4023360"/>
            <a:ext cx="1280160" cy="411480"/>
          </a:xfrm>
          <a:prstGeom prst="rect">
            <a:avLst/>
          </a:prstGeom>
          <a:noFill/>
          <a:ln/>
        </p:spPr>
        <p:txBody>
          <a:bodyPr wrap="square" lIns="0" tIns="0" rIns="0" bIns="0" rtlCol="0" anchor="t"/>
          <a:lstStyle/>
          <a:p>
            <a:pPr indent="0" marL="0">
              <a:buNone/>
            </a:pPr>
            <a:r>
              <a:rPr lang="en-US" sz="1050" b="1" dirty="0">
                <a:solidFill>
                  <a:srgbClr val="E0E0E0"/>
                </a:solidFill>
              </a:rPr>
              <a:t>Recta:</a:t>
            </a:r>
            <a:endParaRPr lang="en-US" sz="1050" dirty="0"/>
          </a:p>
          <a:p>
            <a:pPr indent="0" marL="0">
              <a:buNone/>
            </a:pPr>
            <a:r>
              <a:rPr lang="en-US" sz="1050" b="1" dirty="0">
                <a:solidFill>
                  <a:srgbClr val="E0E0E0"/>
                </a:solidFill>
              </a:rPr>
              <a:t>validación final</a:t>
            </a:r>
            <a:endParaRPr lang="en-US" sz="105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1 · Enfrentamiento</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1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1"/>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1 división 1"/>
          <p:cNvSpPr/>
          <p:nvPr/>
        </p:nvSpPr>
        <p:spPr>
          <a:xfrm>
            <a:off x="731520" y="2560320"/>
            <a:ext cx="4480560" cy="0"/>
          </a:xfrm>
          <a:prstGeom prst="line">
            <a:avLst/>
          </a:prstGeom>
          <a:noFill/>
          <a:ln w="12700">
            <a:solidFill>
              <a:srgbClr val="666666"/>
            </a:solidFill>
            <a:prstDash val="dash"/>
          </a:ln>
        </p:spPr>
      </p:sp>
      <p:sp>
        <p:nvSpPr>
          <p:cNvPr id="10" name="P1 camión A zona de detección"/>
          <p:cNvSpPr/>
          <p:nvPr/>
        </p:nvSpPr>
        <p:spPr>
          <a:xfrm>
            <a:off x="2011680" y="1792224"/>
            <a:ext cx="1051560" cy="804672"/>
          </a:xfrm>
          <a:prstGeom prst="ellipse">
            <a:avLst/>
          </a:prstGeom>
          <a:solidFill>
            <a:srgbClr val="3987E5">
              <a:alpha val="20000"/>
            </a:srgbClr>
          </a:solidFill>
          <a:ln w="12700">
            <a:solidFill>
              <a:srgbClr val="3987E5">
                <a:alpha val="0"/>
              </a:srgbClr>
            </a:solidFill>
            <a:prstDash val="solid"/>
          </a:ln>
        </p:spPr>
      </p:sp>
      <p:sp>
        <p:nvSpPr>
          <p:cNvPr id="11" name="P1 camión A remolque"/>
          <p:cNvSpPr/>
          <p:nvPr/>
        </p:nvSpPr>
        <p:spPr>
          <a:xfrm>
            <a:off x="1097280" y="2011680"/>
            <a:ext cx="603504" cy="365760"/>
          </a:xfrm>
          <a:prstGeom prst="roundRect">
            <a:avLst>
              <a:gd name="adj" fmla="val 10000"/>
            </a:avLst>
          </a:prstGeom>
          <a:solidFill>
            <a:srgbClr val="2A2A2A"/>
          </a:solidFill>
          <a:ln w="15875">
            <a:solidFill>
              <a:srgbClr val="3987E5"/>
            </a:solidFill>
            <a:prstDash val="solid"/>
          </a:ln>
        </p:spPr>
      </p:sp>
      <p:sp>
        <p:nvSpPr>
          <p:cNvPr id="12" name="P1 camión A cabina"/>
          <p:cNvSpPr/>
          <p:nvPr/>
        </p:nvSpPr>
        <p:spPr>
          <a:xfrm>
            <a:off x="1737360" y="2039112"/>
            <a:ext cx="274320" cy="310896"/>
          </a:xfrm>
          <a:prstGeom prst="roundRect">
            <a:avLst>
              <a:gd name="adj" fmla="val 16667"/>
            </a:avLst>
          </a:prstGeom>
          <a:solidFill>
            <a:srgbClr val="3987E5"/>
          </a:solidFill>
          <a:ln w="12700">
            <a:solidFill>
              <a:srgbClr val="3987E5"/>
            </a:solidFill>
            <a:prstDash val="solid"/>
          </a:ln>
        </p:spPr>
      </p:sp>
      <p:sp>
        <p:nvSpPr>
          <p:cNvPr id="13" name="P1 camión A sentido"/>
          <p:cNvSpPr/>
          <p:nvPr/>
        </p:nvSpPr>
        <p:spPr>
          <a:xfrm>
            <a:off x="2084832" y="2194560"/>
            <a:ext cx="822960" cy="0"/>
          </a:xfrm>
          <a:prstGeom prst="line">
            <a:avLst/>
          </a:prstGeom>
          <a:noFill/>
          <a:ln w="25400">
            <a:solidFill>
              <a:srgbClr val="3987E5"/>
            </a:solidFill>
            <a:prstDash val="solid"/>
            <a:tailEnd type="triangle"/>
          </a:ln>
        </p:spPr>
      </p:sp>
      <p:sp>
        <p:nvSpPr>
          <p:cNvPr id="14" name="P1 camión A etiqueta"/>
          <p:cNvSpPr txBox="1"/>
          <p:nvPr/>
        </p:nvSpPr>
        <p:spPr>
          <a:xfrm>
            <a:off x="1097280" y="2011680"/>
            <a:ext cx="603504" cy="365760"/>
          </a:xfrm>
          <a:prstGeom prst="rect">
            <a:avLst/>
          </a:prstGeom>
          <a:noFill/>
          <a:ln/>
        </p:spPr>
        <p:txBody>
          <a:bodyPr wrap="square" lIns="0" tIns="0" rIns="0" bIns="0" rtlCol="0" anchor="ctr"/>
          <a:lstStyle/>
          <a:p>
            <a:pPr algn="ctr" indent="0" marL="0">
              <a:buNone/>
            </a:pPr>
            <a:r>
              <a:rPr lang="en-US" sz="1200" b="1" dirty="0">
                <a:solidFill>
                  <a:srgbClr val="3987E5"/>
                </a:solidFill>
              </a:rPr>
              <a:t>A</a:t>
            </a:r>
            <a:endParaRPr lang="en-US" sz="1200" dirty="0"/>
          </a:p>
        </p:txBody>
      </p:sp>
      <p:sp>
        <p:nvSpPr>
          <p:cNvPr id="15" name="P1 camión B zona de detección"/>
          <p:cNvSpPr/>
          <p:nvPr/>
        </p:nvSpPr>
        <p:spPr>
          <a:xfrm>
            <a:off x="2880360" y="2523744"/>
            <a:ext cx="1051560" cy="804672"/>
          </a:xfrm>
          <a:prstGeom prst="ellipse">
            <a:avLst/>
          </a:prstGeom>
          <a:solidFill>
            <a:srgbClr val="D95926">
              <a:alpha val="20000"/>
            </a:srgbClr>
          </a:solidFill>
          <a:ln w="12700">
            <a:solidFill>
              <a:srgbClr val="D95926">
                <a:alpha val="0"/>
              </a:srgbClr>
            </a:solidFill>
            <a:prstDash val="solid"/>
          </a:ln>
        </p:spPr>
      </p:sp>
      <p:sp>
        <p:nvSpPr>
          <p:cNvPr id="16" name="P1 camión B remolque"/>
          <p:cNvSpPr/>
          <p:nvPr/>
        </p:nvSpPr>
        <p:spPr>
          <a:xfrm>
            <a:off x="4242816" y="2743200"/>
            <a:ext cx="603504" cy="365760"/>
          </a:xfrm>
          <a:prstGeom prst="roundRect">
            <a:avLst>
              <a:gd name="adj" fmla="val 10000"/>
            </a:avLst>
          </a:prstGeom>
          <a:solidFill>
            <a:srgbClr val="2A2A2A"/>
          </a:solidFill>
          <a:ln w="15875">
            <a:solidFill>
              <a:srgbClr val="D95926"/>
            </a:solidFill>
            <a:prstDash val="solid"/>
          </a:ln>
        </p:spPr>
      </p:sp>
      <p:sp>
        <p:nvSpPr>
          <p:cNvPr id="17" name="P1 camión B cabina"/>
          <p:cNvSpPr/>
          <p:nvPr/>
        </p:nvSpPr>
        <p:spPr>
          <a:xfrm>
            <a:off x="3931920" y="2770632"/>
            <a:ext cx="274320" cy="310896"/>
          </a:xfrm>
          <a:prstGeom prst="roundRect">
            <a:avLst>
              <a:gd name="adj" fmla="val 16667"/>
            </a:avLst>
          </a:prstGeom>
          <a:solidFill>
            <a:srgbClr val="D95926"/>
          </a:solidFill>
          <a:ln w="12700">
            <a:solidFill>
              <a:srgbClr val="D95926"/>
            </a:solidFill>
            <a:prstDash val="solid"/>
          </a:ln>
        </p:spPr>
      </p:sp>
      <p:sp>
        <p:nvSpPr>
          <p:cNvPr id="18" name="P1 camión B sentido"/>
          <p:cNvSpPr/>
          <p:nvPr/>
        </p:nvSpPr>
        <p:spPr>
          <a:xfrm flipH="1">
            <a:off x="3035808" y="2926080"/>
            <a:ext cx="822960" cy="0"/>
          </a:xfrm>
          <a:prstGeom prst="line">
            <a:avLst/>
          </a:prstGeom>
          <a:noFill/>
          <a:ln w="25400">
            <a:solidFill>
              <a:srgbClr val="D95926"/>
            </a:solidFill>
            <a:prstDash val="solid"/>
            <a:tailEnd type="triangle"/>
          </a:ln>
        </p:spPr>
      </p:sp>
      <p:sp>
        <p:nvSpPr>
          <p:cNvPr id="19" name="P1 camión B etiqueta"/>
          <p:cNvSpPr txBox="1"/>
          <p:nvPr/>
        </p:nvSpPr>
        <p:spPr>
          <a:xfrm>
            <a:off x="4242816" y="2743200"/>
            <a:ext cx="603504" cy="365760"/>
          </a:xfrm>
          <a:prstGeom prst="rect">
            <a:avLst/>
          </a:prstGeom>
          <a:noFill/>
          <a:ln/>
        </p:spPr>
        <p:txBody>
          <a:bodyPr wrap="square" lIns="0" tIns="0" rIns="0" bIns="0" rtlCol="0" anchor="ctr"/>
          <a:lstStyle/>
          <a:p>
            <a:pPr algn="ctr" indent="0" marL="0">
              <a:buNone/>
            </a:pPr>
            <a:r>
              <a:rPr lang="en-US" sz="1200" b="1" dirty="0">
                <a:solidFill>
                  <a:srgbClr val="D95926"/>
                </a:solidFill>
              </a:rPr>
              <a:t>B</a:t>
            </a:r>
            <a:endParaRPr lang="en-US" sz="1200" dirty="0"/>
          </a:p>
        </p:txBody>
      </p:sp>
      <p:sp>
        <p:nvSpPr>
          <p:cNvPr id="20" name="nota P1"/>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C3C2B7"/>
                </a:solidFill>
              </a:rPr>
              <a:t>Cada camión en su carril</a:t>
            </a:r>
            <a:endParaRPr lang="en-US" sz="1000" dirty="0"/>
          </a:p>
        </p:txBody>
      </p:sp>
      <p:sp>
        <p:nvSpPr>
          <p:cNvPr id="21" name="leyenda A"/>
          <p:cNvSpPr/>
          <p:nvPr/>
        </p:nvSpPr>
        <p:spPr>
          <a:xfrm>
            <a:off x="731520" y="4206240"/>
            <a:ext cx="256032" cy="128016"/>
          </a:xfrm>
          <a:prstGeom prst="roundRect">
            <a:avLst>
              <a:gd name="adj" fmla="val 21429"/>
            </a:avLst>
          </a:prstGeom>
          <a:solidFill>
            <a:srgbClr val="3987E5"/>
          </a:solidFill>
          <a:ln w="12700">
            <a:solidFill>
              <a:srgbClr val="3987E5"/>
            </a:solidFill>
            <a:prstDash val="solid"/>
          </a:ln>
        </p:spPr>
      </p:sp>
      <p:sp>
        <p:nvSpPr>
          <p:cNvPr id="22" name="leyenda A texto"/>
          <p:cNvSpPr txBox="1"/>
          <p:nvPr/>
        </p:nvSpPr>
        <p:spPr>
          <a:xfrm>
            <a:off x="105156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A</a:t>
            </a:r>
            <a:endParaRPr lang="en-US" sz="900" dirty="0"/>
          </a:p>
        </p:txBody>
      </p:sp>
      <p:sp>
        <p:nvSpPr>
          <p:cNvPr id="23" name="leyenda B"/>
          <p:cNvSpPr/>
          <p:nvPr/>
        </p:nvSpPr>
        <p:spPr>
          <a:xfrm>
            <a:off x="2011680" y="4206240"/>
            <a:ext cx="256032" cy="128016"/>
          </a:xfrm>
          <a:prstGeom prst="roundRect">
            <a:avLst>
              <a:gd name="adj" fmla="val 21429"/>
            </a:avLst>
          </a:prstGeom>
          <a:solidFill>
            <a:srgbClr val="D95926"/>
          </a:solidFill>
          <a:ln w="12700">
            <a:solidFill>
              <a:srgbClr val="D95926"/>
            </a:solidFill>
            <a:prstDash val="solid"/>
          </a:ln>
        </p:spPr>
      </p:sp>
      <p:sp>
        <p:nvSpPr>
          <p:cNvPr id="24" name="leyenda B texto"/>
          <p:cNvSpPr txBox="1"/>
          <p:nvPr/>
        </p:nvSpPr>
        <p:spPr>
          <a:xfrm>
            <a:off x="233172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B</a:t>
            </a:r>
            <a:endParaRPr lang="en-US" sz="900" dirty="0"/>
          </a:p>
        </p:txBody>
      </p:sp>
      <p:sp>
        <p:nvSpPr>
          <p:cNvPr id="25"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6" name="icono Objetivo fondo"/>
          <p:cNvSpPr/>
          <p:nvPr/>
        </p:nvSpPr>
        <p:spPr>
          <a:xfrm>
            <a:off x="5989320" y="1225296"/>
            <a:ext cx="384048" cy="384048"/>
          </a:xfrm>
          <a:prstGeom prst="ellipse">
            <a:avLst/>
          </a:prstGeom>
          <a:solidFill>
            <a:srgbClr val="3E8EF7">
              <a:alpha val="18000"/>
            </a:srgbClr>
          </a:solidFill>
          <a:ln w="6350">
            <a:solidFill>
              <a:srgbClr val="3E8EF7">
                <a:alpha val="40000"/>
              </a:srgbClr>
            </a:solidFill>
            <a:prstDash val="solid"/>
          </a:ln>
        </p:spPr>
      </p:sp>
      <p:pic>
        <p:nvPicPr>
          <p:cNvPr id="27" name="icono Objetivo" descr="preencoded.png">    </p:cNvPr>
          <p:cNvPicPr>
            <a:picLocks noChangeAspect="1"/>
          </p:cNvPicPr>
          <p:nvPr/>
        </p:nvPicPr>
        <p:blipFill>
          <a:blip r:embed="rId1"/>
          <a:stretch>
            <a:fillRect/>
          </a:stretch>
        </p:blipFill>
        <p:spPr>
          <a:xfrm>
            <a:off x="6085332" y="1321308"/>
            <a:ext cx="192024" cy="192024"/>
          </a:xfrm>
          <a:prstGeom prst="rect">
            <a:avLst/>
          </a:prstGeom>
        </p:spPr>
      </p:pic>
      <p:sp>
        <p:nvSpPr>
          <p:cNvPr id="28"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29"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respuesta del sistema cuando dos camiones se aproximan de frente.</a:t>
            </a:r>
            <a:endParaRPr lang="en-US" sz="1000" dirty="0"/>
          </a:p>
        </p:txBody>
      </p:sp>
      <p:sp>
        <p:nvSpPr>
          <p:cNvPr id="30"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1" name="icono Desarrollo fondo"/>
          <p:cNvSpPr/>
          <p:nvPr/>
        </p:nvSpPr>
        <p:spPr>
          <a:xfrm>
            <a:off x="5989320" y="2395728"/>
            <a:ext cx="384048" cy="384048"/>
          </a:xfrm>
          <a:prstGeom prst="ellipse">
            <a:avLst/>
          </a:prstGeom>
          <a:solidFill>
            <a:srgbClr val="3E8EF7">
              <a:alpha val="18000"/>
            </a:srgbClr>
          </a:solidFill>
          <a:ln w="6350">
            <a:solidFill>
              <a:srgbClr val="3E8EF7">
                <a:alpha val="40000"/>
              </a:srgbClr>
            </a:solidFill>
            <a:prstDash val="solid"/>
          </a:ln>
        </p:spPr>
      </p:sp>
      <p:pic>
        <p:nvPicPr>
          <p:cNvPr id="32" name="icono Desarrollo" descr="preencoded.png">    </p:cNvPr>
          <p:cNvPicPr>
            <a:picLocks noChangeAspect="1"/>
          </p:cNvPicPr>
          <p:nvPr/>
        </p:nvPicPr>
        <p:blipFill>
          <a:blip r:embed="rId2"/>
          <a:stretch>
            <a:fillRect/>
          </a:stretch>
        </p:blipFill>
        <p:spPr>
          <a:xfrm>
            <a:off x="6085332" y="2491740"/>
            <a:ext cx="192024" cy="192024"/>
          </a:xfrm>
          <a:prstGeom prst="rect">
            <a:avLst/>
          </a:prstGeom>
        </p:spPr>
      </p:pic>
      <p:sp>
        <p:nvSpPr>
          <p:cNvPr id="33"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4"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Los dos camiones avanzan uno hacia el otro, cada uno en su carril, y se detienen a la distancia establecida.</a:t>
            </a:r>
            <a:endParaRPr lang="en-US" sz="1000" dirty="0"/>
          </a:p>
        </p:txBody>
      </p:sp>
      <p:sp>
        <p:nvSpPr>
          <p:cNvPr id="35"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6" name="icono Seguridad fondo"/>
          <p:cNvSpPr/>
          <p:nvPr/>
        </p:nvSpPr>
        <p:spPr>
          <a:xfrm>
            <a:off x="5989320" y="3566160"/>
            <a:ext cx="384048" cy="384048"/>
          </a:xfrm>
          <a:prstGeom prst="ellipse">
            <a:avLst/>
          </a:prstGeom>
          <a:solidFill>
            <a:srgbClr val="3E8EF7">
              <a:alpha val="18000"/>
            </a:srgbClr>
          </a:solidFill>
          <a:ln w="6350">
            <a:solidFill>
              <a:srgbClr val="3E8EF7">
                <a:alpha val="40000"/>
              </a:srgbClr>
            </a:solidFill>
            <a:prstDash val="solid"/>
          </a:ln>
        </p:spPr>
      </p:sp>
      <p:pic>
        <p:nvPicPr>
          <p:cNvPr id="37" name="icono Seguridad" descr="preencoded.png">    </p:cNvPr>
          <p:cNvPicPr>
            <a:picLocks noChangeAspect="1"/>
          </p:cNvPicPr>
          <p:nvPr/>
        </p:nvPicPr>
        <p:blipFill>
          <a:blip r:embed="rId3"/>
          <a:stretch>
            <a:fillRect/>
          </a:stretch>
        </p:blipFill>
        <p:spPr>
          <a:xfrm>
            <a:off x="6085332" y="3662172"/>
            <a:ext cx="192024" cy="192024"/>
          </a:xfrm>
          <a:prstGeom prst="rect">
            <a:avLst/>
          </a:prstGeom>
        </p:spPr>
      </p:pic>
      <p:sp>
        <p:nvSpPr>
          <p:cNvPr id="38"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39"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Carriles separados: no hay enfrentamiento directo. Distancia de parada acordada antes de iniciar.</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2 · Cruce en carriles distintos</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2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2"/>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2 división 1"/>
          <p:cNvSpPr/>
          <p:nvPr/>
        </p:nvSpPr>
        <p:spPr>
          <a:xfrm>
            <a:off x="731520" y="2560320"/>
            <a:ext cx="4480560" cy="0"/>
          </a:xfrm>
          <a:prstGeom prst="line">
            <a:avLst/>
          </a:prstGeom>
          <a:noFill/>
          <a:ln w="12700">
            <a:solidFill>
              <a:srgbClr val="666666"/>
            </a:solidFill>
            <a:prstDash val="dash"/>
          </a:ln>
        </p:spPr>
      </p:sp>
      <p:sp>
        <p:nvSpPr>
          <p:cNvPr id="10" name="P2 camión A remolque"/>
          <p:cNvSpPr/>
          <p:nvPr/>
        </p:nvSpPr>
        <p:spPr>
          <a:xfrm>
            <a:off x="1737360" y="2011680"/>
            <a:ext cx="603504" cy="365760"/>
          </a:xfrm>
          <a:prstGeom prst="roundRect">
            <a:avLst>
              <a:gd name="adj" fmla="val 10000"/>
            </a:avLst>
          </a:prstGeom>
          <a:solidFill>
            <a:srgbClr val="2A2A2A"/>
          </a:solidFill>
          <a:ln w="15875">
            <a:solidFill>
              <a:srgbClr val="3987E5"/>
            </a:solidFill>
            <a:prstDash val="solid"/>
          </a:ln>
        </p:spPr>
      </p:sp>
      <p:sp>
        <p:nvSpPr>
          <p:cNvPr id="11" name="P2 camión A cabina"/>
          <p:cNvSpPr/>
          <p:nvPr/>
        </p:nvSpPr>
        <p:spPr>
          <a:xfrm>
            <a:off x="2377440" y="2039112"/>
            <a:ext cx="274320" cy="310896"/>
          </a:xfrm>
          <a:prstGeom prst="roundRect">
            <a:avLst>
              <a:gd name="adj" fmla="val 16667"/>
            </a:avLst>
          </a:prstGeom>
          <a:solidFill>
            <a:srgbClr val="3987E5"/>
          </a:solidFill>
          <a:ln w="12700">
            <a:solidFill>
              <a:srgbClr val="3987E5"/>
            </a:solidFill>
            <a:prstDash val="solid"/>
          </a:ln>
        </p:spPr>
      </p:sp>
      <p:sp>
        <p:nvSpPr>
          <p:cNvPr id="12" name="P2 camión A sentido"/>
          <p:cNvSpPr/>
          <p:nvPr/>
        </p:nvSpPr>
        <p:spPr>
          <a:xfrm>
            <a:off x="2724912" y="2194560"/>
            <a:ext cx="731520" cy="0"/>
          </a:xfrm>
          <a:prstGeom prst="line">
            <a:avLst/>
          </a:prstGeom>
          <a:noFill/>
          <a:ln w="25400">
            <a:solidFill>
              <a:srgbClr val="3987E5"/>
            </a:solidFill>
            <a:prstDash val="solid"/>
            <a:tailEnd type="triangle"/>
          </a:ln>
        </p:spPr>
      </p:sp>
      <p:sp>
        <p:nvSpPr>
          <p:cNvPr id="13" name="P2 camión A etiqueta"/>
          <p:cNvSpPr txBox="1"/>
          <p:nvPr/>
        </p:nvSpPr>
        <p:spPr>
          <a:xfrm>
            <a:off x="1737360" y="2011680"/>
            <a:ext cx="603504" cy="365760"/>
          </a:xfrm>
          <a:prstGeom prst="rect">
            <a:avLst/>
          </a:prstGeom>
          <a:noFill/>
          <a:ln/>
        </p:spPr>
        <p:txBody>
          <a:bodyPr wrap="square" lIns="0" tIns="0" rIns="0" bIns="0" rtlCol="0" anchor="ctr"/>
          <a:lstStyle/>
          <a:p>
            <a:pPr algn="ctr" indent="0" marL="0">
              <a:buNone/>
            </a:pPr>
            <a:r>
              <a:rPr lang="en-US" sz="1200" b="1" dirty="0">
                <a:solidFill>
                  <a:srgbClr val="3987E5"/>
                </a:solidFill>
              </a:rPr>
              <a:t>A</a:t>
            </a:r>
            <a:endParaRPr lang="en-US" sz="1200" dirty="0"/>
          </a:p>
        </p:txBody>
      </p:sp>
      <p:sp>
        <p:nvSpPr>
          <p:cNvPr id="14" name="P2 camión B remolque"/>
          <p:cNvSpPr/>
          <p:nvPr/>
        </p:nvSpPr>
        <p:spPr>
          <a:xfrm>
            <a:off x="3511296" y="2743200"/>
            <a:ext cx="603504" cy="365760"/>
          </a:xfrm>
          <a:prstGeom prst="roundRect">
            <a:avLst>
              <a:gd name="adj" fmla="val 10000"/>
            </a:avLst>
          </a:prstGeom>
          <a:solidFill>
            <a:srgbClr val="2A2A2A"/>
          </a:solidFill>
          <a:ln w="15875">
            <a:solidFill>
              <a:srgbClr val="D95926"/>
            </a:solidFill>
            <a:prstDash val="solid"/>
          </a:ln>
        </p:spPr>
      </p:sp>
      <p:sp>
        <p:nvSpPr>
          <p:cNvPr id="15" name="P2 camión B cabina"/>
          <p:cNvSpPr/>
          <p:nvPr/>
        </p:nvSpPr>
        <p:spPr>
          <a:xfrm>
            <a:off x="3200400" y="2770632"/>
            <a:ext cx="274320" cy="310896"/>
          </a:xfrm>
          <a:prstGeom prst="roundRect">
            <a:avLst>
              <a:gd name="adj" fmla="val 16667"/>
            </a:avLst>
          </a:prstGeom>
          <a:solidFill>
            <a:srgbClr val="D95926"/>
          </a:solidFill>
          <a:ln w="12700">
            <a:solidFill>
              <a:srgbClr val="D95926"/>
            </a:solidFill>
            <a:prstDash val="solid"/>
          </a:ln>
        </p:spPr>
      </p:sp>
      <p:sp>
        <p:nvSpPr>
          <p:cNvPr id="16" name="P2 camión B sentido"/>
          <p:cNvSpPr/>
          <p:nvPr/>
        </p:nvSpPr>
        <p:spPr>
          <a:xfrm flipH="1">
            <a:off x="2395728" y="2926080"/>
            <a:ext cx="731520" cy="0"/>
          </a:xfrm>
          <a:prstGeom prst="line">
            <a:avLst/>
          </a:prstGeom>
          <a:noFill/>
          <a:ln w="25400">
            <a:solidFill>
              <a:srgbClr val="D95926"/>
            </a:solidFill>
            <a:prstDash val="solid"/>
            <a:tailEnd type="triangle"/>
          </a:ln>
        </p:spPr>
      </p:sp>
      <p:sp>
        <p:nvSpPr>
          <p:cNvPr id="17" name="P2 camión B etiqueta"/>
          <p:cNvSpPr txBox="1"/>
          <p:nvPr/>
        </p:nvSpPr>
        <p:spPr>
          <a:xfrm>
            <a:off x="3511296" y="2743200"/>
            <a:ext cx="603504" cy="365760"/>
          </a:xfrm>
          <a:prstGeom prst="rect">
            <a:avLst/>
          </a:prstGeom>
          <a:noFill/>
          <a:ln/>
        </p:spPr>
        <p:txBody>
          <a:bodyPr wrap="square" lIns="0" tIns="0" rIns="0" bIns="0" rtlCol="0" anchor="ctr"/>
          <a:lstStyle/>
          <a:p>
            <a:pPr algn="ctr" indent="0" marL="0">
              <a:buNone/>
            </a:pPr>
            <a:r>
              <a:rPr lang="en-US" sz="1200" b="1" dirty="0">
                <a:solidFill>
                  <a:srgbClr val="D95926"/>
                </a:solidFill>
              </a:rPr>
              <a:t>B</a:t>
            </a:r>
            <a:endParaRPr lang="en-US" sz="1200" dirty="0"/>
          </a:p>
        </p:txBody>
      </p:sp>
      <p:sp>
        <p:nvSpPr>
          <p:cNvPr id="18" name="punto de cruce"/>
          <p:cNvSpPr/>
          <p:nvPr/>
        </p:nvSpPr>
        <p:spPr>
          <a:xfrm>
            <a:off x="2971800" y="1783080"/>
            <a:ext cx="0" cy="1554480"/>
          </a:xfrm>
          <a:prstGeom prst="line">
            <a:avLst/>
          </a:prstGeom>
          <a:noFill/>
          <a:ln w="15875">
            <a:solidFill>
              <a:srgbClr val="FAB219"/>
            </a:solidFill>
            <a:prstDash val="sysDash"/>
          </a:ln>
        </p:spPr>
      </p:sp>
      <p:sp>
        <p:nvSpPr>
          <p:cNvPr id="19" name="nota P2"/>
          <p:cNvSpPr txBox="1"/>
          <p:nvPr/>
        </p:nvSpPr>
        <p:spPr>
          <a:xfrm>
            <a:off x="2286000" y="3401568"/>
            <a:ext cx="1371600" cy="274320"/>
          </a:xfrm>
          <a:prstGeom prst="rect">
            <a:avLst/>
          </a:prstGeom>
          <a:noFill/>
          <a:ln/>
        </p:spPr>
        <p:txBody>
          <a:bodyPr wrap="square" lIns="0" tIns="0" rIns="0" bIns="0" rtlCol="0" anchor="ctr"/>
          <a:lstStyle/>
          <a:p>
            <a:pPr algn="ctr" indent="0" marL="0">
              <a:buNone/>
            </a:pPr>
            <a:r>
              <a:rPr lang="en-US" sz="1000" dirty="0">
                <a:solidFill>
                  <a:srgbClr val="FAB219"/>
                </a:solidFill>
              </a:rPr>
              <a:t>Punto de cruce</a:t>
            </a:r>
            <a:endParaRPr lang="en-US" sz="1000" dirty="0"/>
          </a:p>
        </p:txBody>
      </p:sp>
      <p:sp>
        <p:nvSpPr>
          <p:cNvPr id="20" name="leyenda A"/>
          <p:cNvSpPr/>
          <p:nvPr/>
        </p:nvSpPr>
        <p:spPr>
          <a:xfrm>
            <a:off x="731520" y="4206240"/>
            <a:ext cx="256032" cy="128016"/>
          </a:xfrm>
          <a:prstGeom prst="roundRect">
            <a:avLst>
              <a:gd name="adj" fmla="val 21429"/>
            </a:avLst>
          </a:prstGeom>
          <a:solidFill>
            <a:srgbClr val="3987E5"/>
          </a:solidFill>
          <a:ln w="12700">
            <a:solidFill>
              <a:srgbClr val="3987E5"/>
            </a:solidFill>
            <a:prstDash val="solid"/>
          </a:ln>
        </p:spPr>
      </p:sp>
      <p:sp>
        <p:nvSpPr>
          <p:cNvPr id="21" name="leyenda A texto"/>
          <p:cNvSpPr txBox="1"/>
          <p:nvPr/>
        </p:nvSpPr>
        <p:spPr>
          <a:xfrm>
            <a:off x="105156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A</a:t>
            </a:r>
            <a:endParaRPr lang="en-US" sz="900" dirty="0"/>
          </a:p>
        </p:txBody>
      </p:sp>
      <p:sp>
        <p:nvSpPr>
          <p:cNvPr id="22" name="leyenda B"/>
          <p:cNvSpPr/>
          <p:nvPr/>
        </p:nvSpPr>
        <p:spPr>
          <a:xfrm>
            <a:off x="2011680" y="4206240"/>
            <a:ext cx="256032" cy="128016"/>
          </a:xfrm>
          <a:prstGeom prst="roundRect">
            <a:avLst>
              <a:gd name="adj" fmla="val 21429"/>
            </a:avLst>
          </a:prstGeom>
          <a:solidFill>
            <a:srgbClr val="D95926"/>
          </a:solidFill>
          <a:ln w="12700">
            <a:solidFill>
              <a:srgbClr val="D95926"/>
            </a:solidFill>
            <a:prstDash val="solid"/>
          </a:ln>
        </p:spPr>
      </p:sp>
      <p:sp>
        <p:nvSpPr>
          <p:cNvPr id="23" name="leyenda B texto"/>
          <p:cNvSpPr txBox="1"/>
          <p:nvPr/>
        </p:nvSpPr>
        <p:spPr>
          <a:xfrm>
            <a:off x="233172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B</a:t>
            </a:r>
            <a:endParaRPr lang="en-US" sz="900" dirty="0"/>
          </a:p>
        </p:txBody>
      </p:sp>
      <p:sp>
        <p:nvSpPr>
          <p:cNvPr id="24"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5" name="icono Objetivo fondo"/>
          <p:cNvSpPr/>
          <p:nvPr/>
        </p:nvSpPr>
        <p:spPr>
          <a:xfrm>
            <a:off x="5989320" y="1225296"/>
            <a:ext cx="384048" cy="384048"/>
          </a:xfrm>
          <a:prstGeom prst="ellipse">
            <a:avLst/>
          </a:prstGeom>
          <a:solidFill>
            <a:srgbClr val="3E8EF7">
              <a:alpha val="18000"/>
            </a:srgbClr>
          </a:solidFill>
          <a:ln w="6350">
            <a:solidFill>
              <a:srgbClr val="3E8EF7">
                <a:alpha val="40000"/>
              </a:srgbClr>
            </a:solidFill>
            <a:prstDash val="solid"/>
          </a:ln>
        </p:spPr>
      </p:sp>
      <p:pic>
        <p:nvPicPr>
          <p:cNvPr id="26" name="icono Objetivo" descr="preencoded.png">    </p:cNvPr>
          <p:cNvPicPr>
            <a:picLocks noChangeAspect="1"/>
          </p:cNvPicPr>
          <p:nvPr/>
        </p:nvPicPr>
        <p:blipFill>
          <a:blip r:embed="rId1"/>
          <a:stretch>
            <a:fillRect/>
          </a:stretch>
        </p:blipFill>
        <p:spPr>
          <a:xfrm>
            <a:off x="6085332" y="1321308"/>
            <a:ext cx="192024" cy="192024"/>
          </a:xfrm>
          <a:prstGeom prst="rect">
            <a:avLst/>
          </a:prstGeom>
        </p:spPr>
      </p:pic>
      <p:sp>
        <p:nvSpPr>
          <p:cNvPr id="27"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28"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detección lateral cuando los camiones se cruzan en sentidos opuestos.</a:t>
            </a:r>
            <a:endParaRPr lang="en-US" sz="1000" dirty="0"/>
          </a:p>
        </p:txBody>
      </p:sp>
      <p:sp>
        <p:nvSpPr>
          <p:cNvPr id="29"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0" name="icono Desarrollo fondo"/>
          <p:cNvSpPr/>
          <p:nvPr/>
        </p:nvSpPr>
        <p:spPr>
          <a:xfrm>
            <a:off x="5989320" y="2395728"/>
            <a:ext cx="384048" cy="384048"/>
          </a:xfrm>
          <a:prstGeom prst="ellipse">
            <a:avLst/>
          </a:prstGeom>
          <a:solidFill>
            <a:srgbClr val="3E8EF7">
              <a:alpha val="18000"/>
            </a:srgbClr>
          </a:solidFill>
          <a:ln w="6350">
            <a:solidFill>
              <a:srgbClr val="3E8EF7">
                <a:alpha val="40000"/>
              </a:srgbClr>
            </a:solidFill>
            <a:prstDash val="solid"/>
          </a:ln>
        </p:spPr>
      </p:sp>
      <p:pic>
        <p:nvPicPr>
          <p:cNvPr id="31" name="icono Desarrollo" descr="preencoded.png">    </p:cNvPr>
          <p:cNvPicPr>
            <a:picLocks noChangeAspect="1"/>
          </p:cNvPicPr>
          <p:nvPr/>
        </p:nvPicPr>
        <p:blipFill>
          <a:blip r:embed="rId2"/>
          <a:stretch>
            <a:fillRect/>
          </a:stretch>
        </p:blipFill>
        <p:spPr>
          <a:xfrm>
            <a:off x="6085332" y="2491740"/>
            <a:ext cx="192024" cy="192024"/>
          </a:xfrm>
          <a:prstGeom prst="rect">
            <a:avLst/>
          </a:prstGeom>
        </p:spPr>
      </p:pic>
      <p:sp>
        <p:nvSpPr>
          <p:cNvPr id="32"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3"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Los camiones circulan en sentidos contrarios por carriles distintos y se cruzan a la altura del punto marcado.</a:t>
            </a:r>
            <a:endParaRPr lang="en-US" sz="1000" dirty="0"/>
          </a:p>
        </p:txBody>
      </p:sp>
      <p:sp>
        <p:nvSpPr>
          <p:cNvPr id="34"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5" name="icono Seguridad fondo"/>
          <p:cNvSpPr/>
          <p:nvPr/>
        </p:nvSpPr>
        <p:spPr>
          <a:xfrm>
            <a:off x="5989320" y="3566160"/>
            <a:ext cx="384048" cy="384048"/>
          </a:xfrm>
          <a:prstGeom prst="ellipse">
            <a:avLst/>
          </a:prstGeom>
          <a:solidFill>
            <a:srgbClr val="3E8EF7">
              <a:alpha val="18000"/>
            </a:srgbClr>
          </a:solidFill>
          <a:ln w="6350">
            <a:solidFill>
              <a:srgbClr val="3E8EF7">
                <a:alpha val="40000"/>
              </a:srgbClr>
            </a:solidFill>
            <a:prstDash val="solid"/>
          </a:ln>
        </p:spPr>
      </p:sp>
      <p:pic>
        <p:nvPicPr>
          <p:cNvPr id="36" name="icono Seguridad" descr="preencoded.png">    </p:cNvPr>
          <p:cNvPicPr>
            <a:picLocks noChangeAspect="1"/>
          </p:cNvPicPr>
          <p:nvPr/>
        </p:nvPicPr>
        <p:blipFill>
          <a:blip r:embed="rId3"/>
          <a:stretch>
            <a:fillRect/>
          </a:stretch>
        </p:blipFill>
        <p:spPr>
          <a:xfrm>
            <a:off x="6085332" y="3662172"/>
            <a:ext cx="192024" cy="192024"/>
          </a:xfrm>
          <a:prstGeom prst="rect">
            <a:avLst/>
          </a:prstGeom>
        </p:spPr>
      </p:pic>
      <p:sp>
        <p:nvSpPr>
          <p:cNvPr id="37"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38"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Se mantiene la separación lateral entre carriles. Velocidad reducida y constante.</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3 · Seguimiento</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3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3"/>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3 división 1"/>
          <p:cNvSpPr/>
          <p:nvPr/>
        </p:nvSpPr>
        <p:spPr>
          <a:xfrm>
            <a:off x="731520" y="2560320"/>
            <a:ext cx="4480560" cy="0"/>
          </a:xfrm>
          <a:prstGeom prst="line">
            <a:avLst/>
          </a:prstGeom>
          <a:noFill/>
          <a:ln w="12700">
            <a:solidFill>
              <a:srgbClr val="666666"/>
            </a:solidFill>
            <a:prstDash val="dash"/>
          </a:ln>
        </p:spPr>
      </p:sp>
      <p:sp>
        <p:nvSpPr>
          <p:cNvPr id="10" name="P3 camión A remolque"/>
          <p:cNvSpPr/>
          <p:nvPr/>
        </p:nvSpPr>
        <p:spPr>
          <a:xfrm>
            <a:off x="3566160" y="2011680"/>
            <a:ext cx="603504" cy="365760"/>
          </a:xfrm>
          <a:prstGeom prst="roundRect">
            <a:avLst>
              <a:gd name="adj" fmla="val 10000"/>
            </a:avLst>
          </a:prstGeom>
          <a:solidFill>
            <a:srgbClr val="2A2A2A"/>
          </a:solidFill>
          <a:ln w="15875">
            <a:solidFill>
              <a:srgbClr val="3987E5"/>
            </a:solidFill>
            <a:prstDash val="solid"/>
          </a:ln>
        </p:spPr>
      </p:sp>
      <p:sp>
        <p:nvSpPr>
          <p:cNvPr id="11" name="P3 camión A cabina"/>
          <p:cNvSpPr/>
          <p:nvPr/>
        </p:nvSpPr>
        <p:spPr>
          <a:xfrm>
            <a:off x="4206240" y="2039112"/>
            <a:ext cx="274320" cy="310896"/>
          </a:xfrm>
          <a:prstGeom prst="roundRect">
            <a:avLst>
              <a:gd name="adj" fmla="val 16667"/>
            </a:avLst>
          </a:prstGeom>
          <a:solidFill>
            <a:srgbClr val="3987E5"/>
          </a:solidFill>
          <a:ln w="12700">
            <a:solidFill>
              <a:srgbClr val="3987E5"/>
            </a:solidFill>
            <a:prstDash val="solid"/>
          </a:ln>
        </p:spPr>
      </p:sp>
      <p:sp>
        <p:nvSpPr>
          <p:cNvPr id="12" name="P3 camión A sentido"/>
          <p:cNvSpPr/>
          <p:nvPr/>
        </p:nvSpPr>
        <p:spPr>
          <a:xfrm>
            <a:off x="4553712" y="2194560"/>
            <a:ext cx="548640" cy="0"/>
          </a:xfrm>
          <a:prstGeom prst="line">
            <a:avLst/>
          </a:prstGeom>
          <a:noFill/>
          <a:ln w="25400">
            <a:solidFill>
              <a:srgbClr val="3987E5"/>
            </a:solidFill>
            <a:prstDash val="solid"/>
            <a:tailEnd type="triangle"/>
          </a:ln>
        </p:spPr>
      </p:sp>
      <p:sp>
        <p:nvSpPr>
          <p:cNvPr id="13" name="P3 camión A etiqueta"/>
          <p:cNvSpPr txBox="1"/>
          <p:nvPr/>
        </p:nvSpPr>
        <p:spPr>
          <a:xfrm>
            <a:off x="3566160" y="2011680"/>
            <a:ext cx="603504" cy="365760"/>
          </a:xfrm>
          <a:prstGeom prst="rect">
            <a:avLst/>
          </a:prstGeom>
          <a:noFill/>
          <a:ln/>
        </p:spPr>
        <p:txBody>
          <a:bodyPr wrap="square" lIns="0" tIns="0" rIns="0" bIns="0" rtlCol="0" anchor="ctr"/>
          <a:lstStyle/>
          <a:p>
            <a:pPr algn="ctr" indent="0" marL="0">
              <a:buNone/>
            </a:pPr>
            <a:r>
              <a:rPr lang="en-US" sz="1200" b="1" dirty="0">
                <a:solidFill>
                  <a:srgbClr val="3987E5"/>
                </a:solidFill>
              </a:rPr>
              <a:t>A</a:t>
            </a:r>
            <a:endParaRPr lang="en-US" sz="1200" dirty="0"/>
          </a:p>
        </p:txBody>
      </p:sp>
      <p:sp>
        <p:nvSpPr>
          <p:cNvPr id="14" name="P3 camión B zona de detección"/>
          <p:cNvSpPr/>
          <p:nvPr/>
        </p:nvSpPr>
        <p:spPr>
          <a:xfrm>
            <a:off x="2194560" y="1792224"/>
            <a:ext cx="777240" cy="804672"/>
          </a:xfrm>
          <a:prstGeom prst="ellipse">
            <a:avLst/>
          </a:prstGeom>
          <a:solidFill>
            <a:srgbClr val="D95926">
              <a:alpha val="20000"/>
            </a:srgbClr>
          </a:solidFill>
          <a:ln w="12700">
            <a:solidFill>
              <a:srgbClr val="D95926">
                <a:alpha val="0"/>
              </a:srgbClr>
            </a:solidFill>
            <a:prstDash val="solid"/>
          </a:ln>
        </p:spPr>
      </p:sp>
      <p:sp>
        <p:nvSpPr>
          <p:cNvPr id="15" name="P3 camión B remolque"/>
          <p:cNvSpPr/>
          <p:nvPr/>
        </p:nvSpPr>
        <p:spPr>
          <a:xfrm>
            <a:off x="1280160" y="2011680"/>
            <a:ext cx="603504" cy="365760"/>
          </a:xfrm>
          <a:prstGeom prst="roundRect">
            <a:avLst>
              <a:gd name="adj" fmla="val 10000"/>
            </a:avLst>
          </a:prstGeom>
          <a:solidFill>
            <a:srgbClr val="2A2A2A"/>
          </a:solidFill>
          <a:ln w="15875">
            <a:solidFill>
              <a:srgbClr val="D95926"/>
            </a:solidFill>
            <a:prstDash val="solid"/>
          </a:ln>
        </p:spPr>
      </p:sp>
      <p:sp>
        <p:nvSpPr>
          <p:cNvPr id="16" name="P3 camión B cabina"/>
          <p:cNvSpPr/>
          <p:nvPr/>
        </p:nvSpPr>
        <p:spPr>
          <a:xfrm>
            <a:off x="1920240" y="2039112"/>
            <a:ext cx="274320" cy="310896"/>
          </a:xfrm>
          <a:prstGeom prst="roundRect">
            <a:avLst>
              <a:gd name="adj" fmla="val 16667"/>
            </a:avLst>
          </a:prstGeom>
          <a:solidFill>
            <a:srgbClr val="D95926"/>
          </a:solidFill>
          <a:ln w="12700">
            <a:solidFill>
              <a:srgbClr val="D95926"/>
            </a:solidFill>
            <a:prstDash val="solid"/>
          </a:ln>
        </p:spPr>
      </p:sp>
      <p:sp>
        <p:nvSpPr>
          <p:cNvPr id="17" name="P3 camión B sentido"/>
          <p:cNvSpPr/>
          <p:nvPr/>
        </p:nvSpPr>
        <p:spPr>
          <a:xfrm>
            <a:off x="2267712" y="2194560"/>
            <a:ext cx="548640" cy="0"/>
          </a:xfrm>
          <a:prstGeom prst="line">
            <a:avLst/>
          </a:prstGeom>
          <a:noFill/>
          <a:ln w="25400">
            <a:solidFill>
              <a:srgbClr val="D95926"/>
            </a:solidFill>
            <a:prstDash val="solid"/>
            <a:tailEnd type="triangle"/>
          </a:ln>
        </p:spPr>
      </p:sp>
      <p:sp>
        <p:nvSpPr>
          <p:cNvPr id="18" name="P3 camión B etiqueta"/>
          <p:cNvSpPr txBox="1"/>
          <p:nvPr/>
        </p:nvSpPr>
        <p:spPr>
          <a:xfrm>
            <a:off x="1280160" y="2011680"/>
            <a:ext cx="603504" cy="365760"/>
          </a:xfrm>
          <a:prstGeom prst="rect">
            <a:avLst/>
          </a:prstGeom>
          <a:noFill/>
          <a:ln/>
        </p:spPr>
        <p:txBody>
          <a:bodyPr wrap="square" lIns="0" tIns="0" rIns="0" bIns="0" rtlCol="0" anchor="ctr"/>
          <a:lstStyle/>
          <a:p>
            <a:pPr algn="ctr" indent="0" marL="0">
              <a:buNone/>
            </a:pPr>
            <a:r>
              <a:rPr lang="en-US" sz="1200" b="1" dirty="0">
                <a:solidFill>
                  <a:srgbClr val="D95926"/>
                </a:solidFill>
              </a:rPr>
              <a:t>B</a:t>
            </a:r>
            <a:endParaRPr lang="en-US" sz="1200" dirty="0"/>
          </a:p>
        </p:txBody>
      </p:sp>
      <p:sp>
        <p:nvSpPr>
          <p:cNvPr id="19" name="distancia seguimiento"/>
          <p:cNvSpPr/>
          <p:nvPr/>
        </p:nvSpPr>
        <p:spPr>
          <a:xfrm>
            <a:off x="2240280" y="2926080"/>
            <a:ext cx="1280160" cy="0"/>
          </a:xfrm>
          <a:prstGeom prst="line">
            <a:avLst/>
          </a:prstGeom>
          <a:noFill/>
          <a:ln w="12700">
            <a:solidFill>
              <a:srgbClr val="999999"/>
            </a:solidFill>
            <a:prstDash val="solid"/>
            <a:headEnd type="triangle"/>
            <a:tailEnd type="triangle"/>
          </a:ln>
        </p:spPr>
      </p:sp>
      <p:sp>
        <p:nvSpPr>
          <p:cNvPr id="20" name="etiqueta distancia"/>
          <p:cNvSpPr txBox="1"/>
          <p:nvPr/>
        </p:nvSpPr>
        <p:spPr>
          <a:xfrm>
            <a:off x="2011680" y="2999232"/>
            <a:ext cx="1737360" cy="228600"/>
          </a:xfrm>
          <a:prstGeom prst="rect">
            <a:avLst/>
          </a:prstGeom>
          <a:noFill/>
          <a:ln/>
        </p:spPr>
        <p:txBody>
          <a:bodyPr wrap="square" lIns="0" tIns="0" rIns="0" bIns="0" rtlCol="0" anchor="t"/>
          <a:lstStyle/>
          <a:p>
            <a:pPr algn="ctr" indent="0" marL="0">
              <a:buNone/>
            </a:pPr>
            <a:r>
              <a:rPr lang="en-US" sz="900" dirty="0">
                <a:solidFill>
                  <a:srgbClr val="999999"/>
                </a:solidFill>
              </a:rPr>
              <a:t>Distancia de seguimiento</a:t>
            </a:r>
            <a:endParaRPr lang="en-US" sz="900" dirty="0"/>
          </a:p>
        </p:txBody>
      </p:sp>
      <p:sp>
        <p:nvSpPr>
          <p:cNvPr id="21" name="nota P3"/>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C3C2B7"/>
                </a:solidFill>
              </a:rPr>
              <a:t>Mismo carril, mismo sentido</a:t>
            </a:r>
            <a:endParaRPr lang="en-US" sz="1000" dirty="0"/>
          </a:p>
        </p:txBody>
      </p:sp>
      <p:sp>
        <p:nvSpPr>
          <p:cNvPr id="22" name="leyenda A"/>
          <p:cNvSpPr/>
          <p:nvPr/>
        </p:nvSpPr>
        <p:spPr>
          <a:xfrm>
            <a:off x="731520" y="4206240"/>
            <a:ext cx="256032" cy="128016"/>
          </a:xfrm>
          <a:prstGeom prst="roundRect">
            <a:avLst>
              <a:gd name="adj" fmla="val 21429"/>
            </a:avLst>
          </a:prstGeom>
          <a:solidFill>
            <a:srgbClr val="3987E5"/>
          </a:solidFill>
          <a:ln w="12700">
            <a:solidFill>
              <a:srgbClr val="3987E5"/>
            </a:solidFill>
            <a:prstDash val="solid"/>
          </a:ln>
        </p:spPr>
      </p:sp>
      <p:sp>
        <p:nvSpPr>
          <p:cNvPr id="23" name="leyenda A texto"/>
          <p:cNvSpPr txBox="1"/>
          <p:nvPr/>
        </p:nvSpPr>
        <p:spPr>
          <a:xfrm>
            <a:off x="105156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A</a:t>
            </a:r>
            <a:endParaRPr lang="en-US" sz="900" dirty="0"/>
          </a:p>
        </p:txBody>
      </p:sp>
      <p:sp>
        <p:nvSpPr>
          <p:cNvPr id="24" name="leyenda B"/>
          <p:cNvSpPr/>
          <p:nvPr/>
        </p:nvSpPr>
        <p:spPr>
          <a:xfrm>
            <a:off x="2011680" y="4206240"/>
            <a:ext cx="256032" cy="128016"/>
          </a:xfrm>
          <a:prstGeom prst="roundRect">
            <a:avLst>
              <a:gd name="adj" fmla="val 21429"/>
            </a:avLst>
          </a:prstGeom>
          <a:solidFill>
            <a:srgbClr val="D95926"/>
          </a:solidFill>
          <a:ln w="12700">
            <a:solidFill>
              <a:srgbClr val="D95926"/>
            </a:solidFill>
            <a:prstDash val="solid"/>
          </a:ln>
        </p:spPr>
      </p:sp>
      <p:sp>
        <p:nvSpPr>
          <p:cNvPr id="25" name="leyenda B texto"/>
          <p:cNvSpPr txBox="1"/>
          <p:nvPr/>
        </p:nvSpPr>
        <p:spPr>
          <a:xfrm>
            <a:off x="233172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B</a:t>
            </a:r>
            <a:endParaRPr lang="en-US" sz="900" dirty="0"/>
          </a:p>
        </p:txBody>
      </p:sp>
      <p:sp>
        <p:nvSpPr>
          <p:cNvPr id="26"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7" name="icono Objetivo fondo"/>
          <p:cNvSpPr/>
          <p:nvPr/>
        </p:nvSpPr>
        <p:spPr>
          <a:xfrm>
            <a:off x="5989320" y="1225296"/>
            <a:ext cx="384048" cy="384048"/>
          </a:xfrm>
          <a:prstGeom prst="ellipse">
            <a:avLst/>
          </a:prstGeom>
          <a:solidFill>
            <a:srgbClr val="3E8EF7">
              <a:alpha val="18000"/>
            </a:srgbClr>
          </a:solidFill>
          <a:ln w="6350">
            <a:solidFill>
              <a:srgbClr val="3E8EF7">
                <a:alpha val="40000"/>
              </a:srgbClr>
            </a:solidFill>
            <a:prstDash val="solid"/>
          </a:ln>
        </p:spPr>
      </p:sp>
      <p:pic>
        <p:nvPicPr>
          <p:cNvPr id="28" name="icono Objetivo" descr="preencoded.png">    </p:cNvPr>
          <p:cNvPicPr>
            <a:picLocks noChangeAspect="1"/>
          </p:cNvPicPr>
          <p:nvPr/>
        </p:nvPicPr>
        <p:blipFill>
          <a:blip r:embed="rId1"/>
          <a:stretch>
            <a:fillRect/>
          </a:stretch>
        </p:blipFill>
        <p:spPr>
          <a:xfrm>
            <a:off x="6085332" y="1321308"/>
            <a:ext cx="192024" cy="192024"/>
          </a:xfrm>
          <a:prstGeom prst="rect">
            <a:avLst/>
          </a:prstGeom>
        </p:spPr>
      </p:pic>
      <p:sp>
        <p:nvSpPr>
          <p:cNvPr id="29"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30"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respuesta del sistema con un camión circulando detrás de otro.</a:t>
            </a:r>
            <a:endParaRPr lang="en-US" sz="1000" dirty="0"/>
          </a:p>
        </p:txBody>
      </p:sp>
      <p:sp>
        <p:nvSpPr>
          <p:cNvPr id="31"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2" name="icono Desarrollo fondo"/>
          <p:cNvSpPr/>
          <p:nvPr/>
        </p:nvSpPr>
        <p:spPr>
          <a:xfrm>
            <a:off x="5989320" y="2395728"/>
            <a:ext cx="384048" cy="384048"/>
          </a:xfrm>
          <a:prstGeom prst="ellipse">
            <a:avLst/>
          </a:prstGeom>
          <a:solidFill>
            <a:srgbClr val="3E8EF7">
              <a:alpha val="18000"/>
            </a:srgbClr>
          </a:solidFill>
          <a:ln w="6350">
            <a:solidFill>
              <a:srgbClr val="3E8EF7">
                <a:alpha val="40000"/>
              </a:srgbClr>
            </a:solidFill>
            <a:prstDash val="solid"/>
          </a:ln>
        </p:spPr>
      </p:sp>
      <p:pic>
        <p:nvPicPr>
          <p:cNvPr id="33" name="icono Desarrollo" descr="preencoded.png">    </p:cNvPr>
          <p:cNvPicPr>
            <a:picLocks noChangeAspect="1"/>
          </p:cNvPicPr>
          <p:nvPr/>
        </p:nvPicPr>
        <p:blipFill>
          <a:blip r:embed="rId2"/>
          <a:stretch>
            <a:fillRect/>
          </a:stretch>
        </p:blipFill>
        <p:spPr>
          <a:xfrm>
            <a:off x="6085332" y="2491740"/>
            <a:ext cx="192024" cy="192024"/>
          </a:xfrm>
          <a:prstGeom prst="rect">
            <a:avLst/>
          </a:prstGeom>
        </p:spPr>
      </p:pic>
      <p:sp>
        <p:nvSpPr>
          <p:cNvPr id="34"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5"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El camión B sigue al camión A por el mismo carril, a la distancia indicada, y reduce la separación de forma controlada.</a:t>
            </a:r>
            <a:endParaRPr lang="en-US" sz="1000" dirty="0"/>
          </a:p>
        </p:txBody>
      </p:sp>
      <p:sp>
        <p:nvSpPr>
          <p:cNvPr id="36"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7" name="icono Seguridad fondo"/>
          <p:cNvSpPr/>
          <p:nvPr/>
        </p:nvSpPr>
        <p:spPr>
          <a:xfrm>
            <a:off x="5989320" y="3566160"/>
            <a:ext cx="384048" cy="384048"/>
          </a:xfrm>
          <a:prstGeom prst="ellipse">
            <a:avLst/>
          </a:prstGeom>
          <a:solidFill>
            <a:srgbClr val="3E8EF7">
              <a:alpha val="18000"/>
            </a:srgbClr>
          </a:solidFill>
          <a:ln w="6350">
            <a:solidFill>
              <a:srgbClr val="3E8EF7">
                <a:alpha val="40000"/>
              </a:srgbClr>
            </a:solidFill>
            <a:prstDash val="solid"/>
          </a:ln>
        </p:spPr>
      </p:sp>
      <p:pic>
        <p:nvPicPr>
          <p:cNvPr id="38" name="icono Seguridad" descr="preencoded.png">    </p:cNvPr>
          <p:cNvPicPr>
            <a:picLocks noChangeAspect="1"/>
          </p:cNvPicPr>
          <p:nvPr/>
        </p:nvPicPr>
        <p:blipFill>
          <a:blip r:embed="rId3"/>
          <a:stretch>
            <a:fillRect/>
          </a:stretch>
        </p:blipFill>
        <p:spPr>
          <a:xfrm>
            <a:off x="6085332" y="3662172"/>
            <a:ext cx="192024" cy="192024"/>
          </a:xfrm>
          <a:prstGeom prst="rect">
            <a:avLst/>
          </a:prstGeom>
        </p:spPr>
      </p:pic>
      <p:sp>
        <p:nvSpPr>
          <p:cNvPr id="39"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40"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Mismo sentido y velocidad reducida. El camión que sigue mantiene siempre margen de frenado.</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4 · Cruce en intersección</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6BA6FF"/>
          </a:solidFill>
          <a:ln w="12700">
            <a:solidFill>
              <a:srgbClr val="6BA6FF"/>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4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vía principal P4"/>
          <p:cNvSpPr/>
          <p:nvPr/>
        </p:nvSpPr>
        <p:spPr>
          <a:xfrm>
            <a:off x="731520" y="2331720"/>
            <a:ext cx="4480560" cy="777240"/>
          </a:xfrm>
          <a:prstGeom prst="rect">
            <a:avLst/>
          </a:prstGeom>
          <a:solidFill>
            <a:srgbClr val="161616"/>
          </a:solidFill>
          <a:ln w="12700">
            <a:solidFill>
              <a:srgbClr val="444444"/>
            </a:solidFill>
            <a:prstDash val="solid"/>
          </a:ln>
        </p:spPr>
      </p:sp>
      <p:sp>
        <p:nvSpPr>
          <p:cNvPr id="9" name="vía transversal P4"/>
          <p:cNvSpPr/>
          <p:nvPr/>
        </p:nvSpPr>
        <p:spPr>
          <a:xfrm>
            <a:off x="3108960" y="1188720"/>
            <a:ext cx="777240" cy="2834640"/>
          </a:xfrm>
          <a:prstGeom prst="rect">
            <a:avLst/>
          </a:prstGeom>
          <a:solidFill>
            <a:srgbClr val="161616"/>
          </a:solidFill>
          <a:ln w="12700">
            <a:solidFill>
              <a:srgbClr val="444444"/>
            </a:solidFill>
            <a:prstDash val="solid"/>
          </a:ln>
        </p:spPr>
      </p:sp>
      <p:sp>
        <p:nvSpPr>
          <p:cNvPr id="10" name="intersección"/>
          <p:cNvSpPr/>
          <p:nvPr/>
        </p:nvSpPr>
        <p:spPr>
          <a:xfrm>
            <a:off x="3108960" y="2331720"/>
            <a:ext cx="777240" cy="777240"/>
          </a:xfrm>
          <a:prstGeom prst="rect">
            <a:avLst/>
          </a:prstGeom>
          <a:solidFill>
            <a:srgbClr val="FAB219">
              <a:alpha val="20000"/>
            </a:srgbClr>
          </a:solidFill>
          <a:ln w="12700">
            <a:solidFill>
              <a:srgbClr val="FAB219"/>
            </a:solidFill>
            <a:prstDash val="sysDash"/>
          </a:ln>
        </p:spPr>
      </p:sp>
      <p:sp>
        <p:nvSpPr>
          <p:cNvPr id="11" name="P4 camión A zona de detección"/>
          <p:cNvSpPr/>
          <p:nvPr/>
        </p:nvSpPr>
        <p:spPr>
          <a:xfrm>
            <a:off x="1920240" y="2313432"/>
            <a:ext cx="960120" cy="804672"/>
          </a:xfrm>
          <a:prstGeom prst="ellipse">
            <a:avLst/>
          </a:prstGeom>
          <a:solidFill>
            <a:srgbClr val="3987E5">
              <a:alpha val="20000"/>
            </a:srgbClr>
          </a:solidFill>
          <a:ln w="12700">
            <a:solidFill>
              <a:srgbClr val="3987E5">
                <a:alpha val="0"/>
              </a:srgbClr>
            </a:solidFill>
            <a:prstDash val="solid"/>
          </a:ln>
        </p:spPr>
      </p:sp>
      <p:sp>
        <p:nvSpPr>
          <p:cNvPr id="12" name="P4 camión A remolque"/>
          <p:cNvSpPr/>
          <p:nvPr/>
        </p:nvSpPr>
        <p:spPr>
          <a:xfrm>
            <a:off x="1005840" y="2532888"/>
            <a:ext cx="603504" cy="365760"/>
          </a:xfrm>
          <a:prstGeom prst="roundRect">
            <a:avLst>
              <a:gd name="adj" fmla="val 10000"/>
            </a:avLst>
          </a:prstGeom>
          <a:solidFill>
            <a:srgbClr val="2A2A2A"/>
          </a:solidFill>
          <a:ln w="15875">
            <a:solidFill>
              <a:srgbClr val="3987E5"/>
            </a:solidFill>
            <a:prstDash val="solid"/>
          </a:ln>
        </p:spPr>
      </p:sp>
      <p:sp>
        <p:nvSpPr>
          <p:cNvPr id="13" name="P4 camión A cabina"/>
          <p:cNvSpPr/>
          <p:nvPr/>
        </p:nvSpPr>
        <p:spPr>
          <a:xfrm>
            <a:off x="1645920" y="2560320"/>
            <a:ext cx="274320" cy="310896"/>
          </a:xfrm>
          <a:prstGeom prst="roundRect">
            <a:avLst>
              <a:gd name="adj" fmla="val 16667"/>
            </a:avLst>
          </a:prstGeom>
          <a:solidFill>
            <a:srgbClr val="3987E5"/>
          </a:solidFill>
          <a:ln w="12700">
            <a:solidFill>
              <a:srgbClr val="3987E5"/>
            </a:solidFill>
            <a:prstDash val="solid"/>
          </a:ln>
        </p:spPr>
      </p:sp>
      <p:sp>
        <p:nvSpPr>
          <p:cNvPr id="14" name="P4 camión A sentido"/>
          <p:cNvSpPr/>
          <p:nvPr/>
        </p:nvSpPr>
        <p:spPr>
          <a:xfrm>
            <a:off x="1993392" y="2715768"/>
            <a:ext cx="731520" cy="0"/>
          </a:xfrm>
          <a:prstGeom prst="line">
            <a:avLst/>
          </a:prstGeom>
          <a:noFill/>
          <a:ln w="25400">
            <a:solidFill>
              <a:srgbClr val="3987E5"/>
            </a:solidFill>
            <a:prstDash val="solid"/>
            <a:tailEnd type="triangle"/>
          </a:ln>
        </p:spPr>
      </p:sp>
      <p:sp>
        <p:nvSpPr>
          <p:cNvPr id="15" name="P4 camión A etiqueta"/>
          <p:cNvSpPr txBox="1"/>
          <p:nvPr/>
        </p:nvSpPr>
        <p:spPr>
          <a:xfrm>
            <a:off x="1005840" y="2532888"/>
            <a:ext cx="603504" cy="365760"/>
          </a:xfrm>
          <a:prstGeom prst="rect">
            <a:avLst/>
          </a:prstGeom>
          <a:noFill/>
          <a:ln/>
        </p:spPr>
        <p:txBody>
          <a:bodyPr wrap="square" lIns="0" tIns="0" rIns="0" bIns="0" rtlCol="0" anchor="ctr"/>
          <a:lstStyle/>
          <a:p>
            <a:pPr algn="ctr" indent="0" marL="0">
              <a:buNone/>
            </a:pPr>
            <a:r>
              <a:rPr lang="en-US" sz="1200" b="1" dirty="0">
                <a:solidFill>
                  <a:srgbClr val="3987E5"/>
                </a:solidFill>
              </a:rPr>
              <a:t>A</a:t>
            </a:r>
            <a:endParaRPr lang="en-US" sz="1200" dirty="0"/>
          </a:p>
        </p:txBody>
      </p:sp>
      <p:sp>
        <p:nvSpPr>
          <p:cNvPr id="16" name="P4 camión B remolque"/>
          <p:cNvSpPr/>
          <p:nvPr/>
        </p:nvSpPr>
        <p:spPr>
          <a:xfrm>
            <a:off x="3310128" y="1234440"/>
            <a:ext cx="365760" cy="603504"/>
          </a:xfrm>
          <a:prstGeom prst="roundRect">
            <a:avLst>
              <a:gd name="adj" fmla="val 10000"/>
            </a:avLst>
          </a:prstGeom>
          <a:solidFill>
            <a:srgbClr val="2A2A2A"/>
          </a:solidFill>
          <a:ln w="15875">
            <a:solidFill>
              <a:srgbClr val="D95926"/>
            </a:solidFill>
            <a:prstDash val="solid"/>
          </a:ln>
        </p:spPr>
      </p:sp>
      <p:sp>
        <p:nvSpPr>
          <p:cNvPr id="17" name="P4 camión B cabina"/>
          <p:cNvSpPr/>
          <p:nvPr/>
        </p:nvSpPr>
        <p:spPr>
          <a:xfrm>
            <a:off x="3337560" y="1874520"/>
            <a:ext cx="310896" cy="274320"/>
          </a:xfrm>
          <a:prstGeom prst="roundRect">
            <a:avLst>
              <a:gd name="adj" fmla="val 16667"/>
            </a:avLst>
          </a:prstGeom>
          <a:solidFill>
            <a:srgbClr val="D95926"/>
          </a:solidFill>
          <a:ln w="12700">
            <a:solidFill>
              <a:srgbClr val="D95926"/>
            </a:solidFill>
            <a:prstDash val="solid"/>
          </a:ln>
        </p:spPr>
      </p:sp>
      <p:sp>
        <p:nvSpPr>
          <p:cNvPr id="18" name="P4 camión B sentido"/>
          <p:cNvSpPr/>
          <p:nvPr/>
        </p:nvSpPr>
        <p:spPr>
          <a:xfrm>
            <a:off x="3493008" y="2221992"/>
            <a:ext cx="0" cy="219456"/>
          </a:xfrm>
          <a:prstGeom prst="line">
            <a:avLst/>
          </a:prstGeom>
          <a:noFill/>
          <a:ln w="25400">
            <a:solidFill>
              <a:srgbClr val="D95926"/>
            </a:solidFill>
            <a:prstDash val="solid"/>
            <a:tailEnd type="triangle"/>
          </a:ln>
        </p:spPr>
      </p:sp>
      <p:sp>
        <p:nvSpPr>
          <p:cNvPr id="19" name="P4 camión B etiqueta"/>
          <p:cNvSpPr txBox="1"/>
          <p:nvPr/>
        </p:nvSpPr>
        <p:spPr>
          <a:xfrm>
            <a:off x="3310128" y="1234440"/>
            <a:ext cx="365760" cy="603504"/>
          </a:xfrm>
          <a:prstGeom prst="rect">
            <a:avLst/>
          </a:prstGeom>
          <a:noFill/>
          <a:ln/>
        </p:spPr>
        <p:txBody>
          <a:bodyPr wrap="square" lIns="0" tIns="0" rIns="0" bIns="0" rtlCol="0" anchor="ctr"/>
          <a:lstStyle/>
          <a:p>
            <a:pPr algn="ctr" indent="0" marL="0">
              <a:buNone/>
            </a:pPr>
            <a:r>
              <a:rPr lang="en-US" sz="1200" b="1" dirty="0">
                <a:solidFill>
                  <a:srgbClr val="D95926"/>
                </a:solidFill>
              </a:rPr>
              <a:t>B</a:t>
            </a:r>
            <a:endParaRPr lang="en-US" sz="1200" dirty="0"/>
          </a:p>
        </p:txBody>
      </p:sp>
      <p:sp>
        <p:nvSpPr>
          <p:cNvPr id="20" name="nota P4"/>
          <p:cNvSpPr txBox="1"/>
          <p:nvPr/>
        </p:nvSpPr>
        <p:spPr>
          <a:xfrm>
            <a:off x="3977640" y="2514600"/>
            <a:ext cx="1188720" cy="411480"/>
          </a:xfrm>
          <a:prstGeom prst="rect">
            <a:avLst/>
          </a:prstGeom>
          <a:noFill/>
          <a:ln/>
        </p:spPr>
        <p:txBody>
          <a:bodyPr wrap="square" lIns="0" tIns="0" rIns="0" bIns="0" rtlCol="0" anchor="ctr"/>
          <a:lstStyle/>
          <a:p>
            <a:pPr indent="0" marL="0">
              <a:buNone/>
            </a:pPr>
            <a:r>
              <a:rPr lang="en-US" sz="900" dirty="0">
                <a:solidFill>
                  <a:srgbClr val="FAB219"/>
                </a:solidFill>
              </a:rPr>
              <a:t>Punto de conflicto</a:t>
            </a:r>
            <a:endParaRPr lang="en-US" sz="900" dirty="0"/>
          </a:p>
        </p:txBody>
      </p:sp>
      <p:sp>
        <p:nvSpPr>
          <p:cNvPr id="21" name="leyenda A"/>
          <p:cNvSpPr/>
          <p:nvPr/>
        </p:nvSpPr>
        <p:spPr>
          <a:xfrm>
            <a:off x="731520" y="4206240"/>
            <a:ext cx="256032" cy="128016"/>
          </a:xfrm>
          <a:prstGeom prst="roundRect">
            <a:avLst>
              <a:gd name="adj" fmla="val 21429"/>
            </a:avLst>
          </a:prstGeom>
          <a:solidFill>
            <a:srgbClr val="3987E5"/>
          </a:solidFill>
          <a:ln w="12700">
            <a:solidFill>
              <a:srgbClr val="3987E5"/>
            </a:solidFill>
            <a:prstDash val="solid"/>
          </a:ln>
        </p:spPr>
      </p:sp>
      <p:sp>
        <p:nvSpPr>
          <p:cNvPr id="22" name="leyenda A texto"/>
          <p:cNvSpPr txBox="1"/>
          <p:nvPr/>
        </p:nvSpPr>
        <p:spPr>
          <a:xfrm>
            <a:off x="105156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A</a:t>
            </a:r>
            <a:endParaRPr lang="en-US" sz="900" dirty="0"/>
          </a:p>
        </p:txBody>
      </p:sp>
      <p:sp>
        <p:nvSpPr>
          <p:cNvPr id="23" name="leyenda B"/>
          <p:cNvSpPr/>
          <p:nvPr/>
        </p:nvSpPr>
        <p:spPr>
          <a:xfrm>
            <a:off x="2011680" y="4206240"/>
            <a:ext cx="256032" cy="128016"/>
          </a:xfrm>
          <a:prstGeom prst="roundRect">
            <a:avLst>
              <a:gd name="adj" fmla="val 21429"/>
            </a:avLst>
          </a:prstGeom>
          <a:solidFill>
            <a:srgbClr val="D95926"/>
          </a:solidFill>
          <a:ln w="12700">
            <a:solidFill>
              <a:srgbClr val="D95926"/>
            </a:solidFill>
            <a:prstDash val="solid"/>
          </a:ln>
        </p:spPr>
      </p:sp>
      <p:sp>
        <p:nvSpPr>
          <p:cNvPr id="24" name="leyenda B texto"/>
          <p:cNvSpPr txBox="1"/>
          <p:nvPr/>
        </p:nvSpPr>
        <p:spPr>
          <a:xfrm>
            <a:off x="233172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B</a:t>
            </a:r>
            <a:endParaRPr lang="en-US" sz="900" dirty="0"/>
          </a:p>
        </p:txBody>
      </p:sp>
      <p:sp>
        <p:nvSpPr>
          <p:cNvPr id="25"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6" name="icono Objetivo fondo"/>
          <p:cNvSpPr/>
          <p:nvPr/>
        </p:nvSpPr>
        <p:spPr>
          <a:xfrm>
            <a:off x="5989320" y="1225296"/>
            <a:ext cx="384048" cy="384048"/>
          </a:xfrm>
          <a:prstGeom prst="ellipse">
            <a:avLst/>
          </a:prstGeom>
          <a:solidFill>
            <a:srgbClr val="3E8EF7">
              <a:alpha val="18000"/>
            </a:srgbClr>
          </a:solidFill>
          <a:ln w="6350">
            <a:solidFill>
              <a:srgbClr val="3E8EF7">
                <a:alpha val="40000"/>
              </a:srgbClr>
            </a:solidFill>
            <a:prstDash val="solid"/>
          </a:ln>
        </p:spPr>
      </p:sp>
      <p:pic>
        <p:nvPicPr>
          <p:cNvPr id="27" name="icono Objetivo" descr="preencoded.png">    </p:cNvPr>
          <p:cNvPicPr>
            <a:picLocks noChangeAspect="1"/>
          </p:cNvPicPr>
          <p:nvPr/>
        </p:nvPicPr>
        <p:blipFill>
          <a:blip r:embed="rId1"/>
          <a:stretch>
            <a:fillRect/>
          </a:stretch>
        </p:blipFill>
        <p:spPr>
          <a:xfrm>
            <a:off x="6085332" y="1321308"/>
            <a:ext cx="192024" cy="192024"/>
          </a:xfrm>
          <a:prstGeom prst="rect">
            <a:avLst/>
          </a:prstGeom>
        </p:spPr>
      </p:pic>
      <p:sp>
        <p:nvSpPr>
          <p:cNvPr id="28"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29"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Comprobar la detección de un camión que se aproxima desde un lateral, en una intersección.</a:t>
            </a:r>
            <a:endParaRPr lang="en-US" sz="1000" dirty="0"/>
          </a:p>
        </p:txBody>
      </p:sp>
      <p:sp>
        <p:nvSpPr>
          <p:cNvPr id="30"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1" name="icono Desarrollo fondo"/>
          <p:cNvSpPr/>
          <p:nvPr/>
        </p:nvSpPr>
        <p:spPr>
          <a:xfrm>
            <a:off x="5989320" y="2395728"/>
            <a:ext cx="384048" cy="384048"/>
          </a:xfrm>
          <a:prstGeom prst="ellipse">
            <a:avLst/>
          </a:prstGeom>
          <a:solidFill>
            <a:srgbClr val="3E8EF7">
              <a:alpha val="18000"/>
            </a:srgbClr>
          </a:solidFill>
          <a:ln w="6350">
            <a:solidFill>
              <a:srgbClr val="3E8EF7">
                <a:alpha val="40000"/>
              </a:srgbClr>
            </a:solidFill>
            <a:prstDash val="solid"/>
          </a:ln>
        </p:spPr>
      </p:sp>
      <p:pic>
        <p:nvPicPr>
          <p:cNvPr id="32" name="icono Desarrollo" descr="preencoded.png">    </p:cNvPr>
          <p:cNvPicPr>
            <a:picLocks noChangeAspect="1"/>
          </p:cNvPicPr>
          <p:nvPr/>
        </p:nvPicPr>
        <p:blipFill>
          <a:blip r:embed="rId2"/>
          <a:stretch>
            <a:fillRect/>
          </a:stretch>
        </p:blipFill>
        <p:spPr>
          <a:xfrm>
            <a:off x="6085332" y="2491740"/>
            <a:ext cx="192024" cy="192024"/>
          </a:xfrm>
          <a:prstGeom prst="rect">
            <a:avLst/>
          </a:prstGeom>
        </p:spPr>
      </p:pic>
      <p:sp>
        <p:nvSpPr>
          <p:cNvPr id="33"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4"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El camión A circula recto; el camión B llega por la vía transversal. Los dos se detienen antes del punto de conflicto.</a:t>
            </a:r>
            <a:endParaRPr lang="en-US" sz="1000" dirty="0"/>
          </a:p>
        </p:txBody>
      </p:sp>
      <p:sp>
        <p:nvSpPr>
          <p:cNvPr id="35"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6" name="icono Seguridad fondo"/>
          <p:cNvSpPr/>
          <p:nvPr/>
        </p:nvSpPr>
        <p:spPr>
          <a:xfrm>
            <a:off x="5989320" y="3566160"/>
            <a:ext cx="384048" cy="384048"/>
          </a:xfrm>
          <a:prstGeom prst="ellipse">
            <a:avLst/>
          </a:prstGeom>
          <a:solidFill>
            <a:srgbClr val="3E8EF7">
              <a:alpha val="18000"/>
            </a:srgbClr>
          </a:solidFill>
          <a:ln w="6350">
            <a:solidFill>
              <a:srgbClr val="3E8EF7">
                <a:alpha val="40000"/>
              </a:srgbClr>
            </a:solidFill>
            <a:prstDash val="solid"/>
          </a:ln>
        </p:spPr>
      </p:sp>
      <p:pic>
        <p:nvPicPr>
          <p:cNvPr id="37" name="icono Seguridad" descr="preencoded.png">    </p:cNvPr>
          <p:cNvPicPr>
            <a:picLocks noChangeAspect="1"/>
          </p:cNvPicPr>
          <p:nvPr/>
        </p:nvPicPr>
        <p:blipFill>
          <a:blip r:embed="rId3"/>
          <a:stretch>
            <a:fillRect/>
          </a:stretch>
        </p:blipFill>
        <p:spPr>
          <a:xfrm>
            <a:off x="6085332" y="3662172"/>
            <a:ext cx="192024" cy="192024"/>
          </a:xfrm>
          <a:prstGeom prst="rect">
            <a:avLst/>
          </a:prstGeom>
        </p:spPr>
      </p:pic>
      <p:sp>
        <p:nvSpPr>
          <p:cNvPr id="38"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39"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Nunca ocupan la intersección a la vez: hay prioridad definida y punto de parada marcado para cada uno.</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5 · Recta: validación final</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1A1A1A"/>
          </a:solidFill>
          <a:ln w="9525">
            <a:solidFill>
              <a:srgbClr val="444444"/>
            </a:solidFill>
            <a:prstDash val="solid"/>
          </a:ln>
        </p:spPr>
      </p:sp>
      <p:sp>
        <p:nvSpPr>
          <p:cNvPr id="4" name="chip prueba punto"/>
          <p:cNvSpPr/>
          <p:nvPr/>
        </p:nvSpPr>
        <p:spPr>
          <a:xfrm>
            <a:off x="7424928" y="534924"/>
            <a:ext cx="82296" cy="82296"/>
          </a:xfrm>
          <a:prstGeom prst="ellipse">
            <a:avLst/>
          </a:prstGeom>
          <a:solidFill>
            <a:srgbClr val="2BB82B"/>
          </a:solidFill>
          <a:ln w="12700">
            <a:solidFill>
              <a:srgbClr val="2BB82B"/>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C3C2B7"/>
                </a:solidFill>
              </a:rPr>
              <a:t>Prueba 5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1A1A1A"/>
          </a:solidFill>
          <a:ln w="9525">
            <a:solidFill>
              <a:srgbClr val="333333"/>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999999"/>
                </a:solidFill>
              </a:rPr>
              <a:t>ESQUEMA EN PLANTA</a:t>
            </a:r>
            <a:endParaRPr lang="en-US" sz="900" dirty="0"/>
          </a:p>
        </p:txBody>
      </p:sp>
      <p:sp>
        <p:nvSpPr>
          <p:cNvPr id="8" name="pista P5"/>
          <p:cNvSpPr/>
          <p:nvPr/>
        </p:nvSpPr>
        <p:spPr>
          <a:xfrm>
            <a:off x="731520" y="1828800"/>
            <a:ext cx="4480560" cy="1463040"/>
          </a:xfrm>
          <a:prstGeom prst="rect">
            <a:avLst/>
          </a:prstGeom>
          <a:solidFill>
            <a:srgbClr val="161616"/>
          </a:solidFill>
          <a:ln w="12700">
            <a:solidFill>
              <a:srgbClr val="444444"/>
            </a:solidFill>
            <a:prstDash val="solid"/>
          </a:ln>
        </p:spPr>
      </p:sp>
      <p:sp>
        <p:nvSpPr>
          <p:cNvPr id="9" name="pista P5 división 1"/>
          <p:cNvSpPr/>
          <p:nvPr/>
        </p:nvSpPr>
        <p:spPr>
          <a:xfrm>
            <a:off x="731520" y="2560320"/>
            <a:ext cx="4480560" cy="0"/>
          </a:xfrm>
          <a:prstGeom prst="line">
            <a:avLst/>
          </a:prstGeom>
          <a:noFill/>
          <a:ln w="12700">
            <a:solidFill>
              <a:srgbClr val="666666"/>
            </a:solidFill>
            <a:prstDash val="dash"/>
          </a:ln>
        </p:spPr>
      </p:sp>
      <p:sp>
        <p:nvSpPr>
          <p:cNvPr id="10" name="P5 camión A remolque"/>
          <p:cNvSpPr/>
          <p:nvPr/>
        </p:nvSpPr>
        <p:spPr>
          <a:xfrm>
            <a:off x="1280160" y="2011680"/>
            <a:ext cx="603504" cy="365760"/>
          </a:xfrm>
          <a:prstGeom prst="roundRect">
            <a:avLst>
              <a:gd name="adj" fmla="val 10000"/>
            </a:avLst>
          </a:prstGeom>
          <a:solidFill>
            <a:srgbClr val="2A2A2A"/>
          </a:solidFill>
          <a:ln w="15875">
            <a:solidFill>
              <a:srgbClr val="3987E5"/>
            </a:solidFill>
            <a:prstDash val="solid"/>
          </a:ln>
        </p:spPr>
      </p:sp>
      <p:sp>
        <p:nvSpPr>
          <p:cNvPr id="11" name="P5 camión A cabina"/>
          <p:cNvSpPr/>
          <p:nvPr/>
        </p:nvSpPr>
        <p:spPr>
          <a:xfrm>
            <a:off x="1920240" y="2039112"/>
            <a:ext cx="274320" cy="310896"/>
          </a:xfrm>
          <a:prstGeom prst="roundRect">
            <a:avLst>
              <a:gd name="adj" fmla="val 16667"/>
            </a:avLst>
          </a:prstGeom>
          <a:solidFill>
            <a:srgbClr val="3987E5"/>
          </a:solidFill>
          <a:ln w="12700">
            <a:solidFill>
              <a:srgbClr val="3987E5"/>
            </a:solidFill>
            <a:prstDash val="solid"/>
          </a:ln>
        </p:spPr>
      </p:sp>
      <p:sp>
        <p:nvSpPr>
          <p:cNvPr id="12" name="P5 camión A sentido"/>
          <p:cNvSpPr/>
          <p:nvPr/>
        </p:nvSpPr>
        <p:spPr>
          <a:xfrm>
            <a:off x="2267712" y="2194560"/>
            <a:ext cx="2377440" cy="0"/>
          </a:xfrm>
          <a:prstGeom prst="line">
            <a:avLst/>
          </a:prstGeom>
          <a:noFill/>
          <a:ln w="25400">
            <a:solidFill>
              <a:srgbClr val="3987E5"/>
            </a:solidFill>
            <a:prstDash val="solid"/>
            <a:tailEnd type="triangle"/>
          </a:ln>
        </p:spPr>
      </p:sp>
      <p:sp>
        <p:nvSpPr>
          <p:cNvPr id="13" name="P5 camión A etiqueta"/>
          <p:cNvSpPr txBox="1"/>
          <p:nvPr/>
        </p:nvSpPr>
        <p:spPr>
          <a:xfrm>
            <a:off x="1280160" y="2011680"/>
            <a:ext cx="603504" cy="365760"/>
          </a:xfrm>
          <a:prstGeom prst="rect">
            <a:avLst/>
          </a:prstGeom>
          <a:noFill/>
          <a:ln/>
        </p:spPr>
        <p:txBody>
          <a:bodyPr wrap="square" lIns="0" tIns="0" rIns="0" bIns="0" rtlCol="0" anchor="ctr"/>
          <a:lstStyle/>
          <a:p>
            <a:pPr algn="ctr" indent="0" marL="0">
              <a:buNone/>
            </a:pPr>
            <a:r>
              <a:rPr lang="en-US" sz="1200" b="1" dirty="0">
                <a:solidFill>
                  <a:srgbClr val="3987E5"/>
                </a:solidFill>
              </a:rPr>
              <a:t>A</a:t>
            </a:r>
            <a:endParaRPr lang="en-US" sz="1200" dirty="0"/>
          </a:p>
        </p:txBody>
      </p:sp>
      <p:sp>
        <p:nvSpPr>
          <p:cNvPr id="14" name="P5 camión B remolque"/>
          <p:cNvSpPr/>
          <p:nvPr/>
        </p:nvSpPr>
        <p:spPr>
          <a:xfrm>
            <a:off x="1280160" y="2743200"/>
            <a:ext cx="603504" cy="365760"/>
          </a:xfrm>
          <a:prstGeom prst="roundRect">
            <a:avLst>
              <a:gd name="adj" fmla="val 10000"/>
            </a:avLst>
          </a:prstGeom>
          <a:solidFill>
            <a:srgbClr val="2A2A2A"/>
          </a:solidFill>
          <a:ln w="15875">
            <a:solidFill>
              <a:srgbClr val="D95926"/>
            </a:solidFill>
            <a:prstDash val="solid"/>
          </a:ln>
        </p:spPr>
      </p:sp>
      <p:sp>
        <p:nvSpPr>
          <p:cNvPr id="15" name="P5 camión B cabina"/>
          <p:cNvSpPr/>
          <p:nvPr/>
        </p:nvSpPr>
        <p:spPr>
          <a:xfrm>
            <a:off x="1920240" y="2770632"/>
            <a:ext cx="274320" cy="310896"/>
          </a:xfrm>
          <a:prstGeom prst="roundRect">
            <a:avLst>
              <a:gd name="adj" fmla="val 16667"/>
            </a:avLst>
          </a:prstGeom>
          <a:solidFill>
            <a:srgbClr val="D95926"/>
          </a:solidFill>
          <a:ln w="12700">
            <a:solidFill>
              <a:srgbClr val="D95926"/>
            </a:solidFill>
            <a:prstDash val="solid"/>
          </a:ln>
        </p:spPr>
      </p:sp>
      <p:sp>
        <p:nvSpPr>
          <p:cNvPr id="16" name="P5 camión B sentido"/>
          <p:cNvSpPr/>
          <p:nvPr/>
        </p:nvSpPr>
        <p:spPr>
          <a:xfrm>
            <a:off x="2267712" y="2926080"/>
            <a:ext cx="2377440" cy="0"/>
          </a:xfrm>
          <a:prstGeom prst="line">
            <a:avLst/>
          </a:prstGeom>
          <a:noFill/>
          <a:ln w="25400">
            <a:solidFill>
              <a:srgbClr val="D95926"/>
            </a:solidFill>
            <a:prstDash val="solid"/>
            <a:tailEnd type="triangle"/>
          </a:ln>
        </p:spPr>
      </p:sp>
      <p:sp>
        <p:nvSpPr>
          <p:cNvPr id="17" name="P5 camión B etiqueta"/>
          <p:cNvSpPr txBox="1"/>
          <p:nvPr/>
        </p:nvSpPr>
        <p:spPr>
          <a:xfrm>
            <a:off x="1280160" y="2743200"/>
            <a:ext cx="603504" cy="365760"/>
          </a:xfrm>
          <a:prstGeom prst="rect">
            <a:avLst/>
          </a:prstGeom>
          <a:noFill/>
          <a:ln/>
        </p:spPr>
        <p:txBody>
          <a:bodyPr wrap="square" lIns="0" tIns="0" rIns="0" bIns="0" rtlCol="0" anchor="ctr"/>
          <a:lstStyle/>
          <a:p>
            <a:pPr algn="ctr" indent="0" marL="0">
              <a:buNone/>
            </a:pPr>
            <a:r>
              <a:rPr lang="en-US" sz="1200" b="1" dirty="0">
                <a:solidFill>
                  <a:srgbClr val="D95926"/>
                </a:solidFill>
              </a:rPr>
              <a:t>B</a:t>
            </a:r>
            <a:endParaRPr lang="en-US" sz="1200" dirty="0"/>
          </a:p>
        </p:txBody>
      </p:sp>
      <p:sp>
        <p:nvSpPr>
          <p:cNvPr id="18" name="meta"/>
          <p:cNvSpPr/>
          <p:nvPr/>
        </p:nvSpPr>
        <p:spPr>
          <a:xfrm>
            <a:off x="4983480" y="1783080"/>
            <a:ext cx="0" cy="1554480"/>
          </a:xfrm>
          <a:prstGeom prst="line">
            <a:avLst/>
          </a:prstGeom>
          <a:noFill/>
          <a:ln w="25400">
            <a:solidFill>
              <a:srgbClr val="0CA30C"/>
            </a:solidFill>
            <a:prstDash val="sysDash"/>
          </a:ln>
        </p:spPr>
      </p:sp>
      <p:pic>
        <p:nvPicPr>
          <p:cNvPr id="19" name="icono meta" descr="preencoded.png">    </p:cNvPr>
          <p:cNvPicPr>
            <a:picLocks noChangeAspect="1"/>
          </p:cNvPicPr>
          <p:nvPr/>
        </p:nvPicPr>
        <p:blipFill>
          <a:blip r:embed="rId1"/>
          <a:stretch>
            <a:fillRect/>
          </a:stretch>
        </p:blipFill>
        <p:spPr>
          <a:xfrm>
            <a:off x="4846320" y="3364992"/>
            <a:ext cx="274320" cy="274320"/>
          </a:xfrm>
          <a:prstGeom prst="rect">
            <a:avLst/>
          </a:prstGeom>
        </p:spPr>
      </p:pic>
      <p:sp>
        <p:nvSpPr>
          <p:cNvPr id="20" name="nota P5"/>
          <p:cNvSpPr txBox="1"/>
          <p:nvPr/>
        </p:nvSpPr>
        <p:spPr>
          <a:xfrm>
            <a:off x="731520" y="3401568"/>
            <a:ext cx="3931920" cy="274320"/>
          </a:xfrm>
          <a:prstGeom prst="rect">
            <a:avLst/>
          </a:prstGeom>
          <a:noFill/>
          <a:ln/>
        </p:spPr>
        <p:txBody>
          <a:bodyPr wrap="square" lIns="0" tIns="0" rIns="0" bIns="0" rtlCol="0" anchor="ctr"/>
          <a:lstStyle/>
          <a:p>
            <a:pPr algn="ctr" indent="0" marL="0">
              <a:buNone/>
            </a:pPr>
            <a:r>
              <a:rPr lang="en-US" sz="1000" dirty="0">
                <a:solidFill>
                  <a:srgbClr val="C3C2B7"/>
                </a:solidFill>
              </a:rPr>
              <a:t>Tramo recto a velocidad constante</a:t>
            </a:r>
            <a:endParaRPr lang="en-US" sz="1000" dirty="0"/>
          </a:p>
        </p:txBody>
      </p:sp>
      <p:sp>
        <p:nvSpPr>
          <p:cNvPr id="21" name="leyenda A"/>
          <p:cNvSpPr/>
          <p:nvPr/>
        </p:nvSpPr>
        <p:spPr>
          <a:xfrm>
            <a:off x="731520" y="4206240"/>
            <a:ext cx="256032" cy="128016"/>
          </a:xfrm>
          <a:prstGeom prst="roundRect">
            <a:avLst>
              <a:gd name="adj" fmla="val 21429"/>
            </a:avLst>
          </a:prstGeom>
          <a:solidFill>
            <a:srgbClr val="3987E5"/>
          </a:solidFill>
          <a:ln w="12700">
            <a:solidFill>
              <a:srgbClr val="3987E5"/>
            </a:solidFill>
            <a:prstDash val="solid"/>
          </a:ln>
        </p:spPr>
      </p:sp>
      <p:sp>
        <p:nvSpPr>
          <p:cNvPr id="22" name="leyenda A texto"/>
          <p:cNvSpPr txBox="1"/>
          <p:nvPr/>
        </p:nvSpPr>
        <p:spPr>
          <a:xfrm>
            <a:off x="105156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A</a:t>
            </a:r>
            <a:endParaRPr lang="en-US" sz="900" dirty="0"/>
          </a:p>
        </p:txBody>
      </p:sp>
      <p:sp>
        <p:nvSpPr>
          <p:cNvPr id="23" name="leyenda B"/>
          <p:cNvSpPr/>
          <p:nvPr/>
        </p:nvSpPr>
        <p:spPr>
          <a:xfrm>
            <a:off x="2011680" y="4206240"/>
            <a:ext cx="256032" cy="128016"/>
          </a:xfrm>
          <a:prstGeom prst="roundRect">
            <a:avLst>
              <a:gd name="adj" fmla="val 21429"/>
            </a:avLst>
          </a:prstGeom>
          <a:solidFill>
            <a:srgbClr val="D95926"/>
          </a:solidFill>
          <a:ln w="12700">
            <a:solidFill>
              <a:srgbClr val="D95926"/>
            </a:solidFill>
            <a:prstDash val="solid"/>
          </a:ln>
        </p:spPr>
      </p:sp>
      <p:sp>
        <p:nvSpPr>
          <p:cNvPr id="24" name="leyenda B texto"/>
          <p:cNvSpPr txBox="1"/>
          <p:nvPr/>
        </p:nvSpPr>
        <p:spPr>
          <a:xfrm>
            <a:off x="2331720" y="4160520"/>
            <a:ext cx="914400" cy="219456"/>
          </a:xfrm>
          <a:prstGeom prst="rect">
            <a:avLst/>
          </a:prstGeom>
          <a:noFill/>
          <a:ln/>
        </p:spPr>
        <p:txBody>
          <a:bodyPr wrap="square" lIns="0" tIns="0" rIns="0" bIns="0" rtlCol="0" anchor="ctr"/>
          <a:lstStyle/>
          <a:p>
            <a:pPr indent="0" marL="0">
              <a:buNone/>
            </a:pPr>
            <a:r>
              <a:rPr lang="en-US" sz="900" dirty="0">
                <a:solidFill>
                  <a:srgbClr val="999999"/>
                </a:solidFill>
              </a:rPr>
              <a:t>Camión B</a:t>
            </a:r>
            <a:endParaRPr lang="en-US" sz="900" dirty="0"/>
          </a:p>
        </p:txBody>
      </p:sp>
      <p:sp>
        <p:nvSpPr>
          <p:cNvPr id="25" name="bloque Objetivo"/>
          <p:cNvSpPr/>
          <p:nvPr/>
        </p:nvSpPr>
        <p:spPr>
          <a:xfrm>
            <a:off x="5852160" y="1097280"/>
            <a:ext cx="2834640" cy="1069848"/>
          </a:xfrm>
          <a:prstGeom prst="roundRect">
            <a:avLst>
              <a:gd name="adj" fmla="val 8547"/>
            </a:avLst>
          </a:prstGeom>
          <a:solidFill>
            <a:srgbClr val="202020"/>
          </a:solidFill>
          <a:ln w="9525">
            <a:solidFill>
              <a:srgbClr val="333333"/>
            </a:solidFill>
            <a:prstDash val="solid"/>
          </a:ln>
        </p:spPr>
      </p:sp>
      <p:sp>
        <p:nvSpPr>
          <p:cNvPr id="26" name="icono Objetivo fondo"/>
          <p:cNvSpPr/>
          <p:nvPr/>
        </p:nvSpPr>
        <p:spPr>
          <a:xfrm>
            <a:off x="5989320" y="1225296"/>
            <a:ext cx="384048" cy="384048"/>
          </a:xfrm>
          <a:prstGeom prst="ellipse">
            <a:avLst/>
          </a:prstGeom>
          <a:solidFill>
            <a:srgbClr val="3E8EF7">
              <a:alpha val="18000"/>
            </a:srgbClr>
          </a:solidFill>
          <a:ln w="6350">
            <a:solidFill>
              <a:srgbClr val="3E8EF7">
                <a:alpha val="40000"/>
              </a:srgbClr>
            </a:solidFill>
            <a:prstDash val="solid"/>
          </a:ln>
        </p:spPr>
      </p:sp>
      <p:pic>
        <p:nvPicPr>
          <p:cNvPr id="27" name="icono Objetivo" descr="preencoded.png">    </p:cNvPr>
          <p:cNvPicPr>
            <a:picLocks noChangeAspect="1"/>
          </p:cNvPicPr>
          <p:nvPr/>
        </p:nvPicPr>
        <p:blipFill>
          <a:blip r:embed="rId2"/>
          <a:stretch>
            <a:fillRect/>
          </a:stretch>
        </p:blipFill>
        <p:spPr>
          <a:xfrm>
            <a:off x="6085332" y="1321308"/>
            <a:ext cx="192024" cy="192024"/>
          </a:xfrm>
          <a:prstGeom prst="rect">
            <a:avLst/>
          </a:prstGeom>
        </p:spPr>
      </p:pic>
      <p:sp>
        <p:nvSpPr>
          <p:cNvPr id="28"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OBJETIVO</a:t>
            </a:r>
            <a:endParaRPr lang="en-US" sz="900" dirty="0"/>
          </a:p>
        </p:txBody>
      </p:sp>
      <p:sp>
        <p:nvSpPr>
          <p:cNvPr id="29"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E0E0E0"/>
                </a:solidFill>
              </a:rPr>
              <a:t>Validar el funcionamiento completo del sistema en un recorrido recto, sin interacción entre camiones.</a:t>
            </a:r>
            <a:endParaRPr lang="en-US" sz="1000" dirty="0"/>
          </a:p>
        </p:txBody>
      </p:sp>
      <p:sp>
        <p:nvSpPr>
          <p:cNvPr id="30" name="bloque Desarrollo"/>
          <p:cNvSpPr/>
          <p:nvPr/>
        </p:nvSpPr>
        <p:spPr>
          <a:xfrm>
            <a:off x="5852160" y="2267712"/>
            <a:ext cx="2834640" cy="1069848"/>
          </a:xfrm>
          <a:prstGeom prst="roundRect">
            <a:avLst>
              <a:gd name="adj" fmla="val 8547"/>
            </a:avLst>
          </a:prstGeom>
          <a:solidFill>
            <a:srgbClr val="202020"/>
          </a:solidFill>
          <a:ln w="9525">
            <a:solidFill>
              <a:srgbClr val="333333"/>
            </a:solidFill>
            <a:prstDash val="solid"/>
          </a:ln>
        </p:spPr>
      </p:sp>
      <p:sp>
        <p:nvSpPr>
          <p:cNvPr id="31" name="icono Desarrollo fondo"/>
          <p:cNvSpPr/>
          <p:nvPr/>
        </p:nvSpPr>
        <p:spPr>
          <a:xfrm>
            <a:off x="5989320" y="2395728"/>
            <a:ext cx="384048" cy="384048"/>
          </a:xfrm>
          <a:prstGeom prst="ellipse">
            <a:avLst/>
          </a:prstGeom>
          <a:solidFill>
            <a:srgbClr val="3E8EF7">
              <a:alpha val="18000"/>
            </a:srgbClr>
          </a:solidFill>
          <a:ln w="6350">
            <a:solidFill>
              <a:srgbClr val="3E8EF7">
                <a:alpha val="40000"/>
              </a:srgbClr>
            </a:solidFill>
            <a:prstDash val="solid"/>
          </a:ln>
        </p:spPr>
      </p:sp>
      <p:pic>
        <p:nvPicPr>
          <p:cNvPr id="32" name="icono Desarrollo" descr="preencoded.png">    </p:cNvPr>
          <p:cNvPicPr>
            <a:picLocks noChangeAspect="1"/>
          </p:cNvPicPr>
          <p:nvPr/>
        </p:nvPicPr>
        <p:blipFill>
          <a:blip r:embed="rId3"/>
          <a:stretch>
            <a:fillRect/>
          </a:stretch>
        </p:blipFill>
        <p:spPr>
          <a:xfrm>
            <a:off x="6085332" y="2491740"/>
            <a:ext cx="192024" cy="192024"/>
          </a:xfrm>
          <a:prstGeom prst="rect">
            <a:avLst/>
          </a:prstGeom>
        </p:spPr>
      </p:pic>
      <p:sp>
        <p:nvSpPr>
          <p:cNvPr id="33"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DESARROLLO</a:t>
            </a:r>
            <a:endParaRPr lang="en-US" sz="900" dirty="0"/>
          </a:p>
        </p:txBody>
      </p:sp>
      <p:sp>
        <p:nvSpPr>
          <p:cNvPr id="34"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E0E0E0"/>
                </a:solidFill>
              </a:rPr>
              <a:t>Cada camión realiza un tramo recto a velocidad constante. Se comprueba que el sistema responde como en las pruebas anteriores.</a:t>
            </a:r>
            <a:endParaRPr lang="en-US" sz="1000" dirty="0"/>
          </a:p>
        </p:txBody>
      </p:sp>
      <p:sp>
        <p:nvSpPr>
          <p:cNvPr id="35" name="bloque Seguridad"/>
          <p:cNvSpPr/>
          <p:nvPr/>
        </p:nvSpPr>
        <p:spPr>
          <a:xfrm>
            <a:off x="5852160" y="3438144"/>
            <a:ext cx="2834640" cy="1069848"/>
          </a:xfrm>
          <a:prstGeom prst="roundRect">
            <a:avLst>
              <a:gd name="adj" fmla="val 8547"/>
            </a:avLst>
          </a:prstGeom>
          <a:solidFill>
            <a:srgbClr val="202020"/>
          </a:solidFill>
          <a:ln w="9525">
            <a:solidFill>
              <a:srgbClr val="333333"/>
            </a:solidFill>
            <a:prstDash val="solid"/>
          </a:ln>
        </p:spPr>
      </p:sp>
      <p:sp>
        <p:nvSpPr>
          <p:cNvPr id="36" name="icono Seguridad fondo"/>
          <p:cNvSpPr/>
          <p:nvPr/>
        </p:nvSpPr>
        <p:spPr>
          <a:xfrm>
            <a:off x="5989320" y="3566160"/>
            <a:ext cx="384048" cy="384048"/>
          </a:xfrm>
          <a:prstGeom prst="ellipse">
            <a:avLst/>
          </a:prstGeom>
          <a:solidFill>
            <a:srgbClr val="3E8EF7">
              <a:alpha val="18000"/>
            </a:srgbClr>
          </a:solidFill>
          <a:ln w="6350">
            <a:solidFill>
              <a:srgbClr val="3E8EF7">
                <a:alpha val="40000"/>
              </a:srgbClr>
            </a:solidFill>
            <a:prstDash val="solid"/>
          </a:ln>
        </p:spPr>
      </p:sp>
      <p:pic>
        <p:nvPicPr>
          <p:cNvPr id="37" name="icono Seguridad" descr="preencoded.png">    </p:cNvPr>
          <p:cNvPicPr>
            <a:picLocks noChangeAspect="1"/>
          </p:cNvPicPr>
          <p:nvPr/>
        </p:nvPicPr>
        <p:blipFill>
          <a:blip r:embed="rId4"/>
          <a:stretch>
            <a:fillRect/>
          </a:stretch>
        </p:blipFill>
        <p:spPr>
          <a:xfrm>
            <a:off x="6085332" y="3662172"/>
            <a:ext cx="192024" cy="192024"/>
          </a:xfrm>
          <a:prstGeom prst="rect">
            <a:avLst/>
          </a:prstGeom>
        </p:spPr>
      </p:pic>
      <p:sp>
        <p:nvSpPr>
          <p:cNvPr id="38"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sp>
        <p:nvSpPr>
          <p:cNvPr id="39"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E0E0E0"/>
                </a:solidFill>
              </a:rPr>
              <a:t>Un camión en pista cada vez. Se da por terminada la sesión cuando los dos han completado la recta.</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¿Dudas antes de empezar?</a:t>
            </a:r>
            <a:endParaRPr lang="en-US" sz="2600" dirty="0"/>
          </a:p>
        </p:txBody>
      </p:sp>
      <p:sp>
        <p:nvSpPr>
          <p:cNvPr id="3" name="resumen seguridad"/>
          <p:cNvSpPr/>
          <p:nvPr/>
        </p:nvSpPr>
        <p:spPr>
          <a:xfrm>
            <a:off x="457200" y="1097280"/>
            <a:ext cx="4023360" cy="3429000"/>
          </a:xfrm>
          <a:prstGeom prst="roundRect">
            <a:avLst>
              <a:gd name="adj" fmla="val 2667"/>
            </a:avLst>
          </a:prstGeom>
          <a:solidFill>
            <a:srgbClr val="1A1A1A"/>
          </a:solidFill>
          <a:ln w="9525">
            <a:solidFill>
              <a:srgbClr val="333333"/>
            </a:solidFill>
            <a:prstDash val="solid"/>
          </a:ln>
        </p:spPr>
      </p:sp>
      <p:sp>
        <p:nvSpPr>
          <p:cNvPr id="4" name="etiqueta resumen seguridad"/>
          <p:cNvSpPr txBox="1"/>
          <p:nvPr/>
        </p:nvSpPr>
        <p:spPr>
          <a:xfrm>
            <a:off x="731520" y="1325880"/>
            <a:ext cx="2743200" cy="228600"/>
          </a:xfrm>
          <a:prstGeom prst="rect">
            <a:avLst/>
          </a:prstGeom>
          <a:noFill/>
          <a:ln/>
        </p:spPr>
        <p:txBody>
          <a:bodyPr wrap="square" lIns="0" tIns="0" rIns="0" bIns="0" rtlCol="0" anchor="t"/>
          <a:lstStyle/>
          <a:p>
            <a:pPr indent="0" marL="0">
              <a:buNone/>
            </a:pPr>
            <a:r>
              <a:rPr lang="en-US" sz="900" b="1" spc="200" kern="0" dirty="0">
                <a:solidFill>
                  <a:srgbClr val="999999"/>
                </a:solidFill>
              </a:rPr>
              <a:t>SEGURIDAD</a:t>
            </a:r>
            <a:endParaRPr lang="en-US" sz="900" dirty="0"/>
          </a:p>
        </p:txBody>
      </p:sp>
      <p:pic>
        <p:nvPicPr>
          <p:cNvPr id="5" name="check 1" descr="preencoded.png">    </p:cNvPr>
          <p:cNvPicPr>
            <a:picLocks noChangeAspect="1"/>
          </p:cNvPicPr>
          <p:nvPr/>
        </p:nvPicPr>
        <p:blipFill>
          <a:blip r:embed="rId1"/>
          <a:stretch>
            <a:fillRect/>
          </a:stretch>
        </p:blipFill>
        <p:spPr>
          <a:xfrm>
            <a:off x="731520" y="1691640"/>
            <a:ext cx="237744" cy="237744"/>
          </a:xfrm>
          <a:prstGeom prst="rect">
            <a:avLst/>
          </a:prstGeom>
        </p:spPr>
      </p:pic>
      <p:sp>
        <p:nvSpPr>
          <p:cNvPr id="6" name="resumen seguridad 1"/>
          <p:cNvSpPr txBox="1"/>
          <p:nvPr/>
        </p:nvSpPr>
        <p:spPr>
          <a:xfrm>
            <a:off x="1097280" y="1645920"/>
            <a:ext cx="3200400" cy="365760"/>
          </a:xfrm>
          <a:prstGeom prst="rect">
            <a:avLst/>
          </a:prstGeom>
          <a:noFill/>
          <a:ln/>
        </p:spPr>
        <p:txBody>
          <a:bodyPr wrap="square" lIns="0" tIns="0" rIns="0" bIns="0" rtlCol="0" anchor="ctr"/>
          <a:lstStyle/>
          <a:p>
            <a:pPr indent="0" marL="0">
              <a:buNone/>
            </a:pPr>
            <a:r>
              <a:rPr lang="en-US" sz="1300" dirty="0">
                <a:solidFill>
                  <a:srgbClr val="E0E0E0"/>
                </a:solidFill>
              </a:rPr>
              <a:t>Chaleco puesto en todo momento</a:t>
            </a:r>
            <a:endParaRPr lang="en-US" sz="1300" dirty="0"/>
          </a:p>
        </p:txBody>
      </p:sp>
      <p:pic>
        <p:nvPicPr>
          <p:cNvPr id="7" name="check 2" descr="preencoded.png">    </p:cNvPr>
          <p:cNvPicPr>
            <a:picLocks noChangeAspect="1"/>
          </p:cNvPicPr>
          <p:nvPr/>
        </p:nvPicPr>
        <p:blipFill>
          <a:blip r:embed="rId2"/>
          <a:stretch>
            <a:fillRect/>
          </a:stretch>
        </p:blipFill>
        <p:spPr>
          <a:xfrm>
            <a:off x="731520" y="2203704"/>
            <a:ext cx="237744" cy="237744"/>
          </a:xfrm>
          <a:prstGeom prst="rect">
            <a:avLst/>
          </a:prstGeom>
        </p:spPr>
      </p:pic>
      <p:sp>
        <p:nvSpPr>
          <p:cNvPr id="8" name="resumen seguridad 2"/>
          <p:cNvSpPr txBox="1"/>
          <p:nvPr/>
        </p:nvSpPr>
        <p:spPr>
          <a:xfrm>
            <a:off x="1097280" y="2157984"/>
            <a:ext cx="3200400" cy="365760"/>
          </a:xfrm>
          <a:prstGeom prst="rect">
            <a:avLst/>
          </a:prstGeom>
          <a:noFill/>
          <a:ln/>
        </p:spPr>
        <p:txBody>
          <a:bodyPr wrap="square" lIns="0" tIns="0" rIns="0" bIns="0" rtlCol="0" anchor="ctr"/>
          <a:lstStyle/>
          <a:p>
            <a:pPr indent="0" marL="0">
              <a:buNone/>
            </a:pPr>
            <a:r>
              <a:rPr lang="en-US" sz="1300" dirty="0">
                <a:solidFill>
                  <a:srgbClr val="E0E0E0"/>
                </a:solidFill>
              </a:rPr>
              <a:t>Dentro del área delimitada, acceso a pie</a:t>
            </a:r>
            <a:endParaRPr lang="en-US" sz="1300" dirty="0"/>
          </a:p>
        </p:txBody>
      </p:sp>
      <p:pic>
        <p:nvPicPr>
          <p:cNvPr id="9" name="check 3" descr="preencoded.png">    </p:cNvPr>
          <p:cNvPicPr>
            <a:picLocks noChangeAspect="1"/>
          </p:cNvPicPr>
          <p:nvPr/>
        </p:nvPicPr>
        <p:blipFill>
          <a:blip r:embed="rId3"/>
          <a:stretch>
            <a:fillRect/>
          </a:stretch>
        </p:blipFill>
        <p:spPr>
          <a:xfrm>
            <a:off x="731520" y="2715768"/>
            <a:ext cx="237744" cy="237744"/>
          </a:xfrm>
          <a:prstGeom prst="rect">
            <a:avLst/>
          </a:prstGeom>
        </p:spPr>
      </p:pic>
      <p:sp>
        <p:nvSpPr>
          <p:cNvPr id="10" name="resumen seguridad 3"/>
          <p:cNvSpPr txBox="1"/>
          <p:nvPr/>
        </p:nvSpPr>
        <p:spPr>
          <a:xfrm>
            <a:off x="1097280" y="2670048"/>
            <a:ext cx="3200400" cy="365760"/>
          </a:xfrm>
          <a:prstGeom prst="rect">
            <a:avLst/>
          </a:prstGeom>
          <a:noFill/>
          <a:ln/>
        </p:spPr>
        <p:txBody>
          <a:bodyPr wrap="square" lIns="0" tIns="0" rIns="0" bIns="0" rtlCol="0" anchor="ctr"/>
          <a:lstStyle/>
          <a:p>
            <a:pPr indent="0" marL="0">
              <a:buNone/>
            </a:pPr>
            <a:r>
              <a:rPr lang="en-US" sz="1300" dirty="0">
                <a:solidFill>
                  <a:srgbClr val="E0E0E0"/>
                </a:solidFill>
              </a:rPr>
              <a:t>En la carpa cuando no se desplace</a:t>
            </a:r>
            <a:endParaRPr lang="en-US" sz="1300" dirty="0"/>
          </a:p>
        </p:txBody>
      </p:sp>
      <p:pic>
        <p:nvPicPr>
          <p:cNvPr id="11" name="check 4" descr="preencoded.png">    </p:cNvPr>
          <p:cNvPicPr>
            <a:picLocks noChangeAspect="1"/>
          </p:cNvPicPr>
          <p:nvPr/>
        </p:nvPicPr>
        <p:blipFill>
          <a:blip r:embed="rId4"/>
          <a:stretch>
            <a:fillRect/>
          </a:stretch>
        </p:blipFill>
        <p:spPr>
          <a:xfrm>
            <a:off x="731520" y="3227832"/>
            <a:ext cx="237744" cy="237744"/>
          </a:xfrm>
          <a:prstGeom prst="rect">
            <a:avLst/>
          </a:prstGeom>
        </p:spPr>
      </p:pic>
      <p:sp>
        <p:nvSpPr>
          <p:cNvPr id="12" name="resumen seguridad 4"/>
          <p:cNvSpPr txBox="1"/>
          <p:nvPr/>
        </p:nvSpPr>
        <p:spPr>
          <a:xfrm>
            <a:off x="1097280" y="3182112"/>
            <a:ext cx="3200400" cy="365760"/>
          </a:xfrm>
          <a:prstGeom prst="rect">
            <a:avLst/>
          </a:prstGeom>
          <a:noFill/>
          <a:ln/>
        </p:spPr>
        <p:txBody>
          <a:bodyPr wrap="square" lIns="0" tIns="0" rIns="0" bIns="0" rtlCol="0" anchor="ctr"/>
          <a:lstStyle/>
          <a:p>
            <a:pPr indent="0" marL="0">
              <a:buNone/>
            </a:pPr>
            <a:r>
              <a:rPr lang="en-US" sz="1300" dirty="0">
                <a:solidFill>
                  <a:srgbClr val="E0E0E0"/>
                </a:solidFill>
              </a:rPr>
              <a:t>Avisar a un responsable antes de acercarse a un camión</a:t>
            </a:r>
            <a:endParaRPr lang="en-US" sz="1300" dirty="0"/>
          </a:p>
        </p:txBody>
      </p:sp>
      <p:pic>
        <p:nvPicPr>
          <p:cNvPr id="13" name="check 5" descr="preencoded.png">    </p:cNvPr>
          <p:cNvPicPr>
            <a:picLocks noChangeAspect="1"/>
          </p:cNvPicPr>
          <p:nvPr/>
        </p:nvPicPr>
        <p:blipFill>
          <a:blip r:embed="rId5"/>
          <a:stretch>
            <a:fillRect/>
          </a:stretch>
        </p:blipFill>
        <p:spPr>
          <a:xfrm>
            <a:off x="731520" y="3739896"/>
            <a:ext cx="237744" cy="237744"/>
          </a:xfrm>
          <a:prstGeom prst="rect">
            <a:avLst/>
          </a:prstGeom>
        </p:spPr>
      </p:pic>
      <p:sp>
        <p:nvSpPr>
          <p:cNvPr id="14" name="resumen seguridad 5"/>
          <p:cNvSpPr txBox="1"/>
          <p:nvPr/>
        </p:nvSpPr>
        <p:spPr>
          <a:xfrm>
            <a:off x="1097280" y="3694176"/>
            <a:ext cx="3200400" cy="365760"/>
          </a:xfrm>
          <a:prstGeom prst="rect">
            <a:avLst/>
          </a:prstGeom>
          <a:noFill/>
          <a:ln/>
        </p:spPr>
        <p:txBody>
          <a:bodyPr wrap="square" lIns="0" tIns="0" rIns="0" bIns="0" rtlCol="0" anchor="ctr"/>
          <a:lstStyle/>
          <a:p>
            <a:pPr indent="0" marL="0">
              <a:buNone/>
            </a:pPr>
            <a:r>
              <a:rPr lang="en-US" sz="1300" dirty="0">
                <a:solidFill>
                  <a:srgbClr val="E0E0E0"/>
                </a:solidFill>
              </a:rPr>
              <a:t>Camión detenido y aprobación del conductor</a:t>
            </a:r>
            <a:endParaRPr lang="en-US" sz="1300" dirty="0"/>
          </a:p>
        </p:txBody>
      </p:sp>
      <p:sp>
        <p:nvSpPr>
          <p:cNvPr id="15" name="resumen pruebas"/>
          <p:cNvSpPr/>
          <p:nvPr/>
        </p:nvSpPr>
        <p:spPr>
          <a:xfrm>
            <a:off x="4663440" y="1097280"/>
            <a:ext cx="4023360" cy="3429000"/>
          </a:xfrm>
          <a:prstGeom prst="roundRect">
            <a:avLst>
              <a:gd name="adj" fmla="val 2667"/>
            </a:avLst>
          </a:prstGeom>
          <a:solidFill>
            <a:srgbClr val="1A1A1A"/>
          </a:solidFill>
          <a:ln w="9525">
            <a:solidFill>
              <a:srgbClr val="333333"/>
            </a:solidFill>
            <a:prstDash val="solid"/>
          </a:ln>
        </p:spPr>
      </p:sp>
      <p:sp>
        <p:nvSpPr>
          <p:cNvPr id="16" name="etiqueta resumen pruebas"/>
          <p:cNvSpPr txBox="1"/>
          <p:nvPr/>
        </p:nvSpPr>
        <p:spPr>
          <a:xfrm>
            <a:off x="4937760" y="1325880"/>
            <a:ext cx="2743200" cy="228600"/>
          </a:xfrm>
          <a:prstGeom prst="rect">
            <a:avLst/>
          </a:prstGeom>
          <a:noFill/>
          <a:ln/>
        </p:spPr>
        <p:txBody>
          <a:bodyPr wrap="square" lIns="0" tIns="0" rIns="0" bIns="0" rtlCol="0" anchor="t"/>
          <a:lstStyle/>
          <a:p>
            <a:pPr indent="0" marL="0">
              <a:buNone/>
            </a:pPr>
            <a:r>
              <a:rPr lang="en-US" sz="900" b="1" spc="200" kern="0" dirty="0">
                <a:solidFill>
                  <a:srgbClr val="999999"/>
                </a:solidFill>
              </a:rPr>
              <a:t>PRUEBAS</a:t>
            </a:r>
            <a:endParaRPr lang="en-US" sz="900" dirty="0"/>
          </a:p>
        </p:txBody>
      </p:sp>
      <p:sp>
        <p:nvSpPr>
          <p:cNvPr id="17" name="número cierre 1 fondo"/>
          <p:cNvSpPr/>
          <p:nvPr/>
        </p:nvSpPr>
        <p:spPr>
          <a:xfrm>
            <a:off x="4937760" y="1691640"/>
            <a:ext cx="237744" cy="237744"/>
          </a:xfrm>
          <a:prstGeom prst="ellipse">
            <a:avLst/>
          </a:prstGeom>
          <a:solidFill>
            <a:srgbClr val="3E8EF7"/>
          </a:solidFill>
          <a:ln w="12700">
            <a:solidFill>
              <a:srgbClr val="3E8EF7"/>
            </a:solidFill>
            <a:prstDash val="solid"/>
          </a:ln>
        </p:spPr>
      </p:sp>
      <p:sp>
        <p:nvSpPr>
          <p:cNvPr id="18" name="número cierre 1"/>
          <p:cNvSpPr txBox="1"/>
          <p:nvPr/>
        </p:nvSpPr>
        <p:spPr>
          <a:xfrm>
            <a:off x="4937760" y="1691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9" name="resumen pruebas 1"/>
          <p:cNvSpPr txBox="1"/>
          <p:nvPr/>
        </p:nvSpPr>
        <p:spPr>
          <a:xfrm>
            <a:off x="5303520" y="1645920"/>
            <a:ext cx="3200400" cy="365760"/>
          </a:xfrm>
          <a:prstGeom prst="rect">
            <a:avLst/>
          </a:prstGeom>
          <a:noFill/>
          <a:ln/>
        </p:spPr>
        <p:txBody>
          <a:bodyPr wrap="square" lIns="0" tIns="0" rIns="0" bIns="0" rtlCol="0" anchor="ctr"/>
          <a:lstStyle/>
          <a:p>
            <a:pPr indent="0" marL="0">
              <a:buNone/>
            </a:pPr>
            <a:r>
              <a:rPr lang="en-US" sz="1300" dirty="0">
                <a:solidFill>
                  <a:srgbClr val="E0E0E0"/>
                </a:solidFill>
              </a:rPr>
              <a:t>Enfrentamiento</a:t>
            </a:r>
            <a:endParaRPr lang="en-US" sz="1300" dirty="0"/>
          </a:p>
        </p:txBody>
      </p:sp>
      <p:sp>
        <p:nvSpPr>
          <p:cNvPr id="20" name="número cierre 2 fondo"/>
          <p:cNvSpPr/>
          <p:nvPr/>
        </p:nvSpPr>
        <p:spPr>
          <a:xfrm>
            <a:off x="4937760" y="2203704"/>
            <a:ext cx="237744" cy="237744"/>
          </a:xfrm>
          <a:prstGeom prst="ellipse">
            <a:avLst/>
          </a:prstGeom>
          <a:solidFill>
            <a:srgbClr val="3E8EF7"/>
          </a:solidFill>
          <a:ln w="12700">
            <a:solidFill>
              <a:srgbClr val="3E8EF7"/>
            </a:solidFill>
            <a:prstDash val="solid"/>
          </a:ln>
        </p:spPr>
      </p:sp>
      <p:sp>
        <p:nvSpPr>
          <p:cNvPr id="21" name="número cierre 2"/>
          <p:cNvSpPr txBox="1"/>
          <p:nvPr/>
        </p:nvSpPr>
        <p:spPr>
          <a:xfrm>
            <a:off x="4937760" y="220370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2" name="resumen pruebas 2"/>
          <p:cNvSpPr txBox="1"/>
          <p:nvPr/>
        </p:nvSpPr>
        <p:spPr>
          <a:xfrm>
            <a:off x="5303520" y="2157984"/>
            <a:ext cx="3200400" cy="365760"/>
          </a:xfrm>
          <a:prstGeom prst="rect">
            <a:avLst/>
          </a:prstGeom>
          <a:noFill/>
          <a:ln/>
        </p:spPr>
        <p:txBody>
          <a:bodyPr wrap="square" lIns="0" tIns="0" rIns="0" bIns="0" rtlCol="0" anchor="ctr"/>
          <a:lstStyle/>
          <a:p>
            <a:pPr indent="0" marL="0">
              <a:buNone/>
            </a:pPr>
            <a:r>
              <a:rPr lang="en-US" sz="1300" dirty="0">
                <a:solidFill>
                  <a:srgbClr val="E0E0E0"/>
                </a:solidFill>
              </a:rPr>
              <a:t>Cruce en carriles distintos</a:t>
            </a:r>
            <a:endParaRPr lang="en-US" sz="1300" dirty="0"/>
          </a:p>
        </p:txBody>
      </p:sp>
      <p:sp>
        <p:nvSpPr>
          <p:cNvPr id="23" name="número cierre 3 fondo"/>
          <p:cNvSpPr/>
          <p:nvPr/>
        </p:nvSpPr>
        <p:spPr>
          <a:xfrm>
            <a:off x="4937760" y="2715768"/>
            <a:ext cx="237744" cy="237744"/>
          </a:xfrm>
          <a:prstGeom prst="ellipse">
            <a:avLst/>
          </a:prstGeom>
          <a:solidFill>
            <a:srgbClr val="3E8EF7"/>
          </a:solidFill>
          <a:ln w="12700">
            <a:solidFill>
              <a:srgbClr val="3E8EF7"/>
            </a:solidFill>
            <a:prstDash val="solid"/>
          </a:ln>
        </p:spPr>
      </p:sp>
      <p:sp>
        <p:nvSpPr>
          <p:cNvPr id="24" name="número cierre 3"/>
          <p:cNvSpPr txBox="1"/>
          <p:nvPr/>
        </p:nvSpPr>
        <p:spPr>
          <a:xfrm>
            <a:off x="4937760" y="2715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5" name="resumen pruebas 3"/>
          <p:cNvSpPr txBox="1"/>
          <p:nvPr/>
        </p:nvSpPr>
        <p:spPr>
          <a:xfrm>
            <a:off x="5303520" y="2670048"/>
            <a:ext cx="3200400" cy="365760"/>
          </a:xfrm>
          <a:prstGeom prst="rect">
            <a:avLst/>
          </a:prstGeom>
          <a:noFill/>
          <a:ln/>
        </p:spPr>
        <p:txBody>
          <a:bodyPr wrap="square" lIns="0" tIns="0" rIns="0" bIns="0" rtlCol="0" anchor="ctr"/>
          <a:lstStyle/>
          <a:p>
            <a:pPr indent="0" marL="0">
              <a:buNone/>
            </a:pPr>
            <a:r>
              <a:rPr lang="en-US" sz="1300" dirty="0">
                <a:solidFill>
                  <a:srgbClr val="E0E0E0"/>
                </a:solidFill>
              </a:rPr>
              <a:t>Seguimiento</a:t>
            </a:r>
            <a:endParaRPr lang="en-US" sz="1300" dirty="0"/>
          </a:p>
        </p:txBody>
      </p:sp>
      <p:sp>
        <p:nvSpPr>
          <p:cNvPr id="26" name="número cierre 4 fondo"/>
          <p:cNvSpPr/>
          <p:nvPr/>
        </p:nvSpPr>
        <p:spPr>
          <a:xfrm>
            <a:off x="4937760" y="3227832"/>
            <a:ext cx="237744" cy="237744"/>
          </a:xfrm>
          <a:prstGeom prst="ellipse">
            <a:avLst/>
          </a:prstGeom>
          <a:solidFill>
            <a:srgbClr val="3E8EF7"/>
          </a:solidFill>
          <a:ln w="12700">
            <a:solidFill>
              <a:srgbClr val="3E8EF7"/>
            </a:solidFill>
            <a:prstDash val="solid"/>
          </a:ln>
        </p:spPr>
      </p:sp>
      <p:sp>
        <p:nvSpPr>
          <p:cNvPr id="27" name="número cierre 4"/>
          <p:cNvSpPr txBox="1"/>
          <p:nvPr/>
        </p:nvSpPr>
        <p:spPr>
          <a:xfrm>
            <a:off x="4937760" y="32278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28" name="resumen pruebas 4"/>
          <p:cNvSpPr txBox="1"/>
          <p:nvPr/>
        </p:nvSpPr>
        <p:spPr>
          <a:xfrm>
            <a:off x="5303520" y="3182112"/>
            <a:ext cx="3200400" cy="365760"/>
          </a:xfrm>
          <a:prstGeom prst="rect">
            <a:avLst/>
          </a:prstGeom>
          <a:noFill/>
          <a:ln/>
        </p:spPr>
        <p:txBody>
          <a:bodyPr wrap="square" lIns="0" tIns="0" rIns="0" bIns="0" rtlCol="0" anchor="ctr"/>
          <a:lstStyle/>
          <a:p>
            <a:pPr indent="0" marL="0">
              <a:buNone/>
            </a:pPr>
            <a:r>
              <a:rPr lang="en-US" sz="1300" dirty="0">
                <a:solidFill>
                  <a:srgbClr val="E0E0E0"/>
                </a:solidFill>
              </a:rPr>
              <a:t>Cruce en intersección</a:t>
            </a:r>
            <a:endParaRPr lang="en-US" sz="1300" dirty="0"/>
          </a:p>
        </p:txBody>
      </p:sp>
      <p:sp>
        <p:nvSpPr>
          <p:cNvPr id="29" name="número cierre 5 fondo"/>
          <p:cNvSpPr/>
          <p:nvPr/>
        </p:nvSpPr>
        <p:spPr>
          <a:xfrm>
            <a:off x="4937760" y="3739896"/>
            <a:ext cx="237744" cy="237744"/>
          </a:xfrm>
          <a:prstGeom prst="ellipse">
            <a:avLst/>
          </a:prstGeom>
          <a:solidFill>
            <a:srgbClr val="0CA30C"/>
          </a:solidFill>
          <a:ln w="12700">
            <a:solidFill>
              <a:srgbClr val="0CA30C"/>
            </a:solidFill>
            <a:prstDash val="solid"/>
          </a:ln>
        </p:spPr>
      </p:sp>
      <p:sp>
        <p:nvSpPr>
          <p:cNvPr id="30" name="número cierre 5"/>
          <p:cNvSpPr txBox="1"/>
          <p:nvPr/>
        </p:nvSpPr>
        <p:spPr>
          <a:xfrm>
            <a:off x="4937760" y="37398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31" name="resumen pruebas 5"/>
          <p:cNvSpPr txBox="1"/>
          <p:nvPr/>
        </p:nvSpPr>
        <p:spPr>
          <a:xfrm>
            <a:off x="5303520" y="3694176"/>
            <a:ext cx="3200400" cy="365760"/>
          </a:xfrm>
          <a:prstGeom prst="rect">
            <a:avLst/>
          </a:prstGeom>
          <a:noFill/>
          <a:ln/>
        </p:spPr>
        <p:txBody>
          <a:bodyPr wrap="square" lIns="0" tIns="0" rIns="0" bIns="0" rtlCol="0" anchor="ctr"/>
          <a:lstStyle/>
          <a:p>
            <a:pPr indent="0" marL="0">
              <a:buNone/>
            </a:pPr>
            <a:r>
              <a:rPr lang="en-US" sz="1300" dirty="0">
                <a:solidFill>
                  <a:srgbClr val="E0E0E0"/>
                </a:solidFill>
              </a:rPr>
              <a:t>Recta: validación final</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orsaCore Oscuro">
  <a:themeElements>
    <a:clrScheme name="TorsaCore Oscuro">
      <a:dk1>
        <a:srgbClr val="FFFFFF"/>
      </a:dk1>
      <a:lt1>
        <a:srgbClr val="0F0F0F"/>
      </a:lt1>
      <a:dk2>
        <a:srgbClr val="E0E0E0"/>
      </a:dk2>
      <a:lt2>
        <a:srgbClr val="1A1A1A"/>
      </a:lt2>
      <a:accent1>
        <a:srgbClr val="3E8EF7"/>
      </a:accent1>
      <a:accent2>
        <a:srgbClr val="D40019"/>
      </a:accent2>
      <a:accent3>
        <a:srgbClr val="0CA30C"/>
      </a:accent3>
      <a:accent4>
        <a:srgbClr val="FAB219"/>
      </a:accent4>
      <a:accent5>
        <a:srgbClr val="D03B3B"/>
      </a:accent5>
      <a:accent6>
        <a:srgbClr val="999999"/>
      </a:accent6>
      <a:hlink>
        <a:srgbClr val="6BA6FF"/>
      </a:hlink>
      <a:folHlink>
        <a:srgbClr val="6BA6FF"/>
      </a:folHlink>
    </a:clrScheme>
    <a:fontScheme name="TorsaCore Oscu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TORSA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Pruebas de campo Madrid: seguridad y plan de pruebas</dc:title>
  <dc:subject>PptxGenJS Presentation</dc:subject>
  <dc:creator>TORSA</dc:creator>
  <cp:lastModifiedBy>TORSA</cp:lastModifiedBy>
  <cp:revision>1</cp:revision>
  <dcterms:created xsi:type="dcterms:W3CDTF">2026-10-04T12:25:41Z</dcterms:created>
  <dcterms:modified xsi:type="dcterms:W3CDTF">2026-10-04T12:25:41Z</dcterms:modified>
</cp:coreProperties>
</file>