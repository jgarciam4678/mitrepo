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4c5e42bd-30b0-a113-5666-d356990ef848}">
          <p14:sldIdLst>
            <p14:sldId id="256"/>
            <p14:sldId id="257"/>
          </p14:sldIdLst>
        </p14:section>
        <p14:section name="Seguridad en la zona de pruebas" id="{13995984-a3f6-f2e9-12da-689aa8c51d08}">
          <p14:sldIdLst>
            <p14:sldId id="258"/>
            <p14:sldId id="259"/>
            <p14:sldId id="260"/>
            <p14:sldId id="261"/>
            <p14:sldId id="262"/>
            <p14:sldId id="263"/>
            <p14:sldId id="264"/>
          </p14:sldIdLst>
        </p14:section>
        <p14:section name="Plan de pruebas" id="{a98947f2-7569-c615-f537-16883670a8d9}">
          <p14:sldIdLst>
            <p14:sldId id="265"/>
            <p14:sldId id="266"/>
            <p14:sldId id="267"/>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Antes de empezar con las pruebas, repasamos las normas de seguridad de la zona y después explicamos las cinco pruebas que vamos a realizar.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partes: primero la seguridad, que es lo que condiciona todo lo demás; después, qué productos se demuestran y las cinco pruebas en el orden en que se van a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con las pruebas, las normas de seguridad para quienes no son personal de campo.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a quienes no son personal de campo se les entrega un chaleco reflectante de alta visibilidad. No se lo pueden quitar en ningún momento dentro de la zona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zona de pruebas está delimitada. El acceso es siempre caminando, por el paso peatonal señalizado. No se pueden situar fuera del área delimitada, porque es la zona por donde pasan los camiones. El plano es orientativo: en campo se señala la zona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ha dispuesto una carpa, tanto para protección del sol como, en este caso por el pronóstico de lluvia, de la lluvia. Es donde se sitúan cuando no se están desplazando. No se espera en ningún otro lugar durante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en algún momento van a entrar a la zona de pruebas para subir a un camión, siempre tienen que avisar a cualquiera de los supervisores (Hugo Negreyros, Sergio García o Juan Carlos Delgado). Se acercan a un punto prudente del camión, siempre y cuando esté detenido, le indican al conductor que van a acercarse y no se acercan hasta que el conductor lo apruebe.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Cualquier cosa relacionada con el acceso a la zona se avisa siempre, antes de hacerla. Los supervisores en pista son Hugo Negreyros, Sergio García y Juan Carlos Delgado.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 las cinco reglas antes de pasar a las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realizará una secuencia de cinco pruebas con los productos de Operación Aumentada instalados en los camiones.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Portafolio de Operación Aumentada (lámina 11 de la presentación corporativa). En esta prueba se demuestran cuatro productos instalados en los camiones: CMS (análisis de interacción), ISA (intervención), Whole Body Vibration Monitor (condiciones del operador) y FAS (fatiga).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todas las pruebas se respeta el carril de cada camión, para que la interacción sea segura: no hay enfrentamientos directos y se dejan espacios para que cada camión maniobre. Ante cualquier imprevisto, la prueba se detiene. Las pruebas, en orden: enfrentamiento, cruce en diferentes carriles, seguimiento, cruce en intersección y, finalmente, una prueba recta para la validación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enfrentamiento: los camiones se aproximan de frente, cada uno en su carril. Se respeta el carril de cada camión para que la interacción sea segura, sin enfrentamiento directo.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diferentes carriles: los camiones se cruzan circulando en sentidos opuestos, cada uno por su carril.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seguimiento: un camión circula detrás del otro, en el mismo carril y sentido, manteniendo distancia de seguridad.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 de cruce en intersección: un camión llega por la vía transversal mientras el otro circula recto. Se define quién tiene prioridad y dónde se detiene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Finalmente, una prueba recta para hacer la validación final del sistema. Confirmar con el equipo técnico qué se valida exactamente en esta prueba (el audio original no era claro en este punto); se propone usarla para validar WBV Monitor y FAS en marcha, sin interacción entre camiones.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resolver dudas antes de entregar los chalecos y entrar a la zona. Supervisores: Hugo Negreyros, Sergio García y Juan Carlos Delgado.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ONTENIDO-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1C2C">
              <a:alpha val="78000"/>
            </a:srgbClr>
          </a:solidFill>
          <a:ln/>
        </p:spPr>
      </p:sp>
      <p:pic>
        <p:nvPicPr>
          <p:cNvPr id="3" name="Image 0" descr="/tmp/claude-0/-home-user-MITREPO/21d91df9-1cfc-5dbc-823a-a27b9a33fab4/scratchpad/deck/logo_torsa_user.png">    </p:cNvPr>
          <p:cNvPicPr>
            <a:picLocks noChangeAspect="1"/>
          </p:cNvPicPr>
          <p:nvPr/>
        </p:nvPicPr>
        <p:blipFill>
          <a:blip r:embed="rId1"/>
          <a:stretch>
            <a:fillRect/>
          </a:stretch>
        </p:blipFill>
        <p:spPr>
          <a:xfrm>
            <a:off x="548640" y="457200"/>
            <a:ext cx="1280160" cy="346563"/>
          </a:xfrm>
          <a:prstGeom prst="rect">
            <a:avLst/>
          </a:prstGeom>
        </p:spPr>
      </p:pic>
      <p:sp>
        <p:nvSpPr>
          <p:cNvPr id="4" name="Text 1"/>
          <p:cNvSpPr/>
          <p:nvPr/>
        </p:nvSpPr>
        <p:spPr>
          <a:xfrm>
            <a:off x="548640" y="4526280"/>
            <a:ext cx="3657600" cy="274320"/>
          </a:xfrm>
          <a:prstGeom prst="rect">
            <a:avLst/>
          </a:prstGeom>
          <a:noFill/>
          <a:ln/>
        </p:spPr>
        <p:txBody>
          <a:bodyPr wrap="square" lIns="0" tIns="0" rIns="0" bIns="0" rtlCol="0" anchor="ctr"/>
          <a:lstStyle/>
          <a:p>
            <a:pPr indent="0" marL="0">
              <a:buNone/>
            </a:pPr>
            <a:r>
              <a:rPr lang="en-US" sz="1000" dirty="0">
                <a:solidFill>
                  <a:srgbClr val="FFFFFF"/>
                </a:solidFill>
              </a:rPr>
              <a:t>Built by us, shaped for you</a:t>
            </a:r>
            <a:endParaRPr lang="en-US" sz="1000" dirty="0"/>
          </a:p>
        </p:txBody>
      </p:sp>
      <p:sp>
        <p:nvSpPr>
          <p:cNvPr id="5" name="Text 2"/>
          <p:cNvSpPr/>
          <p:nvPr>
            <p:ph idx="103" type="title" hasCustomPrompt="1"/>
          </p:nvPr>
        </p:nvSpPr>
        <p:spPr>
          <a:xfrm>
            <a:off x="548640" y="1737360"/>
            <a:ext cx="8046720" cy="173736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6" name="Text 2"/>
          <p:cNvSpPr/>
          <p:nvPr>
            <p:ph idx="104" type="body" hasCustomPrompt="1"/>
          </p:nvPr>
        </p:nvSpPr>
        <p:spPr>
          <a:xfrm>
            <a:off x="548640" y="3520440"/>
            <a:ext cx="8046720" cy="457200"/>
          </a:xfrm>
          <a:prstGeom prst="rect">
            <a:avLst/>
          </a:prstGeom>
          <a:noFill/>
          <a:ln/>
        </p:spPr>
        <p:txBody>
          <a:bodyPr wrap="square" rtlCol="0"/>
          <a:lstStyle>
            <a:lvl1pPr algn="l" indent="0" marL="0">
              <a:buNone/>
              <a:defRPr lang="en-US" sz="1600" dirty="0">
                <a:solidFill>
                  <a:srgbClr val="FFFFFF"/>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ITREPO/21d91df9-1cfc-5dbc-823a-a27b9a33fab4/scratchpad/deck/corp/logo_dark.png">    </p:cNvPr>
          <p:cNvPicPr>
            <a:picLocks noChangeAspect="1"/>
          </p:cNvPicPr>
          <p:nvPr/>
        </p:nvPicPr>
        <p:blipFill>
          <a:blip r:embed="rId1"/>
          <a:stretch>
            <a:fillRect/>
          </a:stretch>
        </p:blipFill>
        <p:spPr>
          <a:xfrm>
            <a:off x="457200" y="292608"/>
            <a:ext cx="1143000" cy="307279"/>
          </a:xfrm>
          <a:prstGeom prst="rect">
            <a:avLst/>
          </a:prstGeom>
        </p:spPr>
      </p:pic>
      <p:sp>
        <p:nvSpPr>
          <p:cNvPr id="3" name="Text 0"/>
          <p:cNvSpPr/>
          <p:nvPr/>
        </p:nvSpPr>
        <p:spPr>
          <a:xfrm>
            <a:off x="457200" y="4709160"/>
            <a:ext cx="3200400" cy="274320"/>
          </a:xfrm>
          <a:prstGeom prst="rect">
            <a:avLst/>
          </a:prstGeom>
          <a:noFill/>
          <a:ln/>
        </p:spPr>
        <p:txBody>
          <a:bodyPr wrap="square" lIns="0" tIns="0" rIns="0" bIns="0" rtlCol="0" anchor="ctr"/>
          <a:lstStyle/>
          <a:p>
            <a:pPr indent="0" marL="0">
              <a:buNone/>
            </a:pPr>
            <a:r>
              <a:rPr lang="en-US" sz="900" dirty="0">
                <a:solidFill>
                  <a:srgbClr val="B5B5B5"/>
                </a:solidFill>
              </a:rPr>
              <a:t>Built by us, shaped for you</a:t>
            </a:r>
            <a:endParaRPr lang="en-US" sz="9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slideLayout" Target="../slideLayouts/slideLayout3.xml"/><Relationship Id="rId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3.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slideLayout" Target="../slideLayouts/slideLayout3.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3.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3.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3" type="title" hasCustomPrompt="1"/>
          </p:nvPr>
        </p:nvSpPr>
        <p:spPr>
          <a:xfrm>
            <a:off x="548640" y="1737360"/>
            <a:ext cx="8046720" cy="1737360"/>
          </a:xfrm>
          <a:prstGeom prst="rect">
            <a:avLst/>
          </a:prstGeom>
          <a:noFill/>
          <a:ln/>
        </p:spPr>
        <p:txBody>
          <a:bodyPr wrap="square" lIns="0" tIns="0" rIns="0" bIns="0" rtlCol="0" anchor="b"/>
          <a:lstStyle/>
          <a:p>
            <a:pPr algn="l" indent="0" marL="0">
              <a:buNone/>
            </a:pPr>
            <a:r>
              <a:rPr lang="en-US" sz="4000" b="1" dirty="0">
                <a:solidFill>
                  <a:srgbClr val="FFFFFF"/>
                </a:solidFill>
              </a:rPr>
              <a:t>PRUEBAS DE CAMPO</a:t>
            </a:r>
            <a:endParaRPr lang="en-US" sz="4000" dirty="0"/>
          </a:p>
          <a:p>
            <a:pPr algn="l" indent="0" marL="0">
              <a:buNone/>
            </a:pPr>
            <a:r>
              <a:rPr lang="en-US" sz="4000" b="1" dirty="0">
                <a:solidFill>
                  <a:srgbClr val="FFFFFF"/>
                </a:solidFill>
              </a:rPr>
              <a:t>MADRID</a:t>
            </a:r>
            <a:endParaRPr lang="en-US" sz="4000" dirty="0"/>
          </a:p>
        </p:txBody>
      </p:sp>
      <p:sp>
        <p:nvSpPr>
          <p:cNvPr id="3" name="Text 2"/>
          <p:cNvSpPr/>
          <p:nvPr>
            <p:ph idx="104" type="body" hasCustomPrompt="1"/>
          </p:nvPr>
        </p:nvSpPr>
        <p:spPr>
          <a:xfrm>
            <a:off x="548640" y="3520440"/>
            <a:ext cx="8046720" cy="457200"/>
          </a:xfrm>
          <a:prstGeom prst="rect">
            <a:avLst/>
          </a:prstGeom>
          <a:noFill/>
          <a:ln/>
        </p:spPr>
        <p:txBody>
          <a:bodyPr wrap="square" lIns="0" tIns="0" rIns="0" bIns="0" rtlCol="0" anchor="t"/>
          <a:lstStyle/>
          <a:p>
            <a:pPr algn="l" indent="0" marL="0">
              <a:buNone/>
            </a:pPr>
            <a:r>
              <a:rPr lang="en-US" sz="1600" dirty="0">
                <a:solidFill>
                  <a:srgbClr val="FFFFFF"/>
                </a:solidFill>
              </a:rPr>
              <a:t>Briefing de seguridad y plan de pruebas · Operación Aumentada · Octubre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QUÉ VAMOS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A VER</a:t>
            </a:r>
            <a:endParaRPr lang="en-US" sz="2000" dirty="0"/>
          </a:p>
        </p:txBody>
      </p:sp>
      <p:sp>
        <p:nvSpPr>
          <p:cNvPr id="3" name="bloque 01"/>
          <p:cNvSpPr/>
          <p:nvPr/>
        </p:nvSpPr>
        <p:spPr>
          <a:xfrm>
            <a:off x="457200" y="1097280"/>
            <a:ext cx="4023360" cy="3383280"/>
          </a:xfrm>
          <a:prstGeom prst="rect">
            <a:avLst/>
          </a:prstGeom>
          <a:solidFill>
            <a:srgbClr val="FFFFFF"/>
          </a:solidFill>
          <a:ln w="9525">
            <a:solidFill>
              <a:srgbClr val="E3E3E3"/>
            </a:solidFill>
            <a:prstDash val="solid"/>
          </a:ln>
        </p:spPr>
      </p:sp>
      <p:pic>
        <p:nvPicPr>
          <p:cNvPr id="4" name="icono 01" descr="preencoded.png">    </p:cNvPr>
          <p:cNvPicPr>
            <a:picLocks noChangeAspect="1"/>
          </p:cNvPicPr>
          <p:nvPr/>
        </p:nvPicPr>
        <p:blipFill>
          <a:blip r:embed="rId1"/>
          <a:stretch>
            <a:fillRect/>
          </a:stretch>
        </p:blipFill>
        <p:spPr>
          <a:xfrm>
            <a:off x="731520" y="1325880"/>
            <a:ext cx="457200" cy="457200"/>
          </a:xfrm>
          <a:prstGeom prst="rect">
            <a:avLst/>
          </a:prstGeom>
        </p:spPr>
      </p:pic>
      <p:sp>
        <p:nvSpPr>
          <p:cNvPr id="5" name="número 01"/>
          <p:cNvSpPr txBox="1"/>
          <p:nvPr/>
        </p:nvSpPr>
        <p:spPr>
          <a:xfrm>
            <a:off x="1371600" y="1298448"/>
            <a:ext cx="548640" cy="228600"/>
          </a:xfrm>
          <a:prstGeom prst="rect">
            <a:avLst/>
          </a:prstGeom>
          <a:noFill/>
          <a:ln/>
        </p:spPr>
        <p:txBody>
          <a:bodyPr wrap="square" lIns="0" tIns="0" rIns="0" bIns="0" rtlCol="0" anchor="t"/>
          <a:lstStyle/>
          <a:p>
            <a:pPr indent="0" marL="0">
              <a:buNone/>
            </a:pPr>
            <a:r>
              <a:rPr lang="en-US" sz="1000" b="1" dirty="0">
                <a:solidFill>
                  <a:srgbClr val="D40319"/>
                </a:solidFill>
                <a:latin typeface="Montserrat" pitchFamily="34" charset="0"/>
                <a:ea typeface="Montserrat" pitchFamily="34" charset="-122"/>
                <a:cs typeface="Montserrat" pitchFamily="34" charset="-120"/>
              </a:rPr>
              <a:t>01</a:t>
            </a:r>
            <a:endParaRPr lang="en-US" sz="1000" dirty="0"/>
          </a:p>
        </p:txBody>
      </p:sp>
      <p:sp>
        <p:nvSpPr>
          <p:cNvPr id="6" name="título 01"/>
          <p:cNvSpPr txBox="1"/>
          <p:nvPr/>
        </p:nvSpPr>
        <p:spPr>
          <a:xfrm>
            <a:off x="1371600" y="1508760"/>
            <a:ext cx="2926080" cy="457200"/>
          </a:xfrm>
          <a:prstGeom prst="rect">
            <a:avLst/>
          </a:prstGeom>
          <a:noFill/>
          <a:ln/>
        </p:spPr>
        <p:txBody>
          <a:bodyPr wrap="square" lIns="0" tIns="0" rIns="0" bIns="0" rtlCol="0" anchor="t"/>
          <a:lstStyle/>
          <a:p>
            <a:pPr indent="0" marL="0">
              <a:buNone/>
            </a:pPr>
            <a:r>
              <a:rPr lang="en-US" sz="1300" b="1" dirty="0">
                <a:solidFill>
                  <a:srgbClr val="0F1C2C"/>
                </a:solidFill>
                <a:latin typeface="Montserrat" pitchFamily="34" charset="0"/>
                <a:ea typeface="Montserrat" pitchFamily="34" charset="-122"/>
                <a:cs typeface="Montserrat" pitchFamily="34" charset="-120"/>
              </a:rPr>
              <a:t>SEGURIDAD EN LA ZONA DE PRUEBAS</a:t>
            </a:r>
            <a:endParaRPr lang="en-US" sz="1300" dirty="0"/>
          </a:p>
        </p:txBody>
      </p:sp>
      <p:sp>
        <p:nvSpPr>
          <p:cNvPr id="7" name="descripción 01"/>
          <p:cNvSpPr txBox="1"/>
          <p:nvPr/>
        </p:nvSpPr>
        <p:spPr>
          <a:xfrm>
            <a:off x="731520" y="2057400"/>
            <a:ext cx="3474720" cy="457200"/>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Cinco reglas que se cumplen en todo momento mientras estemos en la zona.</a:t>
            </a:r>
            <a:endParaRPr lang="en-US" sz="1100" dirty="0"/>
          </a:p>
        </p:txBody>
      </p:sp>
      <p:sp>
        <p:nvSpPr>
          <p:cNvPr id="8" name="lista 01"/>
          <p:cNvSpPr txBox="1"/>
          <p:nvPr/>
        </p:nvSpPr>
        <p:spPr>
          <a:xfrm>
            <a:off x="731520" y="2606040"/>
            <a:ext cx="3474720" cy="178308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Chaleco de alta visibilidad</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Zona delimitada y acceso a pie</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Carpa: punto de espera</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Cómo acercarse a un camión</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Avisar siempre a un supervisor</a:t>
            </a:r>
            <a:endParaRPr lang="en-US" sz="1150" dirty="0"/>
          </a:p>
        </p:txBody>
      </p:sp>
      <p:sp>
        <p:nvSpPr>
          <p:cNvPr id="9" name="bloque 02"/>
          <p:cNvSpPr/>
          <p:nvPr/>
        </p:nvSpPr>
        <p:spPr>
          <a:xfrm>
            <a:off x="4663440" y="1097280"/>
            <a:ext cx="4023360" cy="3383280"/>
          </a:xfrm>
          <a:prstGeom prst="rect">
            <a:avLst/>
          </a:prstGeom>
          <a:solidFill>
            <a:srgbClr val="FFFFFF"/>
          </a:solidFill>
          <a:ln w="9525">
            <a:solidFill>
              <a:srgbClr val="E3E3E3"/>
            </a:solidFill>
            <a:prstDash val="solid"/>
          </a:ln>
        </p:spPr>
      </p:sp>
      <p:pic>
        <p:nvPicPr>
          <p:cNvPr id="10" name="icono 02" descr="preencoded.png">    </p:cNvPr>
          <p:cNvPicPr>
            <a:picLocks noChangeAspect="1"/>
          </p:cNvPicPr>
          <p:nvPr/>
        </p:nvPicPr>
        <p:blipFill>
          <a:blip r:embed="rId2"/>
          <a:stretch>
            <a:fillRect/>
          </a:stretch>
        </p:blipFill>
        <p:spPr>
          <a:xfrm>
            <a:off x="4937760" y="1325880"/>
            <a:ext cx="457200" cy="457200"/>
          </a:xfrm>
          <a:prstGeom prst="rect">
            <a:avLst/>
          </a:prstGeom>
        </p:spPr>
      </p:pic>
      <p:sp>
        <p:nvSpPr>
          <p:cNvPr id="11" name="número 02"/>
          <p:cNvSpPr txBox="1"/>
          <p:nvPr/>
        </p:nvSpPr>
        <p:spPr>
          <a:xfrm>
            <a:off x="5577840" y="1298448"/>
            <a:ext cx="548640" cy="228600"/>
          </a:xfrm>
          <a:prstGeom prst="rect">
            <a:avLst/>
          </a:prstGeom>
          <a:noFill/>
          <a:ln/>
        </p:spPr>
        <p:txBody>
          <a:bodyPr wrap="square" lIns="0" tIns="0" rIns="0" bIns="0" rtlCol="0" anchor="t"/>
          <a:lstStyle/>
          <a:p>
            <a:pPr indent="0" marL="0">
              <a:buNone/>
            </a:pPr>
            <a:r>
              <a:rPr lang="en-US" sz="1000" b="1" dirty="0">
                <a:solidFill>
                  <a:srgbClr val="D40319"/>
                </a:solidFill>
                <a:latin typeface="Montserrat" pitchFamily="34" charset="0"/>
                <a:ea typeface="Montserrat" pitchFamily="34" charset="-122"/>
                <a:cs typeface="Montserrat" pitchFamily="34" charset="-120"/>
              </a:rPr>
              <a:t>02</a:t>
            </a:r>
            <a:endParaRPr lang="en-US" sz="1000" dirty="0"/>
          </a:p>
        </p:txBody>
      </p:sp>
      <p:sp>
        <p:nvSpPr>
          <p:cNvPr id="12" name="título 02"/>
          <p:cNvSpPr txBox="1"/>
          <p:nvPr/>
        </p:nvSpPr>
        <p:spPr>
          <a:xfrm>
            <a:off x="5577840" y="1508760"/>
            <a:ext cx="2926080" cy="457200"/>
          </a:xfrm>
          <a:prstGeom prst="rect">
            <a:avLst/>
          </a:prstGeom>
          <a:noFill/>
          <a:ln/>
        </p:spPr>
        <p:txBody>
          <a:bodyPr wrap="square" lIns="0" tIns="0" rIns="0" bIns="0" rtlCol="0" anchor="t"/>
          <a:lstStyle/>
          <a:p>
            <a:pPr indent="0" marL="0">
              <a:buNone/>
            </a:pPr>
            <a:r>
              <a:rPr lang="en-US" sz="1300" b="1" dirty="0">
                <a:solidFill>
                  <a:srgbClr val="0F1C2C"/>
                </a:solidFill>
                <a:latin typeface="Montserrat" pitchFamily="34" charset="0"/>
                <a:ea typeface="Montserrat" pitchFamily="34" charset="-122"/>
                <a:cs typeface="Montserrat" pitchFamily="34" charset="-120"/>
              </a:rPr>
              <a:t>PLAN DE PRUEBAS</a:t>
            </a:r>
            <a:endParaRPr lang="en-US" sz="1300" dirty="0"/>
          </a:p>
        </p:txBody>
      </p:sp>
      <p:sp>
        <p:nvSpPr>
          <p:cNvPr id="13" name="descripción 02"/>
          <p:cNvSpPr txBox="1"/>
          <p:nvPr/>
        </p:nvSpPr>
        <p:spPr>
          <a:xfrm>
            <a:off x="4937760" y="2057400"/>
            <a:ext cx="3474720" cy="457200"/>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Qué productos se demuestran y las cinco pruebas, en orden, con dos camiones.</a:t>
            </a:r>
            <a:endParaRPr lang="en-US" sz="1100" dirty="0"/>
          </a:p>
        </p:txBody>
      </p:sp>
      <p:sp>
        <p:nvSpPr>
          <p:cNvPr id="14" name="lista 02"/>
          <p:cNvSpPr txBox="1"/>
          <p:nvPr/>
        </p:nvSpPr>
        <p:spPr>
          <a:xfrm>
            <a:off x="4937760" y="2606040"/>
            <a:ext cx="3474720" cy="178308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Productos en la prueba: CMS, ISA, WBV Monitor y FAS</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Enfrentamiento</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Cruce en carriles distintos</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Seguimiento</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Cruce en intersección</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Recta: validación final</a:t>
            </a:r>
            <a:endParaRPr lang="en-US" sz="11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48640" y="1737360"/>
            <a:ext cx="8046720" cy="1737360"/>
          </a:xfrm>
          <a:prstGeom prst="rect">
            <a:avLst/>
          </a:prstGeom>
          <a:noFill/>
          <a:ln/>
        </p:spPr>
        <p:txBody>
          <a:bodyPr wrap="square" lIns="0" tIns="0" rIns="0" bIns="0" rtlCol="0" anchor="b"/>
          <a:lstStyle/>
          <a:p>
            <a:pPr algn="l" indent="0" marL="0">
              <a:buNone/>
            </a:pPr>
            <a:r>
              <a:rPr lang="en-US" sz="4000" b="1" dirty="0">
                <a:solidFill>
                  <a:srgbClr val="FFFFFF"/>
                </a:solidFill>
              </a:rPr>
              <a:t>SEGURIDAD EN LA</a:t>
            </a:r>
            <a:endParaRPr lang="en-US" sz="4000" dirty="0"/>
          </a:p>
          <a:p>
            <a:pPr algn="l" indent="0" marL="0">
              <a:buNone/>
            </a:pPr>
            <a:r>
              <a:rPr lang="en-US" sz="4000" b="1" dirty="0">
                <a:solidFill>
                  <a:srgbClr val="FFFFFF"/>
                </a:solidFill>
              </a:rPr>
              <a:t>ZONA DE PRUEBAS</a:t>
            </a:r>
            <a:endParaRPr lang="en-US" sz="4000" dirty="0"/>
          </a:p>
        </p:txBody>
      </p:sp>
      <p:sp>
        <p:nvSpPr>
          <p:cNvPr id="3" name="Text 2"/>
          <p:cNvSpPr/>
          <p:nvPr>
            <p:ph idx="104" type="body" hasCustomPrompt="1"/>
          </p:nvPr>
        </p:nvSpPr>
        <p:spPr>
          <a:xfrm>
            <a:off x="548640" y="3520440"/>
            <a:ext cx="8046720" cy="457200"/>
          </a:xfrm>
          <a:prstGeom prst="rect">
            <a:avLst/>
          </a:prstGeom>
          <a:noFill/>
          <a:ln/>
        </p:spPr>
        <p:txBody>
          <a:bodyPr wrap="square" lIns="0" tIns="0" rIns="0" bIns="0" rtlCol="0" anchor="t"/>
          <a:lstStyle/>
          <a:p>
            <a:pPr algn="l" indent="0" marL="0">
              <a:buNone/>
            </a:pPr>
            <a:r>
              <a:rPr lang="en-US" sz="1600" dirty="0">
                <a:solidFill>
                  <a:srgbClr val="FFFFFF"/>
                </a:solidFill>
              </a:rPr>
              <a:t>Cinco reglas que se cumplen en todo momento. Ninguna admite excepciones.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CHALECO DE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ALTA VISIBILIDAD</a:t>
            </a:r>
            <a:endParaRPr lang="en-US" sz="2000" dirty="0"/>
          </a:p>
        </p:txBody>
      </p:sp>
      <p:sp>
        <p:nvSpPr>
          <p:cNvPr id="3" name="chip regl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regl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REGLA 1 DE 5</a:t>
            </a:r>
            <a:endParaRPr lang="en-US" sz="850" dirty="0"/>
          </a:p>
        </p:txBody>
      </p:sp>
      <p:pic>
        <p:nvPicPr>
          <p:cNvPr id="5" name="icono regla" descr="preencoded.png">    </p:cNvPr>
          <p:cNvPicPr>
            <a:picLocks noChangeAspect="1"/>
          </p:cNvPicPr>
          <p:nvPr/>
        </p:nvPicPr>
        <p:blipFill>
          <a:blip r:embed="rId1"/>
          <a:stretch>
            <a:fillRect/>
          </a:stretch>
        </p:blipFill>
        <p:spPr>
          <a:xfrm>
            <a:off x="457200" y="1234440"/>
            <a:ext cx="640080" cy="640080"/>
          </a:xfrm>
          <a:prstGeom prst="rect">
            <a:avLst/>
          </a:prstGeom>
        </p:spPr>
      </p:pic>
      <p:sp>
        <p:nvSpPr>
          <p:cNvPr id="6" name="mensaje principal"/>
          <p:cNvSpPr txBox="1"/>
          <p:nvPr/>
        </p:nvSpPr>
        <p:spPr>
          <a:xfrm>
            <a:off x="1325880" y="1188720"/>
            <a:ext cx="4206240" cy="822960"/>
          </a:xfrm>
          <a:prstGeom prst="rect">
            <a:avLst/>
          </a:prstGeom>
          <a:noFill/>
          <a:ln/>
        </p:spPr>
        <p:txBody>
          <a:bodyPr wrap="square" lIns="0" tIns="0" rIns="0" bIns="0" rtlCol="0" anchor="ctr"/>
          <a:lstStyle/>
          <a:p>
            <a:pPr indent="0" marL="0">
              <a:buNone/>
            </a:pPr>
            <a:r>
              <a:rPr lang="en-US" sz="1600" b="1" dirty="0">
                <a:solidFill>
                  <a:srgbClr val="0F1C2C"/>
                </a:solidFill>
                <a:latin typeface="Montserrat" pitchFamily="34" charset="0"/>
                <a:ea typeface="Montserrat" pitchFamily="34" charset="-122"/>
                <a:cs typeface="Montserrat" pitchFamily="34" charset="-120"/>
              </a:rPr>
              <a:t>Se entrega un chaleco reflectante a cada asistente antes de entrar.</a:t>
            </a:r>
            <a:endParaRPr lang="en-US" sz="1600" dirty="0"/>
          </a:p>
        </p:txBody>
      </p:sp>
      <p:sp>
        <p:nvSpPr>
          <p:cNvPr id="7" name="puntos regla"/>
          <p:cNvSpPr txBox="1"/>
          <p:nvPr/>
        </p:nvSpPr>
        <p:spPr>
          <a:xfrm>
            <a:off x="457200" y="2240280"/>
            <a:ext cx="5029200"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Se lleva puesto desde que se entra en la zona de pruebas.</a:t>
            </a:r>
            <a:endParaRPr lang="en-US" sz="1250" dirty="0"/>
          </a:p>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No se retira en ningún momento mientras se esté dentro de la zona.</a:t>
            </a:r>
            <a:endParaRPr lang="en-US" sz="1250" dirty="0"/>
          </a:p>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Si alguien no tiene chaleco, no accede a la zona.</a:t>
            </a:r>
            <a:endParaRPr lang="en-US" sz="1250" dirty="0"/>
          </a:p>
        </p:txBody>
      </p:sp>
      <p:sp>
        <p:nvSpPr>
          <p:cNvPr id="8" name="panel lateral"/>
          <p:cNvSpPr/>
          <p:nvPr/>
        </p:nvSpPr>
        <p:spPr>
          <a:xfrm>
            <a:off x="5852160" y="1097280"/>
            <a:ext cx="2834640" cy="3383280"/>
          </a:xfrm>
          <a:prstGeom prst="rect">
            <a:avLst/>
          </a:prstGeom>
          <a:solidFill>
            <a:srgbClr val="F4F4F4"/>
          </a:solidFill>
          <a:ln w="9525">
            <a:solidFill>
              <a:srgbClr val="E3E3E3"/>
            </a:solidFill>
            <a:prstDash val="solid"/>
          </a:ln>
        </p:spPr>
      </p:sp>
      <p:sp>
        <p:nvSpPr>
          <p:cNvPr id="9" name="etiqueta lateral"/>
          <p:cNvSpPr txBox="1"/>
          <p:nvPr/>
        </p:nvSpPr>
        <p:spPr>
          <a:xfrm>
            <a:off x="6126480" y="1298448"/>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POR QUÉ</a:t>
            </a:r>
            <a:endParaRPr lang="en-US" sz="800" dirty="0"/>
          </a:p>
        </p:txBody>
      </p:sp>
      <p:pic>
        <p:nvPicPr>
          <p:cNvPr id="10" name="icono lateral" descr="preencoded.png">    </p:cNvPr>
          <p:cNvPicPr>
            <a:picLocks noChangeAspect="1"/>
          </p:cNvPicPr>
          <p:nvPr/>
        </p:nvPicPr>
        <p:blipFill>
          <a:blip r:embed="rId2"/>
          <a:stretch>
            <a:fillRect/>
          </a:stretch>
        </p:blipFill>
        <p:spPr>
          <a:xfrm>
            <a:off x="6126480" y="1600200"/>
            <a:ext cx="457200" cy="457200"/>
          </a:xfrm>
          <a:prstGeom prst="rect">
            <a:avLst/>
          </a:prstGeom>
        </p:spPr>
      </p:pic>
      <p:sp>
        <p:nvSpPr>
          <p:cNvPr id="11" name="texto lateral"/>
          <p:cNvSpPr txBox="1"/>
          <p:nvPr/>
        </p:nvSpPr>
        <p:spPr>
          <a:xfrm>
            <a:off x="6126480" y="2240280"/>
            <a:ext cx="2331720" cy="2103120"/>
          </a:xfrm>
          <a:prstGeom prst="rect">
            <a:avLst/>
          </a:prstGeom>
          <a:noFill/>
          <a:ln/>
        </p:spPr>
        <p:txBody>
          <a:bodyPr wrap="square" lIns="0" tIns="0" rIns="0" bIns="0" rtlCol="0" anchor="t"/>
          <a:lstStyle/>
          <a:p>
            <a:pPr indent="0" marL="0">
              <a:buNone/>
            </a:pPr>
            <a:r>
              <a:rPr lang="en-US" sz="1150" dirty="0">
                <a:solidFill>
                  <a:srgbClr val="5C5C5C"/>
                </a:solidFill>
                <a:latin typeface="Arial" pitchFamily="34" charset="0"/>
                <a:ea typeface="Arial" pitchFamily="34" charset="-122"/>
                <a:cs typeface="Arial" pitchFamily="34" charset="-120"/>
              </a:rPr>
              <a:t>Los conductores de los camiones tienen que poder identificar a todas las personas a distancia, también con lluvia o poca luz. El chaleco es la primera barrera de seguridad.</a:t>
            </a:r>
            <a:endParaRPr lang="en-US" sz="11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ZONA DELIMITADA Y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ACCESO A PIE</a:t>
            </a:r>
            <a:endParaRPr lang="en-US" sz="2000" dirty="0"/>
          </a:p>
        </p:txBody>
      </p:sp>
      <p:sp>
        <p:nvSpPr>
          <p:cNvPr id="3" name="chip regl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regl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REGLA 2 DE 5</a:t>
            </a:r>
            <a:endParaRPr lang="en-US" sz="850" dirty="0"/>
          </a:p>
        </p:txBody>
      </p:sp>
      <p:sp>
        <p:nvSpPr>
          <p:cNvPr id="5" name="plano de la zona"/>
          <p:cNvSpPr/>
          <p:nvPr/>
        </p:nvSpPr>
        <p:spPr>
          <a:xfrm>
            <a:off x="457200" y="1097280"/>
            <a:ext cx="5120640" cy="3383280"/>
          </a:xfrm>
          <a:prstGeom prst="rect">
            <a:avLst/>
          </a:prstGeom>
          <a:solidFill>
            <a:srgbClr val="FFFFFF"/>
          </a:solidFill>
          <a:ln w="9525">
            <a:solidFill>
              <a:srgbClr val="E3E3E3"/>
            </a:solidFill>
            <a:prstDash val="solid"/>
          </a:ln>
        </p:spPr>
      </p:sp>
      <p:sp>
        <p:nvSpPr>
          <p:cNvPr id="6" name="etiqueta plano"/>
          <p:cNvSpPr txBox="1"/>
          <p:nvPr/>
        </p:nvSpPr>
        <p:spPr>
          <a:xfrm>
            <a:off x="731520" y="1261872"/>
            <a:ext cx="36576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PLANO ORIENTATIVO DE LA ZONA</a:t>
            </a:r>
            <a:endParaRPr lang="en-US" sz="800" dirty="0"/>
          </a:p>
        </p:txBody>
      </p:sp>
      <p:sp>
        <p:nvSpPr>
          <p:cNvPr id="7" name="pista"/>
          <p:cNvSpPr/>
          <p:nvPr/>
        </p:nvSpPr>
        <p:spPr>
          <a:xfrm>
            <a:off x="731520" y="1691640"/>
            <a:ext cx="3931920" cy="1463040"/>
          </a:xfrm>
          <a:prstGeom prst="rect">
            <a:avLst/>
          </a:prstGeom>
          <a:solidFill>
            <a:srgbClr val="F2F2F2"/>
          </a:solidFill>
          <a:ln w="12700">
            <a:solidFill>
              <a:srgbClr val="CFCFCF"/>
            </a:solidFill>
            <a:prstDash val="solid"/>
          </a:ln>
        </p:spPr>
      </p:sp>
      <p:sp>
        <p:nvSpPr>
          <p:cNvPr id="8" name="pista división 1"/>
          <p:cNvSpPr/>
          <p:nvPr/>
        </p:nvSpPr>
        <p:spPr>
          <a:xfrm>
            <a:off x="731520" y="2423160"/>
            <a:ext cx="3931920" cy="0"/>
          </a:xfrm>
          <a:prstGeom prst="line">
            <a:avLst/>
          </a:prstGeom>
          <a:noFill/>
          <a:ln w="12700">
            <a:solidFill>
              <a:srgbClr val="9A9A9A"/>
            </a:solidFill>
            <a:prstDash val="dash"/>
          </a:ln>
        </p:spPr>
      </p:sp>
      <p:sp>
        <p:nvSpPr>
          <p:cNvPr id="9" name="rótulo pista"/>
          <p:cNvSpPr txBox="1"/>
          <p:nvPr/>
        </p:nvSpPr>
        <p:spPr>
          <a:xfrm>
            <a:off x="822960" y="1737360"/>
            <a:ext cx="3749040" cy="201168"/>
          </a:xfrm>
          <a:prstGeom prst="rect">
            <a:avLst/>
          </a:prstGeom>
          <a:noFill/>
          <a:ln/>
        </p:spPr>
        <p:txBody>
          <a:bodyPr wrap="square" lIns="0" tIns="0" rIns="0" bIns="0" rtlCol="0" anchor="t"/>
          <a:lstStyle/>
          <a:p>
            <a:pPr indent="0" marL="0">
              <a:buNone/>
            </a:pPr>
            <a:r>
              <a:rPr lang="en-US" sz="800" b="1" spc="150" kern="0" dirty="0">
                <a:solidFill>
                  <a:srgbClr val="8C8C8C"/>
                </a:solidFill>
                <a:latin typeface="Arial" pitchFamily="34" charset="0"/>
                <a:ea typeface="Arial" pitchFamily="34" charset="-122"/>
                <a:cs typeface="Arial" pitchFamily="34" charset="-120"/>
              </a:rPr>
              <a:t>ZONA DE PRUEBAS · PASO DE CAMIONES</a:t>
            </a:r>
            <a:endParaRPr lang="en-US" sz="800" dirty="0"/>
          </a:p>
        </p:txBody>
      </p:sp>
      <p:pic>
        <p:nvPicPr>
          <p:cNvPr id="10" name="camión A plano túnel seguridad" descr="preencoded.png">    </p:cNvPr>
          <p:cNvPicPr>
            <a:picLocks noChangeAspect="1"/>
          </p:cNvPicPr>
          <p:nvPr/>
        </p:nvPicPr>
        <p:blipFill>
          <a:blip r:embed="rId1"/>
          <a:stretch>
            <a:fillRect/>
          </a:stretch>
        </p:blipFill>
        <p:spPr>
          <a:xfrm>
            <a:off x="1993392" y="1927245"/>
            <a:ext cx="228600" cy="351750"/>
          </a:xfrm>
          <a:prstGeom prst="rect">
            <a:avLst/>
          </a:prstGeom>
        </p:spPr>
      </p:pic>
      <p:pic>
        <p:nvPicPr>
          <p:cNvPr id="11" name="camión A plano túnel frenado" descr="preencoded.png">    </p:cNvPr>
          <p:cNvPicPr>
            <a:picLocks noChangeAspect="1"/>
          </p:cNvPicPr>
          <p:nvPr/>
        </p:nvPicPr>
        <p:blipFill>
          <a:blip r:embed="rId2"/>
          <a:stretch>
            <a:fillRect/>
          </a:stretch>
        </p:blipFill>
        <p:spPr>
          <a:xfrm>
            <a:off x="2221992" y="1927245"/>
            <a:ext cx="457200" cy="351750"/>
          </a:xfrm>
          <a:prstGeom prst="rect">
            <a:avLst/>
          </a:prstGeom>
        </p:spPr>
      </p:pic>
      <p:pic>
        <p:nvPicPr>
          <p:cNvPr id="12" name="camión A plano" descr="preencoded.png">    </p:cNvPr>
          <p:cNvPicPr>
            <a:picLocks noChangeAspect="1"/>
          </p:cNvPicPr>
          <p:nvPr/>
        </p:nvPicPr>
        <p:blipFill>
          <a:blip r:embed="rId3"/>
          <a:stretch>
            <a:fillRect/>
          </a:stretch>
        </p:blipFill>
        <p:spPr>
          <a:xfrm>
            <a:off x="1143000" y="1898614"/>
            <a:ext cx="822960" cy="409011"/>
          </a:xfrm>
          <a:prstGeom prst="rect">
            <a:avLst/>
          </a:prstGeom>
        </p:spPr>
      </p:pic>
      <p:sp>
        <p:nvSpPr>
          <p:cNvPr id="13" name="camión A plano etiqueta"/>
          <p:cNvSpPr txBox="1"/>
          <p:nvPr/>
        </p:nvSpPr>
        <p:spPr>
          <a:xfrm>
            <a:off x="1179576" y="189861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A</a:t>
            </a:r>
            <a:endParaRPr lang="en-US" sz="1300" dirty="0"/>
          </a:p>
        </p:txBody>
      </p:sp>
      <p:pic>
        <p:nvPicPr>
          <p:cNvPr id="14" name="camión B plano túnel seguridad" descr="preencoded.png">    </p:cNvPr>
          <p:cNvPicPr>
            <a:picLocks noChangeAspect="1"/>
          </p:cNvPicPr>
          <p:nvPr/>
        </p:nvPicPr>
        <p:blipFill>
          <a:blip r:embed="rId4"/>
          <a:stretch>
            <a:fillRect/>
          </a:stretch>
        </p:blipFill>
        <p:spPr>
          <a:xfrm>
            <a:off x="3172968" y="2613045"/>
            <a:ext cx="228600" cy="351750"/>
          </a:xfrm>
          <a:prstGeom prst="rect">
            <a:avLst/>
          </a:prstGeom>
        </p:spPr>
      </p:pic>
      <p:pic>
        <p:nvPicPr>
          <p:cNvPr id="15" name="camión B plano túnel frenado" descr="preencoded.png">    </p:cNvPr>
          <p:cNvPicPr>
            <a:picLocks noChangeAspect="1"/>
          </p:cNvPicPr>
          <p:nvPr/>
        </p:nvPicPr>
        <p:blipFill>
          <a:blip r:embed="rId5"/>
          <a:stretch>
            <a:fillRect/>
          </a:stretch>
        </p:blipFill>
        <p:spPr>
          <a:xfrm>
            <a:off x="2715768" y="2613045"/>
            <a:ext cx="457200" cy="351750"/>
          </a:xfrm>
          <a:prstGeom prst="rect">
            <a:avLst/>
          </a:prstGeom>
        </p:spPr>
      </p:pic>
      <p:pic>
        <p:nvPicPr>
          <p:cNvPr id="16" name="camión B plano" descr="preencoded.png">    </p:cNvPr>
          <p:cNvPicPr>
            <a:picLocks noChangeAspect="1"/>
          </p:cNvPicPr>
          <p:nvPr/>
        </p:nvPicPr>
        <p:blipFill>
          <a:blip r:embed="rId6"/>
          <a:stretch>
            <a:fillRect/>
          </a:stretch>
        </p:blipFill>
        <p:spPr>
          <a:xfrm>
            <a:off x="3429000" y="2584414"/>
            <a:ext cx="822960" cy="409011"/>
          </a:xfrm>
          <a:prstGeom prst="rect">
            <a:avLst/>
          </a:prstGeom>
        </p:spPr>
      </p:pic>
      <p:sp>
        <p:nvSpPr>
          <p:cNvPr id="17" name="camión B plano etiqueta"/>
          <p:cNvSpPr txBox="1"/>
          <p:nvPr/>
        </p:nvSpPr>
        <p:spPr>
          <a:xfrm>
            <a:off x="3803904" y="258441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B</a:t>
            </a:r>
            <a:endParaRPr lang="en-US" sz="1300" dirty="0"/>
          </a:p>
        </p:txBody>
      </p:sp>
      <p:sp>
        <p:nvSpPr>
          <p:cNvPr id="18" name="perímetro delimitado"/>
          <p:cNvSpPr/>
          <p:nvPr/>
        </p:nvSpPr>
        <p:spPr>
          <a:xfrm>
            <a:off x="621792" y="1581912"/>
            <a:ext cx="4151376" cy="1682496"/>
          </a:xfrm>
          <a:prstGeom prst="rect">
            <a:avLst/>
          </a:prstGeom>
          <a:solidFill>
            <a:srgbClr val="FFFFFF">
              <a:alpha val="0"/>
            </a:srgbClr>
          </a:solidFill>
          <a:ln w="19050">
            <a:solidFill>
              <a:srgbClr val="D40319"/>
            </a:solidFill>
            <a:prstDash val="sysDash"/>
          </a:ln>
        </p:spPr>
      </p:sp>
      <p:sp>
        <p:nvSpPr>
          <p:cNvPr id="19" name="etiqueta perímetro"/>
          <p:cNvSpPr txBox="1"/>
          <p:nvPr/>
        </p:nvSpPr>
        <p:spPr>
          <a:xfrm>
            <a:off x="3291840" y="1371600"/>
            <a:ext cx="1463040" cy="201168"/>
          </a:xfrm>
          <a:prstGeom prst="rect">
            <a:avLst/>
          </a:prstGeom>
          <a:noFill/>
          <a:ln/>
        </p:spPr>
        <p:txBody>
          <a:bodyPr wrap="square" lIns="0" tIns="0" rIns="0" bIns="0" rtlCol="0" anchor="t"/>
          <a:lstStyle/>
          <a:p>
            <a:pPr algn="r" indent="0" marL="0">
              <a:buNone/>
            </a:pPr>
            <a:r>
              <a:rPr lang="en-US" sz="900" dirty="0">
                <a:solidFill>
                  <a:srgbClr val="D40319"/>
                </a:solidFill>
                <a:latin typeface="Arial" pitchFamily="34" charset="0"/>
                <a:ea typeface="Arial" pitchFamily="34" charset="-122"/>
                <a:cs typeface="Arial" pitchFamily="34" charset="-120"/>
              </a:rPr>
              <a:t>Área delimitada</a:t>
            </a:r>
            <a:endParaRPr lang="en-US" sz="900" dirty="0"/>
          </a:p>
        </p:txBody>
      </p:sp>
      <p:sp>
        <p:nvSpPr>
          <p:cNvPr id="20" name="carpa"/>
          <p:cNvSpPr/>
          <p:nvPr/>
        </p:nvSpPr>
        <p:spPr>
          <a:xfrm>
            <a:off x="4800600" y="2103120"/>
            <a:ext cx="640080" cy="640080"/>
          </a:xfrm>
          <a:prstGeom prst="rect">
            <a:avLst/>
          </a:prstGeom>
          <a:solidFill>
            <a:srgbClr val="F4F4F4"/>
          </a:solidFill>
          <a:ln w="12700">
            <a:solidFill>
              <a:srgbClr val="0F1C2C"/>
            </a:solidFill>
            <a:prstDash val="solid"/>
          </a:ln>
        </p:spPr>
      </p:sp>
      <p:pic>
        <p:nvPicPr>
          <p:cNvPr id="21" name="icono carpa" descr="preencoded.png">    </p:cNvPr>
          <p:cNvPicPr>
            <a:picLocks noChangeAspect="1"/>
          </p:cNvPicPr>
          <p:nvPr/>
        </p:nvPicPr>
        <p:blipFill>
          <a:blip r:embed="rId7"/>
          <a:stretch>
            <a:fillRect/>
          </a:stretch>
        </p:blipFill>
        <p:spPr>
          <a:xfrm>
            <a:off x="4937760" y="2240280"/>
            <a:ext cx="365760" cy="365760"/>
          </a:xfrm>
          <a:prstGeom prst="rect">
            <a:avLst/>
          </a:prstGeom>
        </p:spPr>
      </p:pic>
      <p:sp>
        <p:nvSpPr>
          <p:cNvPr id="22" name="etiqueta carpa"/>
          <p:cNvSpPr txBox="1"/>
          <p:nvPr/>
        </p:nvSpPr>
        <p:spPr>
          <a:xfrm>
            <a:off x="4709160" y="2770632"/>
            <a:ext cx="822960" cy="201168"/>
          </a:xfrm>
          <a:prstGeom prst="rect">
            <a:avLst/>
          </a:prstGeom>
          <a:noFill/>
          <a:ln/>
        </p:spPr>
        <p:txBody>
          <a:bodyPr wrap="square" lIns="0" tIns="0" rIns="0" bIns="0" rtlCol="0" anchor="t"/>
          <a:lstStyle/>
          <a:p>
            <a:pPr algn="ctr" indent="0" marL="0">
              <a:buNone/>
            </a:pPr>
            <a:r>
              <a:rPr lang="en-US" sz="900" dirty="0">
                <a:solidFill>
                  <a:srgbClr val="5C5C5C"/>
                </a:solidFill>
                <a:latin typeface="Arial" pitchFamily="34" charset="0"/>
                <a:ea typeface="Arial" pitchFamily="34" charset="-122"/>
                <a:cs typeface="Arial" pitchFamily="34" charset="-120"/>
              </a:rPr>
              <a:t>Carpa</a:t>
            </a:r>
            <a:endParaRPr lang="en-US" sz="900" dirty="0"/>
          </a:p>
        </p:txBody>
      </p:sp>
      <p:sp>
        <p:nvSpPr>
          <p:cNvPr id="23" name="paso peatonal"/>
          <p:cNvSpPr/>
          <p:nvPr/>
        </p:nvSpPr>
        <p:spPr>
          <a:xfrm>
            <a:off x="1737360" y="3383280"/>
            <a:ext cx="0" cy="685800"/>
          </a:xfrm>
          <a:prstGeom prst="line">
            <a:avLst/>
          </a:prstGeom>
          <a:noFill/>
          <a:ln w="31750">
            <a:solidFill>
              <a:srgbClr val="2E8B3A"/>
            </a:solidFill>
            <a:prstDash val="dash"/>
          </a:ln>
        </p:spPr>
      </p:sp>
      <p:pic>
        <p:nvPicPr>
          <p:cNvPr id="24" name="icono peatón" descr="preencoded.png">    </p:cNvPr>
          <p:cNvPicPr>
            <a:picLocks noChangeAspect="1"/>
          </p:cNvPicPr>
          <p:nvPr/>
        </p:nvPicPr>
        <p:blipFill>
          <a:blip r:embed="rId8"/>
          <a:stretch>
            <a:fillRect/>
          </a:stretch>
        </p:blipFill>
        <p:spPr>
          <a:xfrm>
            <a:off x="1591056" y="4069080"/>
            <a:ext cx="292608" cy="292608"/>
          </a:xfrm>
          <a:prstGeom prst="rect">
            <a:avLst/>
          </a:prstGeom>
        </p:spPr>
      </p:pic>
      <p:sp>
        <p:nvSpPr>
          <p:cNvPr id="25" name="etiqueta paso"/>
          <p:cNvSpPr txBox="1"/>
          <p:nvPr/>
        </p:nvSpPr>
        <p:spPr>
          <a:xfrm>
            <a:off x="1965960" y="3611880"/>
            <a:ext cx="2743200" cy="411480"/>
          </a:xfrm>
          <a:prstGeom prst="rect">
            <a:avLst/>
          </a:prstGeom>
          <a:noFill/>
          <a:ln/>
        </p:spPr>
        <p:txBody>
          <a:bodyPr wrap="square" lIns="0" tIns="0" rIns="0" bIns="0" rtlCol="0" anchor="ctr"/>
          <a:lstStyle/>
          <a:p>
            <a:pPr indent="0" marL="0">
              <a:buNone/>
            </a:pPr>
            <a:r>
              <a:rPr lang="en-US" sz="1000" dirty="0">
                <a:solidFill>
                  <a:srgbClr val="2E8B3A"/>
                </a:solidFill>
                <a:latin typeface="Arial" pitchFamily="34" charset="0"/>
                <a:ea typeface="Arial" pitchFamily="34" charset="-122"/>
                <a:cs typeface="Arial" pitchFamily="34" charset="-120"/>
              </a:rPr>
              <a:t>Acceso: paso peatonal señalizado, siempre caminando</a:t>
            </a:r>
            <a:endParaRPr lang="en-US" sz="1000" dirty="0"/>
          </a:p>
        </p:txBody>
      </p:sp>
      <p:sp>
        <p:nvSpPr>
          <p:cNvPr id="26" name="etiqueta prohibido"/>
          <p:cNvSpPr txBox="1"/>
          <p:nvPr/>
        </p:nvSpPr>
        <p:spPr>
          <a:xfrm>
            <a:off x="1965960" y="4023360"/>
            <a:ext cx="2743200" cy="274320"/>
          </a:xfrm>
          <a:prstGeom prst="rect">
            <a:avLst/>
          </a:prstGeom>
          <a:noFill/>
          <a:ln/>
        </p:spPr>
        <p:txBody>
          <a:bodyPr wrap="square" lIns="0" tIns="0" rIns="0" bIns="0" rtlCol="0" anchor="ctr"/>
          <a:lstStyle/>
          <a:p>
            <a:pPr indent="0" marL="0">
              <a:buNone/>
            </a:pPr>
            <a:r>
              <a:rPr lang="en-US" sz="1000" dirty="0">
                <a:solidFill>
                  <a:srgbClr val="D40319"/>
                </a:solidFill>
                <a:latin typeface="Arial" pitchFamily="34" charset="0"/>
                <a:ea typeface="Arial" pitchFamily="34" charset="-122"/>
                <a:cs typeface="Arial" pitchFamily="34" charset="-120"/>
              </a:rPr>
              <a:t>Fuera del área delimitada: prohibido</a:t>
            </a:r>
            <a:endParaRPr lang="en-US" sz="1000" dirty="0"/>
          </a:p>
        </p:txBody>
      </p:sp>
      <p:sp>
        <p:nvSpPr>
          <p:cNvPr id="27" name="panel lateral"/>
          <p:cNvSpPr/>
          <p:nvPr/>
        </p:nvSpPr>
        <p:spPr>
          <a:xfrm>
            <a:off x="5852160" y="1097280"/>
            <a:ext cx="2834640" cy="3383280"/>
          </a:xfrm>
          <a:prstGeom prst="rect">
            <a:avLst/>
          </a:prstGeom>
          <a:solidFill>
            <a:srgbClr val="F4F4F4"/>
          </a:solidFill>
          <a:ln w="9525">
            <a:solidFill>
              <a:srgbClr val="E3E3E3"/>
            </a:solidFill>
            <a:prstDash val="solid"/>
          </a:ln>
        </p:spPr>
      </p:sp>
      <p:pic>
        <p:nvPicPr>
          <p:cNvPr id="28" name="icono zona" descr="preencoded.png">    </p:cNvPr>
          <p:cNvPicPr>
            <a:picLocks noChangeAspect="1"/>
          </p:cNvPicPr>
          <p:nvPr/>
        </p:nvPicPr>
        <p:blipFill>
          <a:blip r:embed="rId9"/>
          <a:stretch>
            <a:fillRect/>
          </a:stretch>
        </p:blipFill>
        <p:spPr>
          <a:xfrm>
            <a:off x="6126480" y="1371600"/>
            <a:ext cx="457200" cy="457200"/>
          </a:xfrm>
          <a:prstGeom prst="rect">
            <a:avLst/>
          </a:prstGeom>
        </p:spPr>
      </p:pic>
      <p:sp>
        <p:nvSpPr>
          <p:cNvPr id="29" name="puntos zona"/>
          <p:cNvSpPr txBox="1"/>
          <p:nvPr/>
        </p:nvSpPr>
        <p:spPr>
          <a:xfrm>
            <a:off x="6126480" y="2011680"/>
            <a:ext cx="2331720" cy="2286000"/>
          </a:xfrm>
          <a:prstGeom prst="rect">
            <a:avLst/>
          </a:prstGeom>
          <a:noFill/>
          <a:ln/>
        </p:spPr>
        <p:txBody>
          <a:bodyPr wrap="square" lIns="0" tIns="0" rIns="0" bIns="0" rtlCol="0" anchor="t"/>
          <a:lstStyle/>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La zona de pruebas está delimitada: solo se circula dentro de ella.</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El acceso es siempre a pie, por el paso peatonal señalizado.</a:t>
            </a:r>
            <a:endParaRPr lang="en-US" sz="1150" dirty="0"/>
          </a:p>
          <a:p>
            <a:pPr marL="152400" indent="-152400">
              <a:spcAft>
                <a:spcPts val="700"/>
              </a:spcAft>
              <a:buSzPct val="100000"/>
              <a:buChar char="•"/>
            </a:pPr>
            <a:r>
              <a:rPr lang="en-US" sz="1150" dirty="0">
                <a:solidFill>
                  <a:srgbClr val="3A3A3A"/>
                </a:solidFill>
                <a:latin typeface="Arial" pitchFamily="34" charset="0"/>
                <a:ea typeface="Arial" pitchFamily="34" charset="-122"/>
                <a:cs typeface="Arial" pitchFamily="34" charset="-120"/>
              </a:rPr>
              <a:t>Nadie se sitúa fuera del área delimitada: es por donde circulan los camiones.</a:t>
            </a:r>
            <a:endParaRPr lang="en-US" sz="11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CARPA: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EL PUNTO DE ESPERA</a:t>
            </a:r>
            <a:endParaRPr lang="en-US" sz="2000" dirty="0"/>
          </a:p>
        </p:txBody>
      </p:sp>
      <p:sp>
        <p:nvSpPr>
          <p:cNvPr id="3" name="chip regl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regl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REGLA 3 DE 5</a:t>
            </a:r>
            <a:endParaRPr lang="en-US" sz="850" dirty="0"/>
          </a:p>
        </p:txBody>
      </p:sp>
      <p:pic>
        <p:nvPicPr>
          <p:cNvPr id="5" name="icono regla" descr="preencoded.png">    </p:cNvPr>
          <p:cNvPicPr>
            <a:picLocks noChangeAspect="1"/>
          </p:cNvPicPr>
          <p:nvPr/>
        </p:nvPicPr>
        <p:blipFill>
          <a:blip r:embed="rId1"/>
          <a:stretch>
            <a:fillRect/>
          </a:stretch>
        </p:blipFill>
        <p:spPr>
          <a:xfrm>
            <a:off x="457200" y="1234440"/>
            <a:ext cx="640080" cy="640080"/>
          </a:xfrm>
          <a:prstGeom prst="rect">
            <a:avLst/>
          </a:prstGeom>
        </p:spPr>
      </p:pic>
      <p:sp>
        <p:nvSpPr>
          <p:cNvPr id="6" name="mensaje principal"/>
          <p:cNvSpPr txBox="1"/>
          <p:nvPr/>
        </p:nvSpPr>
        <p:spPr>
          <a:xfrm>
            <a:off x="1325880" y="1188720"/>
            <a:ext cx="4206240" cy="822960"/>
          </a:xfrm>
          <a:prstGeom prst="rect">
            <a:avLst/>
          </a:prstGeom>
          <a:noFill/>
          <a:ln/>
        </p:spPr>
        <p:txBody>
          <a:bodyPr wrap="square" lIns="0" tIns="0" rIns="0" bIns="0" rtlCol="0" anchor="ctr"/>
          <a:lstStyle/>
          <a:p>
            <a:pPr indent="0" marL="0">
              <a:buNone/>
            </a:pPr>
            <a:r>
              <a:rPr lang="en-US" sz="1600" b="1" dirty="0">
                <a:solidFill>
                  <a:srgbClr val="0F1C2C"/>
                </a:solidFill>
                <a:latin typeface="Montserrat" pitchFamily="34" charset="0"/>
                <a:ea typeface="Montserrat" pitchFamily="34" charset="-122"/>
                <a:cs typeface="Montserrat" pitchFamily="34" charset="-120"/>
              </a:rPr>
              <a:t>Cuando no se estén desplazando, se permanece en la carpa.</a:t>
            </a:r>
            <a:endParaRPr lang="en-US" sz="1600" dirty="0"/>
          </a:p>
        </p:txBody>
      </p:sp>
      <p:sp>
        <p:nvSpPr>
          <p:cNvPr id="7" name="puntos regla"/>
          <p:cNvSpPr txBox="1"/>
          <p:nvPr/>
        </p:nvSpPr>
        <p:spPr>
          <a:xfrm>
            <a:off x="457200" y="2240280"/>
            <a:ext cx="5029200"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Hay una carpa instalada junto a la zona de pruebas.</a:t>
            </a:r>
            <a:endParaRPr lang="en-US" sz="1250" dirty="0"/>
          </a:p>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Protege del sol y, con el pronóstico de estos días, de la lluvia.</a:t>
            </a:r>
            <a:endParaRPr lang="en-US" sz="1250" dirty="0"/>
          </a:p>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Es el único punto de espera durante las pruebas: no se espera en ningún otro lugar.</a:t>
            </a:r>
            <a:endParaRPr lang="en-US" sz="1250" dirty="0"/>
          </a:p>
        </p:txBody>
      </p:sp>
      <p:sp>
        <p:nvSpPr>
          <p:cNvPr id="8" name="panel lateral"/>
          <p:cNvSpPr/>
          <p:nvPr/>
        </p:nvSpPr>
        <p:spPr>
          <a:xfrm>
            <a:off x="5852160" y="1097280"/>
            <a:ext cx="2834640" cy="3383280"/>
          </a:xfrm>
          <a:prstGeom prst="rect">
            <a:avLst/>
          </a:prstGeom>
          <a:solidFill>
            <a:srgbClr val="F4F4F4"/>
          </a:solidFill>
          <a:ln w="9525">
            <a:solidFill>
              <a:srgbClr val="E3E3E3"/>
            </a:solidFill>
            <a:prstDash val="solid"/>
          </a:ln>
        </p:spPr>
      </p:sp>
      <p:sp>
        <p:nvSpPr>
          <p:cNvPr id="9" name="etiqueta lateral"/>
          <p:cNvSpPr txBox="1"/>
          <p:nvPr/>
        </p:nvSpPr>
        <p:spPr>
          <a:xfrm>
            <a:off x="6126480" y="1298448"/>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PRONÓSTICO</a:t>
            </a:r>
            <a:endParaRPr lang="en-US" sz="800" dirty="0"/>
          </a:p>
        </p:txBody>
      </p:sp>
      <p:pic>
        <p:nvPicPr>
          <p:cNvPr id="10" name="icono lateral" descr="preencoded.png">    </p:cNvPr>
          <p:cNvPicPr>
            <a:picLocks noChangeAspect="1"/>
          </p:cNvPicPr>
          <p:nvPr/>
        </p:nvPicPr>
        <p:blipFill>
          <a:blip r:embed="rId2"/>
          <a:stretch>
            <a:fillRect/>
          </a:stretch>
        </p:blipFill>
        <p:spPr>
          <a:xfrm>
            <a:off x="6126480" y="1600200"/>
            <a:ext cx="457200" cy="457200"/>
          </a:xfrm>
          <a:prstGeom prst="rect">
            <a:avLst/>
          </a:prstGeom>
        </p:spPr>
      </p:pic>
      <p:sp>
        <p:nvSpPr>
          <p:cNvPr id="11" name="texto lateral"/>
          <p:cNvSpPr txBox="1"/>
          <p:nvPr/>
        </p:nvSpPr>
        <p:spPr>
          <a:xfrm>
            <a:off x="6126480" y="2240280"/>
            <a:ext cx="2331720" cy="2103120"/>
          </a:xfrm>
          <a:prstGeom prst="rect">
            <a:avLst/>
          </a:prstGeom>
          <a:noFill/>
          <a:ln/>
        </p:spPr>
        <p:txBody>
          <a:bodyPr wrap="square" lIns="0" tIns="0" rIns="0" bIns="0" rtlCol="0" anchor="t"/>
          <a:lstStyle/>
          <a:p>
            <a:pPr indent="0" marL="0">
              <a:buNone/>
            </a:pPr>
            <a:r>
              <a:rPr lang="en-US" sz="1150" dirty="0">
                <a:solidFill>
                  <a:srgbClr val="5C5C5C"/>
                </a:solidFill>
                <a:latin typeface="Arial" pitchFamily="34" charset="0"/>
                <a:ea typeface="Arial" pitchFamily="34" charset="-122"/>
                <a:cs typeface="Arial" pitchFamily="34" charset="-120"/>
              </a:rPr>
              <a:t>Se prevé lluvia durante las pruebas. Además de resguardarse, conviene tener en cuenta que el suelo puede estar resbaladizo y que la visibilidad de los conductores se reduce.</a:t>
            </a:r>
            <a:endParaRPr lang="en-US" sz="11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CÓMO ACERCARSE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A UN CAMIÓN</a:t>
            </a:r>
            <a:endParaRPr lang="en-US" sz="2000" dirty="0"/>
          </a:p>
        </p:txBody>
      </p:sp>
      <p:sp>
        <p:nvSpPr>
          <p:cNvPr id="3" name="chip regl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regl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REGLA 4 DE 5</a:t>
            </a:r>
            <a:endParaRPr lang="en-US" sz="850" dirty="0"/>
          </a:p>
        </p:txBody>
      </p:sp>
      <p:sp>
        <p:nvSpPr>
          <p:cNvPr id="5" name="aviso crítico"/>
          <p:cNvSpPr/>
          <p:nvPr/>
        </p:nvSpPr>
        <p:spPr>
          <a:xfrm>
            <a:off x="457200" y="1097280"/>
            <a:ext cx="8229600" cy="640080"/>
          </a:xfrm>
          <a:prstGeom prst="rect">
            <a:avLst/>
          </a:prstGeom>
          <a:solidFill>
            <a:srgbClr val="0F1C2C"/>
          </a:solidFill>
          <a:ln w="12700">
            <a:solidFill>
              <a:srgbClr val="0F1C2C"/>
            </a:solidFill>
            <a:prstDash val="solid"/>
          </a:ln>
        </p:spPr>
      </p:sp>
      <p:pic>
        <p:nvPicPr>
          <p:cNvPr id="6" name="icono prohibición" descr="preencoded.png">    </p:cNvPr>
          <p:cNvPicPr>
            <a:picLocks noChangeAspect="1"/>
          </p:cNvPicPr>
          <p:nvPr/>
        </p:nvPicPr>
        <p:blipFill>
          <a:blip r:embed="rId1"/>
          <a:stretch>
            <a:fillRect/>
          </a:stretch>
        </p:blipFill>
        <p:spPr>
          <a:xfrm>
            <a:off x="640080" y="1243584"/>
            <a:ext cx="347472" cy="347472"/>
          </a:xfrm>
          <a:prstGeom prst="rect">
            <a:avLst/>
          </a:prstGeom>
        </p:spPr>
      </p:pic>
      <p:sp>
        <p:nvSpPr>
          <p:cNvPr id="7" name="texto aviso"/>
          <p:cNvSpPr txBox="1"/>
          <p:nvPr/>
        </p:nvSpPr>
        <p:spPr>
          <a:xfrm>
            <a:off x="1188720" y="1097280"/>
            <a:ext cx="7315200" cy="64008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Bajo ninguna circunstancia se entra en la zona de pruebas para subir a un camión sin avisar antes a uno de los supervisores.</a:t>
            </a:r>
            <a:endParaRPr lang="en-US" sz="1200" dirty="0"/>
          </a:p>
        </p:txBody>
      </p:sp>
      <p:sp>
        <p:nvSpPr>
          <p:cNvPr id="8" name="paso 1"/>
          <p:cNvSpPr/>
          <p:nvPr/>
        </p:nvSpPr>
        <p:spPr>
          <a:xfrm>
            <a:off x="457200" y="1965960"/>
            <a:ext cx="1920240" cy="2514600"/>
          </a:xfrm>
          <a:prstGeom prst="rect">
            <a:avLst/>
          </a:prstGeom>
          <a:solidFill>
            <a:srgbClr val="FFFFFF"/>
          </a:solidFill>
          <a:ln w="9525">
            <a:solidFill>
              <a:srgbClr val="E3E3E3"/>
            </a:solidFill>
            <a:prstDash val="solid"/>
          </a:ln>
        </p:spPr>
      </p:sp>
      <p:pic>
        <p:nvPicPr>
          <p:cNvPr id="9" name="icono paso 1" descr="preencoded.png">    </p:cNvPr>
          <p:cNvPicPr>
            <a:picLocks noChangeAspect="1"/>
          </p:cNvPicPr>
          <p:nvPr/>
        </p:nvPicPr>
        <p:blipFill>
          <a:blip r:embed="rId2"/>
          <a:stretch>
            <a:fillRect/>
          </a:stretch>
        </p:blipFill>
        <p:spPr>
          <a:xfrm>
            <a:off x="685800" y="2240280"/>
            <a:ext cx="457200" cy="457200"/>
          </a:xfrm>
          <a:prstGeom prst="rect">
            <a:avLst/>
          </a:prstGeom>
        </p:spPr>
      </p:pic>
      <p:sp>
        <p:nvSpPr>
          <p:cNvPr id="10" name="número paso 1"/>
          <p:cNvSpPr txBox="1"/>
          <p:nvPr/>
        </p:nvSpPr>
        <p:spPr>
          <a:xfrm>
            <a:off x="1783080" y="2167128"/>
            <a:ext cx="365760" cy="457200"/>
          </a:xfrm>
          <a:prstGeom prst="rect">
            <a:avLst/>
          </a:prstGeom>
          <a:noFill/>
          <a:ln/>
        </p:spPr>
        <p:txBody>
          <a:bodyPr wrap="square" lIns="0" tIns="0" rIns="0" bIns="0" rtlCol="0" anchor="t"/>
          <a:lstStyle/>
          <a:p>
            <a:pPr algn="r" indent="0" marL="0">
              <a:buNone/>
            </a:pPr>
            <a:r>
              <a:rPr lang="en-US" sz="2400" b="1" dirty="0">
                <a:solidFill>
                  <a:srgbClr val="D9D9D9"/>
                </a:solidFill>
                <a:latin typeface="Montserrat" pitchFamily="34" charset="0"/>
                <a:ea typeface="Montserrat" pitchFamily="34" charset="-122"/>
                <a:cs typeface="Montserrat" pitchFamily="34" charset="-120"/>
              </a:rPr>
              <a:t>1</a:t>
            </a:r>
            <a:endParaRPr lang="en-US" sz="2400" dirty="0"/>
          </a:p>
        </p:txBody>
      </p:sp>
      <p:sp>
        <p:nvSpPr>
          <p:cNvPr id="11" name="título paso 1"/>
          <p:cNvSpPr txBox="1"/>
          <p:nvPr/>
        </p:nvSpPr>
        <p:spPr>
          <a:xfrm>
            <a:off x="685800" y="2926080"/>
            <a:ext cx="1463040" cy="640080"/>
          </a:xfrm>
          <a:prstGeom prst="rect">
            <a:avLst/>
          </a:prstGeom>
          <a:noFill/>
          <a:ln/>
        </p:spPr>
        <p:txBody>
          <a:bodyPr wrap="square" lIns="0" tIns="0" rIns="0" bIns="0" rtlCol="0" anchor="t"/>
          <a:lstStyle/>
          <a:p>
            <a:pPr indent="0" marL="0">
              <a:buNone/>
            </a:pPr>
            <a:r>
              <a:rPr lang="en-US" sz="1050" b="1" dirty="0">
                <a:solidFill>
                  <a:srgbClr val="0F1C2C"/>
                </a:solidFill>
                <a:latin typeface="Montserrat" pitchFamily="34" charset="0"/>
                <a:ea typeface="Montserrat" pitchFamily="34" charset="-122"/>
                <a:cs typeface="Montserrat" pitchFamily="34" charset="-120"/>
              </a:rPr>
              <a:t>AVISAR A UN SUPERVISOR</a:t>
            </a:r>
            <a:endParaRPr lang="en-US" sz="1050" dirty="0"/>
          </a:p>
        </p:txBody>
      </p:sp>
      <p:sp>
        <p:nvSpPr>
          <p:cNvPr id="12" name="detalle paso 1"/>
          <p:cNvSpPr txBox="1"/>
          <p:nvPr/>
        </p:nvSpPr>
        <p:spPr>
          <a:xfrm>
            <a:off x="685800" y="3611880"/>
            <a:ext cx="1463040" cy="822960"/>
          </a:xfrm>
          <a:prstGeom prst="rect">
            <a:avLst/>
          </a:prstGeom>
          <a:noFill/>
          <a:ln/>
        </p:spPr>
        <p:txBody>
          <a:bodyPr wrap="square" lIns="0" tIns="0" rIns="0" bIns="0" rtlCol="0" anchor="t"/>
          <a:lstStyle/>
          <a:p>
            <a:pPr indent="0" marL="0">
              <a:buNone/>
            </a:pPr>
            <a:r>
              <a:rPr lang="en-US" sz="1050" dirty="0">
                <a:solidFill>
                  <a:srgbClr val="5C5C5C"/>
                </a:solidFill>
                <a:latin typeface="Arial" pitchFamily="34" charset="0"/>
                <a:ea typeface="Arial" pitchFamily="34" charset="-122"/>
                <a:cs typeface="Arial" pitchFamily="34" charset="-120"/>
              </a:rPr>
              <a:t>Antes de moverse, se avisa a Hugo, Sergio o Juan Carlos.</a:t>
            </a:r>
            <a:endParaRPr lang="en-US" sz="1050" dirty="0"/>
          </a:p>
        </p:txBody>
      </p:sp>
      <p:sp>
        <p:nvSpPr>
          <p:cNvPr id="13" name="flecha paso 1"/>
          <p:cNvSpPr/>
          <p:nvPr/>
        </p:nvSpPr>
        <p:spPr>
          <a:xfrm>
            <a:off x="2395728" y="3223260"/>
            <a:ext cx="146304" cy="0"/>
          </a:xfrm>
          <a:prstGeom prst="line">
            <a:avLst/>
          </a:prstGeom>
          <a:noFill/>
          <a:ln w="19050">
            <a:solidFill>
              <a:srgbClr val="D40319"/>
            </a:solidFill>
            <a:prstDash val="solid"/>
            <a:tailEnd type="triangle"/>
          </a:ln>
        </p:spPr>
      </p:sp>
      <p:sp>
        <p:nvSpPr>
          <p:cNvPr id="14" name="paso 2"/>
          <p:cNvSpPr/>
          <p:nvPr/>
        </p:nvSpPr>
        <p:spPr>
          <a:xfrm>
            <a:off x="2560320" y="1965960"/>
            <a:ext cx="1920240" cy="2514600"/>
          </a:xfrm>
          <a:prstGeom prst="rect">
            <a:avLst/>
          </a:prstGeom>
          <a:solidFill>
            <a:srgbClr val="FFFFFF"/>
          </a:solidFill>
          <a:ln w="9525">
            <a:solidFill>
              <a:srgbClr val="E3E3E3"/>
            </a:solidFill>
            <a:prstDash val="solid"/>
          </a:ln>
        </p:spPr>
      </p:sp>
      <p:pic>
        <p:nvPicPr>
          <p:cNvPr id="15" name="icono paso 2" descr="preencoded.png">    </p:cNvPr>
          <p:cNvPicPr>
            <a:picLocks noChangeAspect="1"/>
          </p:cNvPicPr>
          <p:nvPr/>
        </p:nvPicPr>
        <p:blipFill>
          <a:blip r:embed="rId3"/>
          <a:stretch>
            <a:fillRect/>
          </a:stretch>
        </p:blipFill>
        <p:spPr>
          <a:xfrm>
            <a:off x="2788920" y="2240280"/>
            <a:ext cx="457200" cy="457200"/>
          </a:xfrm>
          <a:prstGeom prst="rect">
            <a:avLst/>
          </a:prstGeom>
        </p:spPr>
      </p:pic>
      <p:sp>
        <p:nvSpPr>
          <p:cNvPr id="16" name="número paso 2"/>
          <p:cNvSpPr txBox="1"/>
          <p:nvPr/>
        </p:nvSpPr>
        <p:spPr>
          <a:xfrm>
            <a:off x="3886200" y="2167128"/>
            <a:ext cx="365760" cy="457200"/>
          </a:xfrm>
          <a:prstGeom prst="rect">
            <a:avLst/>
          </a:prstGeom>
          <a:noFill/>
          <a:ln/>
        </p:spPr>
        <p:txBody>
          <a:bodyPr wrap="square" lIns="0" tIns="0" rIns="0" bIns="0" rtlCol="0" anchor="t"/>
          <a:lstStyle/>
          <a:p>
            <a:pPr algn="r" indent="0" marL="0">
              <a:buNone/>
            </a:pPr>
            <a:r>
              <a:rPr lang="en-US" sz="2400" b="1" dirty="0">
                <a:solidFill>
                  <a:srgbClr val="D9D9D9"/>
                </a:solidFill>
                <a:latin typeface="Montserrat" pitchFamily="34" charset="0"/>
                <a:ea typeface="Montserrat" pitchFamily="34" charset="-122"/>
                <a:cs typeface="Montserrat" pitchFamily="34" charset="-120"/>
              </a:rPr>
              <a:t>2</a:t>
            </a:r>
            <a:endParaRPr lang="en-US" sz="2400" dirty="0"/>
          </a:p>
        </p:txBody>
      </p:sp>
      <p:sp>
        <p:nvSpPr>
          <p:cNvPr id="17" name="título paso 2"/>
          <p:cNvSpPr txBox="1"/>
          <p:nvPr/>
        </p:nvSpPr>
        <p:spPr>
          <a:xfrm>
            <a:off x="2788920" y="2926080"/>
            <a:ext cx="1463040" cy="640080"/>
          </a:xfrm>
          <a:prstGeom prst="rect">
            <a:avLst/>
          </a:prstGeom>
          <a:noFill/>
          <a:ln/>
        </p:spPr>
        <p:txBody>
          <a:bodyPr wrap="square" lIns="0" tIns="0" rIns="0" bIns="0" rtlCol="0" anchor="t"/>
          <a:lstStyle/>
          <a:p>
            <a:pPr indent="0" marL="0">
              <a:buNone/>
            </a:pPr>
            <a:r>
              <a:rPr lang="en-US" sz="1050" b="1" dirty="0">
                <a:solidFill>
                  <a:srgbClr val="0F1C2C"/>
                </a:solidFill>
                <a:latin typeface="Montserrat" pitchFamily="34" charset="0"/>
                <a:ea typeface="Montserrat" pitchFamily="34" charset="-122"/>
                <a:cs typeface="Montserrat" pitchFamily="34" charset="-120"/>
              </a:rPr>
              <a:t>CAMIÓN DETENIDO</a:t>
            </a:r>
            <a:endParaRPr lang="en-US" sz="1050" dirty="0"/>
          </a:p>
        </p:txBody>
      </p:sp>
      <p:sp>
        <p:nvSpPr>
          <p:cNvPr id="18" name="detalle paso 2"/>
          <p:cNvSpPr txBox="1"/>
          <p:nvPr/>
        </p:nvSpPr>
        <p:spPr>
          <a:xfrm>
            <a:off x="2788920" y="3611880"/>
            <a:ext cx="1463040" cy="822960"/>
          </a:xfrm>
          <a:prstGeom prst="rect">
            <a:avLst/>
          </a:prstGeom>
          <a:noFill/>
          <a:ln/>
        </p:spPr>
        <p:txBody>
          <a:bodyPr wrap="square" lIns="0" tIns="0" rIns="0" bIns="0" rtlCol="0" anchor="t"/>
          <a:lstStyle/>
          <a:p>
            <a:pPr indent="0" marL="0">
              <a:buNone/>
            </a:pPr>
            <a:r>
              <a:rPr lang="en-US" sz="1050" dirty="0">
                <a:solidFill>
                  <a:srgbClr val="5C5C5C"/>
                </a:solidFill>
                <a:latin typeface="Arial" pitchFamily="34" charset="0"/>
                <a:ea typeface="Arial" pitchFamily="34" charset="-122"/>
                <a:cs typeface="Arial" pitchFamily="34" charset="-120"/>
              </a:rPr>
              <a:t>Solo se avanza si el camión está completamente parado. Nunca en movimiento.</a:t>
            </a:r>
            <a:endParaRPr lang="en-US" sz="1050" dirty="0"/>
          </a:p>
        </p:txBody>
      </p:sp>
      <p:sp>
        <p:nvSpPr>
          <p:cNvPr id="19" name="flecha paso 2"/>
          <p:cNvSpPr/>
          <p:nvPr/>
        </p:nvSpPr>
        <p:spPr>
          <a:xfrm>
            <a:off x="4498848" y="3223260"/>
            <a:ext cx="146304" cy="0"/>
          </a:xfrm>
          <a:prstGeom prst="line">
            <a:avLst/>
          </a:prstGeom>
          <a:noFill/>
          <a:ln w="19050">
            <a:solidFill>
              <a:srgbClr val="D40319"/>
            </a:solidFill>
            <a:prstDash val="solid"/>
            <a:tailEnd type="triangle"/>
          </a:ln>
        </p:spPr>
      </p:sp>
      <p:sp>
        <p:nvSpPr>
          <p:cNvPr id="20" name="paso 3"/>
          <p:cNvSpPr/>
          <p:nvPr/>
        </p:nvSpPr>
        <p:spPr>
          <a:xfrm>
            <a:off x="4663440" y="1965960"/>
            <a:ext cx="1920240" cy="2514600"/>
          </a:xfrm>
          <a:prstGeom prst="rect">
            <a:avLst/>
          </a:prstGeom>
          <a:solidFill>
            <a:srgbClr val="FFFFFF"/>
          </a:solidFill>
          <a:ln w="9525">
            <a:solidFill>
              <a:srgbClr val="E3E3E3"/>
            </a:solidFill>
            <a:prstDash val="solid"/>
          </a:ln>
        </p:spPr>
      </p:sp>
      <p:pic>
        <p:nvPicPr>
          <p:cNvPr id="21" name="icono paso 3" descr="preencoded.png">    </p:cNvPr>
          <p:cNvPicPr>
            <a:picLocks noChangeAspect="1"/>
          </p:cNvPicPr>
          <p:nvPr/>
        </p:nvPicPr>
        <p:blipFill>
          <a:blip r:embed="rId4"/>
          <a:stretch>
            <a:fillRect/>
          </a:stretch>
        </p:blipFill>
        <p:spPr>
          <a:xfrm>
            <a:off x="4892040" y="2240280"/>
            <a:ext cx="457200" cy="457200"/>
          </a:xfrm>
          <a:prstGeom prst="rect">
            <a:avLst/>
          </a:prstGeom>
        </p:spPr>
      </p:pic>
      <p:sp>
        <p:nvSpPr>
          <p:cNvPr id="22" name="número paso 3"/>
          <p:cNvSpPr txBox="1"/>
          <p:nvPr/>
        </p:nvSpPr>
        <p:spPr>
          <a:xfrm>
            <a:off x="5989320" y="2167128"/>
            <a:ext cx="365760" cy="457200"/>
          </a:xfrm>
          <a:prstGeom prst="rect">
            <a:avLst/>
          </a:prstGeom>
          <a:noFill/>
          <a:ln/>
        </p:spPr>
        <p:txBody>
          <a:bodyPr wrap="square" lIns="0" tIns="0" rIns="0" bIns="0" rtlCol="0" anchor="t"/>
          <a:lstStyle/>
          <a:p>
            <a:pPr algn="r" indent="0" marL="0">
              <a:buNone/>
            </a:pPr>
            <a:r>
              <a:rPr lang="en-US" sz="2400" b="1" dirty="0">
                <a:solidFill>
                  <a:srgbClr val="D9D9D9"/>
                </a:solidFill>
                <a:latin typeface="Montserrat" pitchFamily="34" charset="0"/>
                <a:ea typeface="Montserrat" pitchFamily="34" charset="-122"/>
                <a:cs typeface="Montserrat" pitchFamily="34" charset="-120"/>
              </a:rPr>
              <a:t>3</a:t>
            </a:r>
            <a:endParaRPr lang="en-US" sz="2400" dirty="0"/>
          </a:p>
        </p:txBody>
      </p:sp>
      <p:sp>
        <p:nvSpPr>
          <p:cNvPr id="23" name="título paso 3"/>
          <p:cNvSpPr txBox="1"/>
          <p:nvPr/>
        </p:nvSpPr>
        <p:spPr>
          <a:xfrm>
            <a:off x="4892040" y="2926080"/>
            <a:ext cx="1463040" cy="640080"/>
          </a:xfrm>
          <a:prstGeom prst="rect">
            <a:avLst/>
          </a:prstGeom>
          <a:noFill/>
          <a:ln/>
        </p:spPr>
        <p:txBody>
          <a:bodyPr wrap="square" lIns="0" tIns="0" rIns="0" bIns="0" rtlCol="0" anchor="t"/>
          <a:lstStyle/>
          <a:p>
            <a:pPr indent="0" marL="0">
              <a:buNone/>
            </a:pPr>
            <a:r>
              <a:rPr lang="en-US" sz="1050" b="1" dirty="0">
                <a:solidFill>
                  <a:srgbClr val="0F1C2C"/>
                </a:solidFill>
                <a:latin typeface="Montserrat" pitchFamily="34" charset="0"/>
                <a:ea typeface="Montserrat" pitchFamily="34" charset="-122"/>
                <a:cs typeface="Montserrat" pitchFamily="34" charset="-120"/>
              </a:rPr>
              <a:t>PUNTO PRUDENTE Y AVISO AL CONDUCTOR</a:t>
            </a:r>
            <a:endParaRPr lang="en-US" sz="1050" dirty="0"/>
          </a:p>
        </p:txBody>
      </p:sp>
      <p:sp>
        <p:nvSpPr>
          <p:cNvPr id="24" name="detalle paso 3"/>
          <p:cNvSpPr txBox="1"/>
          <p:nvPr/>
        </p:nvSpPr>
        <p:spPr>
          <a:xfrm>
            <a:off x="4892040" y="3611880"/>
            <a:ext cx="1463040" cy="822960"/>
          </a:xfrm>
          <a:prstGeom prst="rect">
            <a:avLst/>
          </a:prstGeom>
          <a:noFill/>
          <a:ln/>
        </p:spPr>
        <p:txBody>
          <a:bodyPr wrap="square" lIns="0" tIns="0" rIns="0" bIns="0" rtlCol="0" anchor="t"/>
          <a:lstStyle/>
          <a:p>
            <a:pPr indent="0" marL="0">
              <a:buNone/>
            </a:pPr>
            <a:r>
              <a:rPr lang="en-US" sz="1050" dirty="0">
                <a:solidFill>
                  <a:srgbClr val="5C5C5C"/>
                </a:solidFill>
                <a:latin typeface="Arial" pitchFamily="34" charset="0"/>
                <a:ea typeface="Arial" pitchFamily="34" charset="-122"/>
                <a:cs typeface="Arial" pitchFamily="34" charset="-120"/>
              </a:rPr>
              <a:t>Se acerca hasta un punto prudente y se le indica al conductor que va a aproximarse.</a:t>
            </a:r>
            <a:endParaRPr lang="en-US" sz="1050" dirty="0"/>
          </a:p>
        </p:txBody>
      </p:sp>
      <p:sp>
        <p:nvSpPr>
          <p:cNvPr id="25" name="flecha paso 3"/>
          <p:cNvSpPr/>
          <p:nvPr/>
        </p:nvSpPr>
        <p:spPr>
          <a:xfrm>
            <a:off x="6601968" y="3223260"/>
            <a:ext cx="146304" cy="0"/>
          </a:xfrm>
          <a:prstGeom prst="line">
            <a:avLst/>
          </a:prstGeom>
          <a:noFill/>
          <a:ln w="19050">
            <a:solidFill>
              <a:srgbClr val="D40319"/>
            </a:solidFill>
            <a:prstDash val="solid"/>
            <a:tailEnd type="triangle"/>
          </a:ln>
        </p:spPr>
      </p:sp>
      <p:sp>
        <p:nvSpPr>
          <p:cNvPr id="26" name="paso 4"/>
          <p:cNvSpPr/>
          <p:nvPr/>
        </p:nvSpPr>
        <p:spPr>
          <a:xfrm>
            <a:off x="6766560" y="1965960"/>
            <a:ext cx="1920240" cy="2514600"/>
          </a:xfrm>
          <a:prstGeom prst="rect">
            <a:avLst/>
          </a:prstGeom>
          <a:solidFill>
            <a:srgbClr val="FFFFFF"/>
          </a:solidFill>
          <a:ln w="9525">
            <a:solidFill>
              <a:srgbClr val="E3E3E3"/>
            </a:solidFill>
            <a:prstDash val="solid"/>
          </a:ln>
        </p:spPr>
      </p:sp>
      <p:pic>
        <p:nvPicPr>
          <p:cNvPr id="27" name="icono paso 4" descr="preencoded.png">    </p:cNvPr>
          <p:cNvPicPr>
            <a:picLocks noChangeAspect="1"/>
          </p:cNvPicPr>
          <p:nvPr/>
        </p:nvPicPr>
        <p:blipFill>
          <a:blip r:embed="rId5"/>
          <a:stretch>
            <a:fillRect/>
          </a:stretch>
        </p:blipFill>
        <p:spPr>
          <a:xfrm>
            <a:off x="6995160" y="2240280"/>
            <a:ext cx="457200" cy="457200"/>
          </a:xfrm>
          <a:prstGeom prst="rect">
            <a:avLst/>
          </a:prstGeom>
        </p:spPr>
      </p:pic>
      <p:sp>
        <p:nvSpPr>
          <p:cNvPr id="28" name="número paso 4"/>
          <p:cNvSpPr txBox="1"/>
          <p:nvPr/>
        </p:nvSpPr>
        <p:spPr>
          <a:xfrm>
            <a:off x="8092440" y="2167128"/>
            <a:ext cx="365760" cy="457200"/>
          </a:xfrm>
          <a:prstGeom prst="rect">
            <a:avLst/>
          </a:prstGeom>
          <a:noFill/>
          <a:ln/>
        </p:spPr>
        <p:txBody>
          <a:bodyPr wrap="square" lIns="0" tIns="0" rIns="0" bIns="0" rtlCol="0" anchor="t"/>
          <a:lstStyle/>
          <a:p>
            <a:pPr algn="r" indent="0" marL="0">
              <a:buNone/>
            </a:pPr>
            <a:r>
              <a:rPr lang="en-US" sz="2400" b="1" dirty="0">
                <a:solidFill>
                  <a:srgbClr val="D9D9D9"/>
                </a:solidFill>
                <a:latin typeface="Montserrat" pitchFamily="34" charset="0"/>
                <a:ea typeface="Montserrat" pitchFamily="34" charset="-122"/>
                <a:cs typeface="Montserrat" pitchFamily="34" charset="-120"/>
              </a:rPr>
              <a:t>4</a:t>
            </a:r>
            <a:endParaRPr lang="en-US" sz="2400" dirty="0"/>
          </a:p>
        </p:txBody>
      </p:sp>
      <p:sp>
        <p:nvSpPr>
          <p:cNvPr id="29" name="título paso 4"/>
          <p:cNvSpPr txBox="1"/>
          <p:nvPr/>
        </p:nvSpPr>
        <p:spPr>
          <a:xfrm>
            <a:off x="6995160" y="2926080"/>
            <a:ext cx="1463040" cy="640080"/>
          </a:xfrm>
          <a:prstGeom prst="rect">
            <a:avLst/>
          </a:prstGeom>
          <a:noFill/>
          <a:ln/>
        </p:spPr>
        <p:txBody>
          <a:bodyPr wrap="square" lIns="0" tIns="0" rIns="0" bIns="0" rtlCol="0" anchor="t"/>
          <a:lstStyle/>
          <a:p>
            <a:pPr indent="0" marL="0">
              <a:buNone/>
            </a:pPr>
            <a:r>
              <a:rPr lang="en-US" sz="1050" b="1" dirty="0">
                <a:solidFill>
                  <a:srgbClr val="0F1C2C"/>
                </a:solidFill>
                <a:latin typeface="Montserrat" pitchFamily="34" charset="0"/>
                <a:ea typeface="Montserrat" pitchFamily="34" charset="-122"/>
                <a:cs typeface="Montserrat" pitchFamily="34" charset="-120"/>
              </a:rPr>
              <a:t>ESPERAR LA APROBACIÓN</a:t>
            </a:r>
            <a:endParaRPr lang="en-US" sz="1050" dirty="0"/>
          </a:p>
        </p:txBody>
      </p:sp>
      <p:sp>
        <p:nvSpPr>
          <p:cNvPr id="30" name="detalle paso 4"/>
          <p:cNvSpPr txBox="1"/>
          <p:nvPr/>
        </p:nvSpPr>
        <p:spPr>
          <a:xfrm>
            <a:off x="6995160" y="3611880"/>
            <a:ext cx="1463040" cy="822960"/>
          </a:xfrm>
          <a:prstGeom prst="rect">
            <a:avLst/>
          </a:prstGeom>
          <a:noFill/>
          <a:ln/>
        </p:spPr>
        <p:txBody>
          <a:bodyPr wrap="square" lIns="0" tIns="0" rIns="0" bIns="0" rtlCol="0" anchor="t"/>
          <a:lstStyle/>
          <a:p>
            <a:pPr indent="0" marL="0">
              <a:buNone/>
            </a:pPr>
            <a:r>
              <a:rPr lang="en-US" sz="1050" dirty="0">
                <a:solidFill>
                  <a:srgbClr val="5C5C5C"/>
                </a:solidFill>
                <a:latin typeface="Arial" pitchFamily="34" charset="0"/>
                <a:ea typeface="Arial" pitchFamily="34" charset="-122"/>
                <a:cs typeface="Arial" pitchFamily="34" charset="-120"/>
              </a:rPr>
              <a:t>No se acerca ni se sube hasta que el conductor lo apruebe de forma explícita.</a:t>
            </a:r>
            <a:endParaRPr lang="en-US" sz="10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AVISAR SIEMPRE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ANTES DE ENTRAR</a:t>
            </a:r>
            <a:endParaRPr lang="en-US" sz="2000" dirty="0"/>
          </a:p>
        </p:txBody>
      </p:sp>
      <p:sp>
        <p:nvSpPr>
          <p:cNvPr id="3" name="chip regl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regl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REGLA 5 DE 5</a:t>
            </a:r>
            <a:endParaRPr lang="en-US" sz="850" dirty="0"/>
          </a:p>
        </p:txBody>
      </p:sp>
      <p:pic>
        <p:nvPicPr>
          <p:cNvPr id="5" name="icono regla" descr="preencoded.png">    </p:cNvPr>
          <p:cNvPicPr>
            <a:picLocks noChangeAspect="1"/>
          </p:cNvPicPr>
          <p:nvPr/>
        </p:nvPicPr>
        <p:blipFill>
          <a:blip r:embed="rId1"/>
          <a:stretch>
            <a:fillRect/>
          </a:stretch>
        </p:blipFill>
        <p:spPr>
          <a:xfrm>
            <a:off x="457200" y="1234440"/>
            <a:ext cx="640080" cy="640080"/>
          </a:xfrm>
          <a:prstGeom prst="rect">
            <a:avLst/>
          </a:prstGeom>
        </p:spPr>
      </p:pic>
      <p:sp>
        <p:nvSpPr>
          <p:cNvPr id="6" name="mensaje principal"/>
          <p:cNvSpPr txBox="1"/>
          <p:nvPr/>
        </p:nvSpPr>
        <p:spPr>
          <a:xfrm>
            <a:off x="1325880" y="1188720"/>
            <a:ext cx="4206240" cy="822960"/>
          </a:xfrm>
          <a:prstGeom prst="rect">
            <a:avLst/>
          </a:prstGeom>
          <a:noFill/>
          <a:ln/>
        </p:spPr>
        <p:txBody>
          <a:bodyPr wrap="square" lIns="0" tIns="0" rIns="0" bIns="0" rtlCol="0" anchor="ctr"/>
          <a:lstStyle/>
          <a:p>
            <a:pPr indent="0" marL="0">
              <a:buNone/>
            </a:pPr>
            <a:r>
              <a:rPr lang="en-US" sz="1600" b="1" dirty="0">
                <a:solidFill>
                  <a:srgbClr val="0F1C2C"/>
                </a:solidFill>
                <a:latin typeface="Montserrat" pitchFamily="34" charset="0"/>
                <a:ea typeface="Montserrat" pitchFamily="34" charset="-122"/>
                <a:cs typeface="Montserrat" pitchFamily="34" charset="-120"/>
              </a:rPr>
              <a:t>Cualquier acceso a la zona de pruebas se comunica antes de hacerlo.</a:t>
            </a:r>
            <a:endParaRPr lang="en-US" sz="1600" dirty="0"/>
          </a:p>
        </p:txBody>
      </p:sp>
      <p:sp>
        <p:nvSpPr>
          <p:cNvPr id="7" name="puntos regla"/>
          <p:cNvSpPr txBox="1"/>
          <p:nvPr/>
        </p:nvSpPr>
        <p:spPr>
          <a:xfrm>
            <a:off x="457200" y="2240280"/>
            <a:ext cx="5029200" cy="2103120"/>
          </a:xfrm>
          <a:prstGeom prst="rect">
            <a:avLst/>
          </a:prstGeom>
          <a:noFill/>
          <a:ln/>
        </p:spPr>
        <p:txBody>
          <a:bodyPr wrap="square" lIns="0" tIns="0" rIns="0" bIns="0" rtlCol="0" anchor="t"/>
          <a:lstStyle/>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Se avisa a uno de los supervisores en pista, nunca se entra por iniciativa propia.</a:t>
            </a:r>
            <a:endParaRPr lang="en-US" sz="1250" dirty="0"/>
          </a:p>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Si hay un imprevisto, se detiene lo que se esté haciendo y se avisa.</a:t>
            </a:r>
            <a:endParaRPr lang="en-US" sz="1250" dirty="0"/>
          </a:p>
          <a:p>
            <a:pPr marL="152400" indent="-152400">
              <a:spcAft>
                <a:spcPts val="700"/>
              </a:spcAft>
              <a:buSzPct val="100000"/>
              <a:buChar char="•"/>
            </a:pPr>
            <a:r>
              <a:rPr lang="en-US" sz="1250" dirty="0">
                <a:solidFill>
                  <a:srgbClr val="3A3A3A"/>
                </a:solidFill>
                <a:latin typeface="Arial" pitchFamily="34" charset="0"/>
                <a:ea typeface="Arial" pitchFamily="34" charset="-122"/>
                <a:cs typeface="Arial" pitchFamily="34" charset="-120"/>
              </a:rPr>
              <a:t>Ante cualquier duda: preguntar antes, no después.</a:t>
            </a:r>
            <a:endParaRPr lang="en-US" sz="1250" dirty="0"/>
          </a:p>
        </p:txBody>
      </p:sp>
      <p:sp>
        <p:nvSpPr>
          <p:cNvPr id="8" name="panel lateral"/>
          <p:cNvSpPr/>
          <p:nvPr/>
        </p:nvSpPr>
        <p:spPr>
          <a:xfrm>
            <a:off x="5852160" y="1097280"/>
            <a:ext cx="2834640" cy="3383280"/>
          </a:xfrm>
          <a:prstGeom prst="rect">
            <a:avLst/>
          </a:prstGeom>
          <a:solidFill>
            <a:srgbClr val="F4F4F4"/>
          </a:solidFill>
          <a:ln w="9525">
            <a:solidFill>
              <a:srgbClr val="E3E3E3"/>
            </a:solidFill>
            <a:prstDash val="solid"/>
          </a:ln>
        </p:spPr>
      </p:sp>
      <p:sp>
        <p:nvSpPr>
          <p:cNvPr id="9" name="etiqueta lateral"/>
          <p:cNvSpPr txBox="1"/>
          <p:nvPr/>
        </p:nvSpPr>
        <p:spPr>
          <a:xfrm>
            <a:off x="6126480" y="1298448"/>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SUPERVISORES EN PISTA</a:t>
            </a:r>
            <a:endParaRPr lang="en-US" sz="800" dirty="0"/>
          </a:p>
        </p:txBody>
      </p:sp>
      <p:pic>
        <p:nvPicPr>
          <p:cNvPr id="10" name="icono lateral" descr="preencoded.png">    </p:cNvPr>
          <p:cNvPicPr>
            <a:picLocks noChangeAspect="1"/>
          </p:cNvPicPr>
          <p:nvPr/>
        </p:nvPicPr>
        <p:blipFill>
          <a:blip r:embed="rId2"/>
          <a:stretch>
            <a:fillRect/>
          </a:stretch>
        </p:blipFill>
        <p:spPr>
          <a:xfrm>
            <a:off x="6126480" y="1600200"/>
            <a:ext cx="457200" cy="457200"/>
          </a:xfrm>
          <a:prstGeom prst="rect">
            <a:avLst/>
          </a:prstGeom>
        </p:spPr>
      </p:pic>
      <p:sp>
        <p:nvSpPr>
          <p:cNvPr id="11" name="texto lateral"/>
          <p:cNvSpPr txBox="1"/>
          <p:nvPr/>
        </p:nvSpPr>
        <p:spPr>
          <a:xfrm>
            <a:off x="6126480" y="2240280"/>
            <a:ext cx="2331720" cy="2103120"/>
          </a:xfrm>
          <a:prstGeom prst="rect">
            <a:avLst/>
          </a:prstGeom>
          <a:noFill/>
          <a:ln/>
        </p:spPr>
        <p:txBody>
          <a:bodyPr wrap="square" lIns="0" tIns="0" rIns="0" bIns="0" rtlCol="0" anchor="t"/>
          <a:lstStyle/>
          <a:p>
            <a:pPr indent="0" marL="0">
              <a:buNone/>
            </a:pPr>
            <a:r>
              <a:rPr lang="en-US" sz="1100" b="1" dirty="0">
                <a:solidFill>
                  <a:srgbClr val="0F1C2C"/>
                </a:solidFill>
                <a:latin typeface="Montserrat" pitchFamily="34" charset="0"/>
                <a:ea typeface="Montserrat" pitchFamily="34" charset="-122"/>
                <a:cs typeface="Montserrat" pitchFamily="34" charset="-120"/>
              </a:rPr>
              <a:t>Hugo Negreyros</a:t>
            </a:r>
            <a:endParaRPr lang="en-US" sz="1150" dirty="0"/>
          </a:p>
          <a:p>
            <a:pPr indent="0" marL="0">
              <a:spcAft>
                <a:spcPts val="600"/>
              </a:spcAft>
              <a:buNone/>
            </a:pPr>
            <a:r>
              <a:rPr lang="en-US" sz="1000" dirty="0">
                <a:solidFill>
                  <a:srgbClr val="8C8C8C"/>
                </a:solidFill>
                <a:latin typeface="Arial" pitchFamily="34" charset="0"/>
                <a:ea typeface="Arial" pitchFamily="34" charset="-122"/>
                <a:cs typeface="Arial" pitchFamily="34" charset="-120"/>
              </a:rPr>
              <a:t>Supervisor</a:t>
            </a:r>
            <a:endParaRPr lang="en-US" sz="1150" dirty="0"/>
          </a:p>
          <a:p>
            <a:pPr indent="0" marL="0">
              <a:buNone/>
            </a:pPr>
            <a:r>
              <a:rPr lang="en-US" sz="1100" b="1" dirty="0">
                <a:solidFill>
                  <a:srgbClr val="0F1C2C"/>
                </a:solidFill>
                <a:latin typeface="Montserrat" pitchFamily="34" charset="0"/>
                <a:ea typeface="Montserrat" pitchFamily="34" charset="-122"/>
                <a:cs typeface="Montserrat" pitchFamily="34" charset="-120"/>
              </a:rPr>
              <a:t>Sergio García</a:t>
            </a:r>
            <a:endParaRPr lang="en-US" sz="1150" dirty="0"/>
          </a:p>
          <a:p>
            <a:pPr indent="0" marL="0">
              <a:spcAft>
                <a:spcPts val="600"/>
              </a:spcAft>
              <a:buNone/>
            </a:pPr>
            <a:r>
              <a:rPr lang="en-US" sz="1000" dirty="0">
                <a:solidFill>
                  <a:srgbClr val="8C8C8C"/>
                </a:solidFill>
                <a:latin typeface="Arial" pitchFamily="34" charset="0"/>
                <a:ea typeface="Arial" pitchFamily="34" charset="-122"/>
                <a:cs typeface="Arial" pitchFamily="34" charset="-120"/>
              </a:rPr>
              <a:t>Supervisor</a:t>
            </a:r>
            <a:endParaRPr lang="en-US" sz="1150" dirty="0"/>
          </a:p>
          <a:p>
            <a:pPr indent="0" marL="0">
              <a:buNone/>
            </a:pPr>
            <a:r>
              <a:rPr lang="en-US" sz="1100" b="1" dirty="0">
                <a:solidFill>
                  <a:srgbClr val="0F1C2C"/>
                </a:solidFill>
                <a:latin typeface="Montserrat" pitchFamily="34" charset="0"/>
                <a:ea typeface="Montserrat" pitchFamily="34" charset="-122"/>
                <a:cs typeface="Montserrat" pitchFamily="34" charset="-120"/>
              </a:rPr>
              <a:t>Juan Carlos Delgado</a:t>
            </a:r>
            <a:endParaRPr lang="en-US" sz="1150" dirty="0"/>
          </a:p>
          <a:p>
            <a:pPr indent="0" marL="0">
              <a:spcAft>
                <a:spcPts val="600"/>
              </a:spcAft>
              <a:buNone/>
            </a:pPr>
            <a:r>
              <a:rPr lang="en-US" sz="1000" dirty="0">
                <a:solidFill>
                  <a:srgbClr val="8C8C8C"/>
                </a:solidFill>
                <a:latin typeface="Arial" pitchFamily="34" charset="0"/>
                <a:ea typeface="Arial" pitchFamily="34" charset="-122"/>
                <a:cs typeface="Arial" pitchFamily="34" charset="-120"/>
              </a:rPr>
              <a:t>Supervisor</a:t>
            </a:r>
            <a:endParaRPr lang="en-US" sz="1150" dirty="0"/>
          </a:p>
          <a:p>
            <a:pPr indent="0" marL="0">
              <a:buNone/>
            </a:pPr>
            <a:r>
              <a:rPr lang="en-US" sz="1100" dirty="0">
                <a:solidFill>
                  <a:srgbClr val="5C5C5C"/>
                </a:solidFill>
                <a:latin typeface="Arial" pitchFamily="34" charset="0"/>
                <a:ea typeface="Arial" pitchFamily="34" charset="-122"/>
                <a:cs typeface="Arial" pitchFamily="34" charset="-120"/>
              </a:rPr>
              <a:t>Son las personas a las que hay que avisar para cualquier acceso a la zona.</a:t>
            </a:r>
            <a:endParaRPr lang="en-US" sz="11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ANTES DE ENTRAR,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RECUERDE</a:t>
            </a:r>
            <a:endParaRPr lang="en-US" sz="2000" dirty="0"/>
          </a:p>
        </p:txBody>
      </p:sp>
      <p:sp>
        <p:nvSpPr>
          <p:cNvPr id="3" name="separador 1"/>
          <p:cNvSpPr/>
          <p:nvPr/>
        </p:nvSpPr>
        <p:spPr>
          <a:xfrm>
            <a:off x="457200" y="1709928"/>
            <a:ext cx="5669280" cy="0"/>
          </a:xfrm>
          <a:prstGeom prst="line">
            <a:avLst/>
          </a:prstGeom>
          <a:noFill/>
          <a:ln w="9525">
            <a:solidFill>
              <a:srgbClr val="E3E3E3"/>
            </a:solidFill>
            <a:prstDash val="solid"/>
          </a:ln>
        </p:spPr>
      </p:sp>
      <p:pic>
        <p:nvPicPr>
          <p:cNvPr id="4" name="icono fila 1" descr="preencoded.png">    </p:cNvPr>
          <p:cNvPicPr>
            <a:picLocks noChangeAspect="1"/>
          </p:cNvPicPr>
          <p:nvPr/>
        </p:nvPicPr>
        <p:blipFill>
          <a:blip r:embed="rId1"/>
          <a:stretch>
            <a:fillRect/>
          </a:stretch>
        </p:blipFill>
        <p:spPr>
          <a:xfrm>
            <a:off x="502920" y="1234440"/>
            <a:ext cx="365760" cy="365760"/>
          </a:xfrm>
          <a:prstGeom prst="rect">
            <a:avLst/>
          </a:prstGeom>
        </p:spPr>
      </p:pic>
      <p:sp>
        <p:nvSpPr>
          <p:cNvPr id="5" name="texto fila 1"/>
          <p:cNvSpPr txBox="1"/>
          <p:nvPr/>
        </p:nvSpPr>
        <p:spPr>
          <a:xfrm>
            <a:off x="1097280" y="1143000"/>
            <a:ext cx="5029200" cy="548640"/>
          </a:xfrm>
          <a:prstGeom prst="rect">
            <a:avLst/>
          </a:prstGeom>
          <a:noFill/>
          <a:ln/>
        </p:spPr>
        <p:txBody>
          <a:bodyPr wrap="square" lIns="0" tIns="0" rIns="0" bIns="0" rtlCol="0" anchor="ctr"/>
          <a:lstStyle/>
          <a:p>
            <a:pPr indent="0" marL="0">
              <a:buNone/>
            </a:pPr>
            <a:r>
              <a:rPr lang="en-US" sz="1200" b="1" dirty="0">
                <a:solidFill>
                  <a:srgbClr val="0F1C2C"/>
                </a:solidFill>
                <a:latin typeface="Montserrat" pitchFamily="34" charset="0"/>
                <a:ea typeface="Montserrat" pitchFamily="34" charset="-122"/>
                <a:cs typeface="Montserrat" pitchFamily="34" charset="-120"/>
              </a:rPr>
              <a:t>Chaleco puesto  </a:t>
            </a:r>
            <a:pPr indent="0" marL="0">
              <a:buNone/>
            </a:pPr>
            <a:r>
              <a:rPr lang="en-US" sz="1200" dirty="0">
                <a:solidFill>
                  <a:srgbClr val="5C5C5C"/>
                </a:solidFill>
                <a:latin typeface="Arial" pitchFamily="34" charset="0"/>
                <a:ea typeface="Arial" pitchFamily="34" charset="-122"/>
                <a:cs typeface="Arial" pitchFamily="34" charset="-120"/>
              </a:rPr>
              <a:t>en todo momento dentro de la zona</a:t>
            </a:r>
            <a:endParaRPr lang="en-US" sz="1200" dirty="0"/>
          </a:p>
        </p:txBody>
      </p:sp>
      <p:sp>
        <p:nvSpPr>
          <p:cNvPr id="6" name="separador 2"/>
          <p:cNvSpPr/>
          <p:nvPr/>
        </p:nvSpPr>
        <p:spPr>
          <a:xfrm>
            <a:off x="457200" y="2368296"/>
            <a:ext cx="5669280" cy="0"/>
          </a:xfrm>
          <a:prstGeom prst="line">
            <a:avLst/>
          </a:prstGeom>
          <a:noFill/>
          <a:ln w="9525">
            <a:solidFill>
              <a:srgbClr val="E3E3E3"/>
            </a:solidFill>
            <a:prstDash val="solid"/>
          </a:ln>
        </p:spPr>
      </p:sp>
      <p:pic>
        <p:nvPicPr>
          <p:cNvPr id="7" name="icono fila 2" descr="preencoded.png">    </p:cNvPr>
          <p:cNvPicPr>
            <a:picLocks noChangeAspect="1"/>
          </p:cNvPicPr>
          <p:nvPr/>
        </p:nvPicPr>
        <p:blipFill>
          <a:blip r:embed="rId2"/>
          <a:stretch>
            <a:fillRect/>
          </a:stretch>
        </p:blipFill>
        <p:spPr>
          <a:xfrm>
            <a:off x="502920" y="1892808"/>
            <a:ext cx="365760" cy="365760"/>
          </a:xfrm>
          <a:prstGeom prst="rect">
            <a:avLst/>
          </a:prstGeom>
        </p:spPr>
      </p:pic>
      <p:sp>
        <p:nvSpPr>
          <p:cNvPr id="8" name="texto fila 2"/>
          <p:cNvSpPr txBox="1"/>
          <p:nvPr/>
        </p:nvSpPr>
        <p:spPr>
          <a:xfrm>
            <a:off x="1097280" y="1801368"/>
            <a:ext cx="5029200" cy="548640"/>
          </a:xfrm>
          <a:prstGeom prst="rect">
            <a:avLst/>
          </a:prstGeom>
          <a:noFill/>
          <a:ln/>
        </p:spPr>
        <p:txBody>
          <a:bodyPr wrap="square" lIns="0" tIns="0" rIns="0" bIns="0" rtlCol="0" anchor="ctr"/>
          <a:lstStyle/>
          <a:p>
            <a:pPr indent="0" marL="0">
              <a:buNone/>
            </a:pPr>
            <a:r>
              <a:rPr lang="en-US" sz="1200" b="1" dirty="0">
                <a:solidFill>
                  <a:srgbClr val="0F1C2C"/>
                </a:solidFill>
                <a:latin typeface="Montserrat" pitchFamily="34" charset="0"/>
                <a:ea typeface="Montserrat" pitchFamily="34" charset="-122"/>
                <a:cs typeface="Montserrat" pitchFamily="34" charset="-120"/>
              </a:rPr>
              <a:t>Dentro del área delimitada  </a:t>
            </a:r>
            <a:pPr indent="0" marL="0">
              <a:buNone/>
            </a:pPr>
            <a:r>
              <a:rPr lang="en-US" sz="1200" dirty="0">
                <a:solidFill>
                  <a:srgbClr val="5C5C5C"/>
                </a:solidFill>
                <a:latin typeface="Arial" pitchFamily="34" charset="0"/>
                <a:ea typeface="Arial" pitchFamily="34" charset="-122"/>
                <a:cs typeface="Arial" pitchFamily="34" charset="-120"/>
              </a:rPr>
              <a:t>acceso a pie por el paso señalizado</a:t>
            </a:r>
            <a:endParaRPr lang="en-US" sz="1200" dirty="0"/>
          </a:p>
        </p:txBody>
      </p:sp>
      <p:sp>
        <p:nvSpPr>
          <p:cNvPr id="9" name="separador 3"/>
          <p:cNvSpPr/>
          <p:nvPr/>
        </p:nvSpPr>
        <p:spPr>
          <a:xfrm>
            <a:off x="457200" y="3026664"/>
            <a:ext cx="5669280" cy="0"/>
          </a:xfrm>
          <a:prstGeom prst="line">
            <a:avLst/>
          </a:prstGeom>
          <a:noFill/>
          <a:ln w="9525">
            <a:solidFill>
              <a:srgbClr val="E3E3E3"/>
            </a:solidFill>
            <a:prstDash val="solid"/>
          </a:ln>
        </p:spPr>
      </p:sp>
      <p:pic>
        <p:nvPicPr>
          <p:cNvPr id="10" name="icono fila 3" descr="preencoded.png">    </p:cNvPr>
          <p:cNvPicPr>
            <a:picLocks noChangeAspect="1"/>
          </p:cNvPicPr>
          <p:nvPr/>
        </p:nvPicPr>
        <p:blipFill>
          <a:blip r:embed="rId3"/>
          <a:stretch>
            <a:fillRect/>
          </a:stretch>
        </p:blipFill>
        <p:spPr>
          <a:xfrm>
            <a:off x="502920" y="2551176"/>
            <a:ext cx="365760" cy="365760"/>
          </a:xfrm>
          <a:prstGeom prst="rect">
            <a:avLst/>
          </a:prstGeom>
        </p:spPr>
      </p:pic>
      <p:sp>
        <p:nvSpPr>
          <p:cNvPr id="11" name="texto fila 3"/>
          <p:cNvSpPr txBox="1"/>
          <p:nvPr/>
        </p:nvSpPr>
        <p:spPr>
          <a:xfrm>
            <a:off x="1097280" y="2459736"/>
            <a:ext cx="5029200" cy="548640"/>
          </a:xfrm>
          <a:prstGeom prst="rect">
            <a:avLst/>
          </a:prstGeom>
          <a:noFill/>
          <a:ln/>
        </p:spPr>
        <p:txBody>
          <a:bodyPr wrap="square" lIns="0" tIns="0" rIns="0" bIns="0" rtlCol="0" anchor="ctr"/>
          <a:lstStyle/>
          <a:p>
            <a:pPr indent="0" marL="0">
              <a:buNone/>
            </a:pPr>
            <a:r>
              <a:rPr lang="en-US" sz="1200" b="1" dirty="0">
                <a:solidFill>
                  <a:srgbClr val="0F1C2C"/>
                </a:solidFill>
                <a:latin typeface="Montserrat" pitchFamily="34" charset="0"/>
                <a:ea typeface="Montserrat" pitchFamily="34" charset="-122"/>
                <a:cs typeface="Montserrat" pitchFamily="34" charset="-120"/>
              </a:rPr>
              <a:t>En la carpa  </a:t>
            </a:r>
            <a:pPr indent="0" marL="0">
              <a:buNone/>
            </a:pPr>
            <a:r>
              <a:rPr lang="en-US" sz="1200" dirty="0">
                <a:solidFill>
                  <a:srgbClr val="5C5C5C"/>
                </a:solidFill>
                <a:latin typeface="Arial" pitchFamily="34" charset="0"/>
                <a:ea typeface="Arial" pitchFamily="34" charset="-122"/>
                <a:cs typeface="Arial" pitchFamily="34" charset="-120"/>
              </a:rPr>
              <a:t>cuando no se esté desplazando</a:t>
            </a:r>
            <a:endParaRPr lang="en-US" sz="1200" dirty="0"/>
          </a:p>
        </p:txBody>
      </p:sp>
      <p:sp>
        <p:nvSpPr>
          <p:cNvPr id="12" name="separador 4"/>
          <p:cNvSpPr/>
          <p:nvPr/>
        </p:nvSpPr>
        <p:spPr>
          <a:xfrm>
            <a:off x="457200" y="3685032"/>
            <a:ext cx="5669280" cy="0"/>
          </a:xfrm>
          <a:prstGeom prst="line">
            <a:avLst/>
          </a:prstGeom>
          <a:noFill/>
          <a:ln w="9525">
            <a:solidFill>
              <a:srgbClr val="E3E3E3"/>
            </a:solidFill>
            <a:prstDash val="solid"/>
          </a:ln>
        </p:spPr>
      </p:sp>
      <p:pic>
        <p:nvPicPr>
          <p:cNvPr id="13" name="icono fila 4" descr="preencoded.png">    </p:cNvPr>
          <p:cNvPicPr>
            <a:picLocks noChangeAspect="1"/>
          </p:cNvPicPr>
          <p:nvPr/>
        </p:nvPicPr>
        <p:blipFill>
          <a:blip r:embed="rId4"/>
          <a:stretch>
            <a:fillRect/>
          </a:stretch>
        </p:blipFill>
        <p:spPr>
          <a:xfrm>
            <a:off x="502920" y="3209544"/>
            <a:ext cx="365760" cy="365760"/>
          </a:xfrm>
          <a:prstGeom prst="rect">
            <a:avLst/>
          </a:prstGeom>
        </p:spPr>
      </p:pic>
      <p:sp>
        <p:nvSpPr>
          <p:cNvPr id="14" name="texto fila 4"/>
          <p:cNvSpPr txBox="1"/>
          <p:nvPr/>
        </p:nvSpPr>
        <p:spPr>
          <a:xfrm>
            <a:off x="1097280" y="3118104"/>
            <a:ext cx="5029200" cy="548640"/>
          </a:xfrm>
          <a:prstGeom prst="rect">
            <a:avLst/>
          </a:prstGeom>
          <a:noFill/>
          <a:ln/>
        </p:spPr>
        <p:txBody>
          <a:bodyPr wrap="square" lIns="0" tIns="0" rIns="0" bIns="0" rtlCol="0" anchor="ctr"/>
          <a:lstStyle/>
          <a:p>
            <a:pPr indent="0" marL="0">
              <a:buNone/>
            </a:pPr>
            <a:r>
              <a:rPr lang="en-US" sz="1200" b="1" dirty="0">
                <a:solidFill>
                  <a:srgbClr val="0F1C2C"/>
                </a:solidFill>
                <a:latin typeface="Montserrat" pitchFamily="34" charset="0"/>
                <a:ea typeface="Montserrat" pitchFamily="34" charset="-122"/>
                <a:cs typeface="Montserrat" pitchFamily="34" charset="-120"/>
              </a:rPr>
              <a:t>Camión detenido y conductor avisado  </a:t>
            </a:r>
            <a:pPr indent="0" marL="0">
              <a:buNone/>
            </a:pPr>
            <a:r>
              <a:rPr lang="en-US" sz="1200" dirty="0">
                <a:solidFill>
                  <a:srgbClr val="5C5C5C"/>
                </a:solidFill>
                <a:latin typeface="Arial" pitchFamily="34" charset="0"/>
                <a:ea typeface="Arial" pitchFamily="34" charset="-122"/>
                <a:cs typeface="Arial" pitchFamily="34" charset="-120"/>
              </a:rPr>
              <a:t>y esperar su aprobación</a:t>
            </a:r>
            <a:endParaRPr lang="en-US" sz="1200" dirty="0"/>
          </a:p>
        </p:txBody>
      </p:sp>
      <p:sp>
        <p:nvSpPr>
          <p:cNvPr id="15" name="separador 5"/>
          <p:cNvSpPr/>
          <p:nvPr/>
        </p:nvSpPr>
        <p:spPr>
          <a:xfrm>
            <a:off x="457200" y="4343400"/>
            <a:ext cx="5669280" cy="0"/>
          </a:xfrm>
          <a:prstGeom prst="line">
            <a:avLst/>
          </a:prstGeom>
          <a:noFill/>
          <a:ln w="9525">
            <a:solidFill>
              <a:srgbClr val="E3E3E3"/>
            </a:solidFill>
            <a:prstDash val="solid"/>
          </a:ln>
        </p:spPr>
      </p:sp>
      <p:pic>
        <p:nvPicPr>
          <p:cNvPr id="16" name="icono fila 5" descr="preencoded.png">    </p:cNvPr>
          <p:cNvPicPr>
            <a:picLocks noChangeAspect="1"/>
          </p:cNvPicPr>
          <p:nvPr/>
        </p:nvPicPr>
        <p:blipFill>
          <a:blip r:embed="rId5"/>
          <a:stretch>
            <a:fillRect/>
          </a:stretch>
        </p:blipFill>
        <p:spPr>
          <a:xfrm>
            <a:off x="502920" y="3867912"/>
            <a:ext cx="365760" cy="365760"/>
          </a:xfrm>
          <a:prstGeom prst="rect">
            <a:avLst/>
          </a:prstGeom>
        </p:spPr>
      </p:pic>
      <p:sp>
        <p:nvSpPr>
          <p:cNvPr id="17" name="texto fila 5"/>
          <p:cNvSpPr txBox="1"/>
          <p:nvPr/>
        </p:nvSpPr>
        <p:spPr>
          <a:xfrm>
            <a:off x="1097280" y="3776472"/>
            <a:ext cx="5029200" cy="548640"/>
          </a:xfrm>
          <a:prstGeom prst="rect">
            <a:avLst/>
          </a:prstGeom>
          <a:noFill/>
          <a:ln/>
        </p:spPr>
        <p:txBody>
          <a:bodyPr wrap="square" lIns="0" tIns="0" rIns="0" bIns="0" rtlCol="0" anchor="ctr"/>
          <a:lstStyle/>
          <a:p>
            <a:pPr indent="0" marL="0">
              <a:buNone/>
            </a:pPr>
            <a:r>
              <a:rPr lang="en-US" sz="1200" b="1" dirty="0">
                <a:solidFill>
                  <a:srgbClr val="0F1C2C"/>
                </a:solidFill>
                <a:latin typeface="Montserrat" pitchFamily="34" charset="0"/>
                <a:ea typeface="Montserrat" pitchFamily="34" charset="-122"/>
                <a:cs typeface="Montserrat" pitchFamily="34" charset="-120"/>
              </a:rPr>
              <a:t>Avisar a un supervisor  </a:t>
            </a:r>
            <a:pPr indent="0" marL="0">
              <a:buNone/>
            </a:pPr>
            <a:r>
              <a:rPr lang="en-US" sz="1200" dirty="0">
                <a:solidFill>
                  <a:srgbClr val="5C5C5C"/>
                </a:solidFill>
                <a:latin typeface="Arial" pitchFamily="34" charset="0"/>
                <a:ea typeface="Arial" pitchFamily="34" charset="-122"/>
                <a:cs typeface="Arial" pitchFamily="34" charset="-120"/>
              </a:rPr>
              <a:t>antes de cualquier acceso</a:t>
            </a:r>
            <a:endParaRPr lang="en-US" sz="1200" dirty="0"/>
          </a:p>
        </p:txBody>
      </p:sp>
      <p:sp>
        <p:nvSpPr>
          <p:cNvPr id="18" name="panel compromiso"/>
          <p:cNvSpPr/>
          <p:nvPr/>
        </p:nvSpPr>
        <p:spPr>
          <a:xfrm>
            <a:off x="6355080" y="1097280"/>
            <a:ext cx="2331720" cy="3383280"/>
          </a:xfrm>
          <a:prstGeom prst="rect">
            <a:avLst/>
          </a:prstGeom>
          <a:solidFill>
            <a:srgbClr val="F4F4F4"/>
          </a:solidFill>
          <a:ln w="9525">
            <a:solidFill>
              <a:srgbClr val="E3E3E3"/>
            </a:solidFill>
            <a:prstDash val="solid"/>
          </a:ln>
        </p:spPr>
      </p:sp>
      <p:pic>
        <p:nvPicPr>
          <p:cNvPr id="19" name="icono compromiso" descr="preencoded.png">    </p:cNvPr>
          <p:cNvPicPr>
            <a:picLocks noChangeAspect="1"/>
          </p:cNvPicPr>
          <p:nvPr/>
        </p:nvPicPr>
        <p:blipFill>
          <a:blip r:embed="rId6"/>
          <a:stretch>
            <a:fillRect/>
          </a:stretch>
        </p:blipFill>
        <p:spPr>
          <a:xfrm>
            <a:off x="6629400" y="1371600"/>
            <a:ext cx="457200" cy="457200"/>
          </a:xfrm>
          <a:prstGeom prst="rect">
            <a:avLst/>
          </a:prstGeom>
        </p:spPr>
      </p:pic>
      <p:sp>
        <p:nvSpPr>
          <p:cNvPr id="20" name="título compromiso"/>
          <p:cNvSpPr txBox="1"/>
          <p:nvPr/>
        </p:nvSpPr>
        <p:spPr>
          <a:xfrm>
            <a:off x="6629400" y="2011680"/>
            <a:ext cx="1828800" cy="548640"/>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UNA SOLA NORMA GENERAL</a:t>
            </a:r>
            <a:endParaRPr lang="en-US" sz="1200" dirty="0"/>
          </a:p>
        </p:txBody>
      </p:sp>
      <p:sp>
        <p:nvSpPr>
          <p:cNvPr id="21" name="texto compromiso"/>
          <p:cNvSpPr txBox="1"/>
          <p:nvPr/>
        </p:nvSpPr>
        <p:spPr>
          <a:xfrm>
            <a:off x="6629400" y="2606040"/>
            <a:ext cx="1828800" cy="1554480"/>
          </a:xfrm>
          <a:prstGeom prst="rect">
            <a:avLst/>
          </a:prstGeom>
          <a:noFill/>
          <a:ln/>
        </p:spPr>
        <p:txBody>
          <a:bodyPr wrap="square" lIns="0" tIns="0" rIns="0" bIns="0" rtlCol="0" anchor="t"/>
          <a:lstStyle/>
          <a:p>
            <a:pPr indent="0" marL="0">
              <a:buNone/>
            </a:pPr>
            <a:r>
              <a:rPr lang="en-US" sz="1150" dirty="0">
                <a:solidFill>
                  <a:srgbClr val="5C5C5C"/>
                </a:solidFill>
                <a:latin typeface="Arial" pitchFamily="34" charset="0"/>
                <a:ea typeface="Arial" pitchFamily="34" charset="-122"/>
                <a:cs typeface="Arial" pitchFamily="34" charset="-120"/>
              </a:rPr>
              <a:t>Si no está seguro de si puede hacer algo, no lo haga y pregunte a un supervisor.</a:t>
            </a:r>
            <a:endParaRPr lang="en-US" sz="11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title" hasCustomPrompt="1"/>
          </p:nvPr>
        </p:nvSpPr>
        <p:spPr>
          <a:xfrm>
            <a:off x="548640" y="1737360"/>
            <a:ext cx="8046720" cy="1737360"/>
          </a:xfrm>
          <a:prstGeom prst="rect">
            <a:avLst/>
          </a:prstGeom>
          <a:noFill/>
          <a:ln/>
        </p:spPr>
        <p:txBody>
          <a:bodyPr wrap="square" lIns="0" tIns="0" rIns="0" bIns="0" rtlCol="0" anchor="b"/>
          <a:lstStyle/>
          <a:p>
            <a:pPr algn="l" indent="0" marL="0">
              <a:buNone/>
            </a:pPr>
            <a:r>
              <a:rPr lang="en-US" sz="4000" b="1" dirty="0">
                <a:solidFill>
                  <a:srgbClr val="FFFFFF"/>
                </a:solidFill>
              </a:rPr>
              <a:t>PLAN DE</a:t>
            </a:r>
            <a:endParaRPr lang="en-US" sz="4000" dirty="0"/>
          </a:p>
          <a:p>
            <a:pPr algn="l" indent="0" marL="0">
              <a:buNone/>
            </a:pPr>
            <a:r>
              <a:rPr lang="en-US" sz="4000" b="1" dirty="0">
                <a:solidFill>
                  <a:srgbClr val="FFFFFF"/>
                </a:solidFill>
              </a:rPr>
              <a:t>PRUEBAS</a:t>
            </a:r>
            <a:endParaRPr lang="en-US" sz="4000" dirty="0"/>
          </a:p>
        </p:txBody>
      </p:sp>
      <p:sp>
        <p:nvSpPr>
          <p:cNvPr id="3" name="Text 2"/>
          <p:cNvSpPr/>
          <p:nvPr>
            <p:ph idx="104" type="body" hasCustomPrompt="1"/>
          </p:nvPr>
        </p:nvSpPr>
        <p:spPr>
          <a:xfrm>
            <a:off x="548640" y="3520440"/>
            <a:ext cx="8046720" cy="457200"/>
          </a:xfrm>
          <a:prstGeom prst="rect">
            <a:avLst/>
          </a:prstGeom>
          <a:noFill/>
          <a:ln/>
        </p:spPr>
        <p:txBody>
          <a:bodyPr wrap="square" lIns="0" tIns="0" rIns="0" bIns="0" rtlCol="0" anchor="t"/>
          <a:lstStyle/>
          <a:p>
            <a:pPr algn="l" indent="0" marL="0">
              <a:buNone/>
            </a:pPr>
            <a:r>
              <a:rPr lang="en-US" sz="1600" dirty="0">
                <a:solidFill>
                  <a:srgbClr val="FFFFFF"/>
                </a:solidFill>
              </a:rPr>
              <a:t>Productos que se demuestran y secuencia de cinco pruebas con dos camiones.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PRODUCTOS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EN LA PRUEBA</a:t>
            </a:r>
            <a:endParaRPr lang="en-US" sz="2000" dirty="0"/>
          </a:p>
        </p:txBody>
      </p:sp>
      <p:sp>
        <p:nvSpPr>
          <p:cNvPr id="3" name="chip productos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productos"/>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OPERACIÓN AUMENTADA</a:t>
            </a:r>
            <a:endParaRPr lang="en-US" sz="850" dirty="0"/>
          </a:p>
        </p:txBody>
      </p:sp>
      <p:pic>
        <p:nvPicPr>
          <p:cNvPr id="5" name="anillo portafolio" descr="/tmp/claude-0/-home-user-MITREPO/21d91df9-1cfc-5dbc-823a-a27b9a33fab4/scratchpad/deck/ring.png">    </p:cNvPr>
          <p:cNvPicPr>
            <a:picLocks noChangeAspect="1"/>
          </p:cNvPicPr>
          <p:nvPr/>
        </p:nvPicPr>
        <p:blipFill>
          <a:blip r:embed="rId1"/>
          <a:stretch>
            <a:fillRect/>
          </a:stretch>
        </p:blipFill>
        <p:spPr>
          <a:xfrm>
            <a:off x="685800" y="1325880"/>
            <a:ext cx="3017520" cy="3064459"/>
          </a:xfrm>
          <a:prstGeom prst="rect">
            <a:avLst/>
          </a:prstGeom>
        </p:spPr>
      </p:pic>
      <p:pic>
        <p:nvPicPr>
          <p:cNvPr id="6" name="logo centro anillo" descr="/tmp/claude-0/-home-user-MITREPO/21d91df9-1cfc-5dbc-823a-a27b9a33fab4/scratchpad/deck/corp/logo_dark.png">    </p:cNvPr>
          <p:cNvPicPr>
            <a:picLocks noChangeAspect="1"/>
          </p:cNvPicPr>
          <p:nvPr/>
        </p:nvPicPr>
        <p:blipFill>
          <a:blip r:embed="rId2"/>
          <a:stretch>
            <a:fillRect/>
          </a:stretch>
        </p:blipFill>
        <p:spPr>
          <a:xfrm>
            <a:off x="1508760" y="2670048"/>
            <a:ext cx="1371600" cy="368735"/>
          </a:xfrm>
          <a:prstGeom prst="rect">
            <a:avLst/>
          </a:prstGeom>
        </p:spPr>
      </p:pic>
      <p:sp>
        <p:nvSpPr>
          <p:cNvPr id="7" name="segmento interacción"/>
          <p:cNvSpPr txBox="1"/>
          <p:nvPr/>
        </p:nvSpPr>
        <p:spPr>
          <a:xfrm rot="18900000">
            <a:off x="505644" y="1804092"/>
            <a:ext cx="155448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Montserrat" pitchFamily="34" charset="0"/>
                <a:ea typeface="Montserrat" pitchFamily="34" charset="-122"/>
                <a:cs typeface="Montserrat" pitchFamily="34" charset="-120"/>
              </a:rPr>
              <a:t>INTERACTION ANALYSIS</a:t>
            </a:r>
            <a:endParaRPr lang="en-US" sz="750" dirty="0"/>
          </a:p>
        </p:txBody>
      </p:sp>
      <p:sp>
        <p:nvSpPr>
          <p:cNvPr id="8" name="segmento fatiga"/>
          <p:cNvSpPr txBox="1"/>
          <p:nvPr/>
        </p:nvSpPr>
        <p:spPr>
          <a:xfrm rot="1320000">
            <a:off x="2311782" y="1520346"/>
            <a:ext cx="73152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Montserrat" pitchFamily="34" charset="0"/>
                <a:ea typeface="Montserrat" pitchFamily="34" charset="-122"/>
                <a:cs typeface="Montserrat" pitchFamily="34" charset="-120"/>
              </a:rPr>
              <a:t>FATIGA</a:t>
            </a:r>
            <a:endParaRPr lang="en-US" sz="750" dirty="0"/>
          </a:p>
        </p:txBody>
      </p:sp>
      <p:sp>
        <p:nvSpPr>
          <p:cNvPr id="9" name="segmento intervención"/>
          <p:cNvSpPr txBox="1"/>
          <p:nvPr/>
        </p:nvSpPr>
        <p:spPr>
          <a:xfrm rot="3600000">
            <a:off x="2808210" y="2071116"/>
            <a:ext cx="100584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Montserrat" pitchFamily="34" charset="0"/>
                <a:ea typeface="Montserrat" pitchFamily="34" charset="-122"/>
                <a:cs typeface="Montserrat" pitchFamily="34" charset="-120"/>
              </a:rPr>
              <a:t>INTERVENTION</a:t>
            </a:r>
            <a:endParaRPr lang="en-US" sz="750" dirty="0"/>
          </a:p>
        </p:txBody>
      </p:sp>
      <p:sp>
        <p:nvSpPr>
          <p:cNvPr id="10" name="segmento gets"/>
          <p:cNvSpPr txBox="1"/>
          <p:nvPr/>
        </p:nvSpPr>
        <p:spPr>
          <a:xfrm rot="-4080000">
            <a:off x="3069942" y="3198750"/>
            <a:ext cx="64008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Montserrat" pitchFamily="34" charset="0"/>
                <a:ea typeface="Montserrat" pitchFamily="34" charset="-122"/>
                <a:cs typeface="Montserrat" pitchFamily="34" charset="-120"/>
              </a:rPr>
              <a:t>GETS</a:t>
            </a:r>
            <a:endParaRPr lang="en-US" sz="750" dirty="0"/>
          </a:p>
        </p:txBody>
      </p:sp>
      <p:sp>
        <p:nvSpPr>
          <p:cNvPr id="11" name="segmento condiciones"/>
          <p:cNvSpPr txBox="1"/>
          <p:nvPr/>
        </p:nvSpPr>
        <p:spPr>
          <a:xfrm rot="1200000">
            <a:off x="976352" y="3927317"/>
            <a:ext cx="1554480" cy="237744"/>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Montserrat" pitchFamily="34" charset="0"/>
                <a:ea typeface="Montserrat" pitchFamily="34" charset="-122"/>
                <a:cs typeface="Montserrat" pitchFamily="34" charset="-120"/>
              </a:rPr>
              <a:t>OPERATOR CONDITIONS</a:t>
            </a:r>
            <a:endParaRPr lang="en-US" sz="750" dirty="0"/>
          </a:p>
        </p:txBody>
      </p:sp>
      <p:sp>
        <p:nvSpPr>
          <p:cNvPr id="12" name="detalle segmentos"/>
          <p:cNvSpPr txBox="1"/>
          <p:nvPr/>
        </p:nvSpPr>
        <p:spPr>
          <a:xfrm>
            <a:off x="457200" y="4434840"/>
            <a:ext cx="3566160" cy="274320"/>
          </a:xfrm>
          <a:prstGeom prst="rect">
            <a:avLst/>
          </a:prstGeom>
          <a:noFill/>
          <a:ln/>
        </p:spPr>
        <p:txBody>
          <a:bodyPr wrap="square" lIns="0" tIns="0" rIns="0" bIns="0" rtlCol="0" anchor="t"/>
          <a:lstStyle/>
          <a:p>
            <a:pPr algn="ctr" indent="0" marL="0">
              <a:buNone/>
            </a:pPr>
            <a:r>
              <a:rPr lang="en-US" sz="750" dirty="0">
                <a:solidFill>
                  <a:srgbClr val="8C8C8C"/>
                </a:solidFill>
                <a:latin typeface="Arial" pitchFamily="34" charset="0"/>
                <a:ea typeface="Arial" pitchFamily="34" charset="-122"/>
                <a:cs typeface="Arial" pitchFamily="34" charset="-120"/>
              </a:rPr>
              <a:t>Interaction Analysis: V2V · V2P · V2O      Operator Conditions: vibrations, dust, gas, noise, temperature, humidity</a:t>
            </a:r>
            <a:endParaRPr lang="en-US" sz="750" dirty="0"/>
          </a:p>
        </p:txBody>
      </p:sp>
      <p:sp>
        <p:nvSpPr>
          <p:cNvPr id="13" name="etiqueta productos"/>
          <p:cNvSpPr txBox="1"/>
          <p:nvPr/>
        </p:nvSpPr>
        <p:spPr>
          <a:xfrm>
            <a:off x="4206240" y="1115568"/>
            <a:ext cx="448056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IMPLEMENTADOS EN LOS CAMIONES DE LA PRUEBA</a:t>
            </a:r>
            <a:endParaRPr lang="en-US" sz="800" dirty="0"/>
          </a:p>
        </p:txBody>
      </p:sp>
      <p:sp>
        <p:nvSpPr>
          <p:cNvPr id="14" name="producto CMS"/>
          <p:cNvSpPr/>
          <p:nvPr/>
        </p:nvSpPr>
        <p:spPr>
          <a:xfrm>
            <a:off x="4206240" y="1371600"/>
            <a:ext cx="4480560" cy="713232"/>
          </a:xfrm>
          <a:prstGeom prst="rect">
            <a:avLst/>
          </a:prstGeom>
          <a:solidFill>
            <a:srgbClr val="FFFFFF"/>
          </a:solidFill>
          <a:ln w="9525">
            <a:solidFill>
              <a:srgbClr val="E3E3E3"/>
            </a:solidFill>
            <a:prstDash val="solid"/>
          </a:ln>
        </p:spPr>
      </p:sp>
      <p:sp>
        <p:nvSpPr>
          <p:cNvPr id="15" name="producto CMS marca"/>
          <p:cNvSpPr/>
          <p:nvPr/>
        </p:nvSpPr>
        <p:spPr>
          <a:xfrm>
            <a:off x="4206240" y="1371600"/>
            <a:ext cx="54864" cy="713232"/>
          </a:xfrm>
          <a:prstGeom prst="rect">
            <a:avLst/>
          </a:prstGeom>
          <a:solidFill>
            <a:srgbClr val="D40319"/>
          </a:solidFill>
          <a:ln w="12700">
            <a:solidFill>
              <a:srgbClr val="D40319"/>
            </a:solidFill>
            <a:prstDash val="solid"/>
          </a:ln>
        </p:spPr>
      </p:sp>
      <p:sp>
        <p:nvSpPr>
          <p:cNvPr id="16" name="producto CMS sigla"/>
          <p:cNvSpPr txBox="1"/>
          <p:nvPr/>
        </p:nvSpPr>
        <p:spPr>
          <a:xfrm>
            <a:off x="4389120" y="1426464"/>
            <a:ext cx="914400" cy="365760"/>
          </a:xfrm>
          <a:prstGeom prst="rect">
            <a:avLst/>
          </a:prstGeom>
          <a:noFill/>
          <a:ln/>
        </p:spPr>
        <p:txBody>
          <a:bodyPr wrap="square" lIns="0" tIns="0" rIns="0" bIns="0" rtlCol="0" anchor="ctr"/>
          <a:lstStyle/>
          <a:p>
            <a:pPr indent="0" marL="0">
              <a:buNone/>
            </a:pPr>
            <a:r>
              <a:rPr lang="en-US" sz="2200" b="1" dirty="0">
                <a:solidFill>
                  <a:srgbClr val="D40319"/>
                </a:solidFill>
                <a:latin typeface="Montserrat" pitchFamily="34" charset="0"/>
                <a:ea typeface="Montserrat" pitchFamily="34" charset="-122"/>
                <a:cs typeface="Montserrat" pitchFamily="34" charset="-120"/>
              </a:rPr>
              <a:t>CMS</a:t>
            </a:r>
            <a:endParaRPr lang="en-US" sz="2200" dirty="0"/>
          </a:p>
        </p:txBody>
      </p:sp>
      <p:sp>
        <p:nvSpPr>
          <p:cNvPr id="17" name="producto CMS nombre fondo"/>
          <p:cNvSpPr/>
          <p:nvPr/>
        </p:nvSpPr>
        <p:spPr>
          <a:xfrm>
            <a:off x="4389120" y="1819656"/>
            <a:ext cx="2103120" cy="201168"/>
          </a:xfrm>
          <a:prstGeom prst="rect">
            <a:avLst/>
          </a:prstGeom>
          <a:solidFill>
            <a:srgbClr val="D40319"/>
          </a:solidFill>
          <a:ln w="12700">
            <a:solidFill>
              <a:srgbClr val="D40319"/>
            </a:solidFill>
            <a:prstDash val="solid"/>
          </a:ln>
        </p:spPr>
      </p:sp>
      <p:sp>
        <p:nvSpPr>
          <p:cNvPr id="18" name="producto CMS nombre"/>
          <p:cNvSpPr txBox="1"/>
          <p:nvPr/>
        </p:nvSpPr>
        <p:spPr>
          <a:xfrm>
            <a:off x="4389120" y="1819656"/>
            <a:ext cx="2103120" cy="201168"/>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Montserrat" pitchFamily="34" charset="0"/>
                <a:ea typeface="Montserrat" pitchFamily="34" charset="-122"/>
                <a:cs typeface="Montserrat" pitchFamily="34" charset="-120"/>
              </a:rPr>
              <a:t>COLLISION MANAGEMENT SYSTEM</a:t>
            </a:r>
            <a:endParaRPr lang="en-US" sz="700" dirty="0"/>
          </a:p>
        </p:txBody>
      </p:sp>
      <p:sp>
        <p:nvSpPr>
          <p:cNvPr id="19" name="producto CMS texto"/>
          <p:cNvSpPr txBox="1"/>
          <p:nvPr/>
        </p:nvSpPr>
        <p:spPr>
          <a:xfrm>
            <a:off x="6629400" y="1435608"/>
            <a:ext cx="1965960" cy="457200"/>
          </a:xfrm>
          <a:prstGeom prst="rect">
            <a:avLst/>
          </a:prstGeom>
          <a:noFill/>
          <a:ln/>
        </p:spPr>
        <p:txBody>
          <a:bodyPr wrap="square" lIns="0" tIns="0" rIns="0" bIns="0" rtlCol="0" anchor="t"/>
          <a:lstStyle/>
          <a:p>
            <a:pPr indent="0" marL="0">
              <a:buNone/>
            </a:pPr>
            <a:r>
              <a:rPr lang="en-US" sz="850" dirty="0">
                <a:solidFill>
                  <a:srgbClr val="5C5C5C"/>
                </a:solidFill>
                <a:latin typeface="Arial" pitchFamily="34" charset="0"/>
                <a:ea typeface="Arial" pitchFamily="34" charset="-122"/>
                <a:cs typeface="Arial" pitchFamily="34" charset="-120"/>
              </a:rPr>
              <a:t>Análisis de interacción entre vehículos: detecta y notifica el riesgo de colisión y actúa sobre la velocidad.</a:t>
            </a:r>
            <a:endParaRPr lang="en-US" sz="850" dirty="0"/>
          </a:p>
        </p:txBody>
      </p:sp>
      <p:sp>
        <p:nvSpPr>
          <p:cNvPr id="20" name="producto CMS segmento"/>
          <p:cNvSpPr txBox="1"/>
          <p:nvPr/>
        </p:nvSpPr>
        <p:spPr>
          <a:xfrm>
            <a:off x="6629400" y="1883664"/>
            <a:ext cx="1965960" cy="182880"/>
          </a:xfrm>
          <a:prstGeom prst="rect">
            <a:avLst/>
          </a:prstGeom>
          <a:noFill/>
          <a:ln/>
        </p:spPr>
        <p:txBody>
          <a:bodyPr wrap="square" lIns="0" tIns="0" rIns="0" bIns="0" rtlCol="0" anchor="t"/>
          <a:lstStyle/>
          <a:p>
            <a:pPr indent="0" marL="0">
              <a:buNone/>
            </a:pPr>
            <a:r>
              <a:rPr lang="en-US" sz="750" dirty="0">
                <a:solidFill>
                  <a:srgbClr val="8C8C8C"/>
                </a:solidFill>
                <a:latin typeface="Arial" pitchFamily="34" charset="0"/>
                <a:ea typeface="Arial" pitchFamily="34" charset="-122"/>
                <a:cs typeface="Arial" pitchFamily="34" charset="-120"/>
              </a:rPr>
              <a:t>Segmento: Interaction Analysis</a:t>
            </a:r>
            <a:endParaRPr lang="en-US" sz="750" dirty="0"/>
          </a:p>
        </p:txBody>
      </p:sp>
      <p:sp>
        <p:nvSpPr>
          <p:cNvPr id="21" name="producto ISA"/>
          <p:cNvSpPr/>
          <p:nvPr/>
        </p:nvSpPr>
        <p:spPr>
          <a:xfrm>
            <a:off x="4206240" y="2157984"/>
            <a:ext cx="4480560" cy="713232"/>
          </a:xfrm>
          <a:prstGeom prst="rect">
            <a:avLst/>
          </a:prstGeom>
          <a:solidFill>
            <a:srgbClr val="FFFFFF"/>
          </a:solidFill>
          <a:ln w="9525">
            <a:solidFill>
              <a:srgbClr val="E3E3E3"/>
            </a:solidFill>
            <a:prstDash val="solid"/>
          </a:ln>
        </p:spPr>
      </p:sp>
      <p:sp>
        <p:nvSpPr>
          <p:cNvPr id="22" name="producto ISA marca"/>
          <p:cNvSpPr/>
          <p:nvPr/>
        </p:nvSpPr>
        <p:spPr>
          <a:xfrm>
            <a:off x="4206240" y="2157984"/>
            <a:ext cx="54864" cy="713232"/>
          </a:xfrm>
          <a:prstGeom prst="rect">
            <a:avLst/>
          </a:prstGeom>
          <a:solidFill>
            <a:srgbClr val="D40319"/>
          </a:solidFill>
          <a:ln w="12700">
            <a:solidFill>
              <a:srgbClr val="D40319"/>
            </a:solidFill>
            <a:prstDash val="solid"/>
          </a:ln>
        </p:spPr>
      </p:sp>
      <p:sp>
        <p:nvSpPr>
          <p:cNvPr id="23" name="producto ISA sigla"/>
          <p:cNvSpPr txBox="1"/>
          <p:nvPr/>
        </p:nvSpPr>
        <p:spPr>
          <a:xfrm>
            <a:off x="4389120" y="2212848"/>
            <a:ext cx="914400" cy="365760"/>
          </a:xfrm>
          <a:prstGeom prst="rect">
            <a:avLst/>
          </a:prstGeom>
          <a:noFill/>
          <a:ln/>
        </p:spPr>
        <p:txBody>
          <a:bodyPr wrap="square" lIns="0" tIns="0" rIns="0" bIns="0" rtlCol="0" anchor="ctr"/>
          <a:lstStyle/>
          <a:p>
            <a:pPr indent="0" marL="0">
              <a:buNone/>
            </a:pPr>
            <a:r>
              <a:rPr lang="en-US" sz="2200" b="1" dirty="0">
                <a:solidFill>
                  <a:srgbClr val="D40319"/>
                </a:solidFill>
                <a:latin typeface="Montserrat" pitchFamily="34" charset="0"/>
                <a:ea typeface="Montserrat" pitchFamily="34" charset="-122"/>
                <a:cs typeface="Montserrat" pitchFamily="34" charset="-120"/>
              </a:rPr>
              <a:t>ISA</a:t>
            </a:r>
            <a:endParaRPr lang="en-US" sz="2200" dirty="0"/>
          </a:p>
        </p:txBody>
      </p:sp>
      <p:sp>
        <p:nvSpPr>
          <p:cNvPr id="24" name="producto ISA nombre fondo"/>
          <p:cNvSpPr/>
          <p:nvPr/>
        </p:nvSpPr>
        <p:spPr>
          <a:xfrm>
            <a:off x="4389120" y="2606040"/>
            <a:ext cx="2103120" cy="201168"/>
          </a:xfrm>
          <a:prstGeom prst="rect">
            <a:avLst/>
          </a:prstGeom>
          <a:solidFill>
            <a:srgbClr val="D40319"/>
          </a:solidFill>
          <a:ln w="12700">
            <a:solidFill>
              <a:srgbClr val="D40319"/>
            </a:solidFill>
            <a:prstDash val="solid"/>
          </a:ln>
        </p:spPr>
      </p:sp>
      <p:sp>
        <p:nvSpPr>
          <p:cNvPr id="25" name="producto ISA nombre"/>
          <p:cNvSpPr txBox="1"/>
          <p:nvPr/>
        </p:nvSpPr>
        <p:spPr>
          <a:xfrm>
            <a:off x="4389120" y="2606040"/>
            <a:ext cx="2103120" cy="201168"/>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Montserrat" pitchFamily="34" charset="0"/>
                <a:ea typeface="Montserrat" pitchFamily="34" charset="-122"/>
                <a:cs typeface="Montserrat" pitchFamily="34" charset="-120"/>
              </a:rPr>
              <a:t>INTERVENTION SAFETY ASSISTANT</a:t>
            </a:r>
            <a:endParaRPr lang="en-US" sz="700" dirty="0"/>
          </a:p>
        </p:txBody>
      </p:sp>
      <p:sp>
        <p:nvSpPr>
          <p:cNvPr id="26" name="producto ISA texto"/>
          <p:cNvSpPr txBox="1"/>
          <p:nvPr/>
        </p:nvSpPr>
        <p:spPr>
          <a:xfrm>
            <a:off x="6629400" y="2221992"/>
            <a:ext cx="1965960" cy="457200"/>
          </a:xfrm>
          <a:prstGeom prst="rect">
            <a:avLst/>
          </a:prstGeom>
          <a:noFill/>
          <a:ln/>
        </p:spPr>
        <p:txBody>
          <a:bodyPr wrap="square" lIns="0" tIns="0" rIns="0" bIns="0" rtlCol="0" anchor="t"/>
          <a:lstStyle/>
          <a:p>
            <a:pPr indent="0" marL="0">
              <a:buNone/>
            </a:pPr>
            <a:r>
              <a:rPr lang="en-US" sz="850" dirty="0">
                <a:solidFill>
                  <a:srgbClr val="5C5C5C"/>
                </a:solidFill>
                <a:latin typeface="Arial" pitchFamily="34" charset="0"/>
                <a:ea typeface="Arial" pitchFamily="34" charset="-122"/>
                <a:cs typeface="Arial" pitchFamily="34" charset="-120"/>
              </a:rPr>
              <a:t>Intervención automática: reduce la velocidad o detiene el camión ante una infracción del protocolo.</a:t>
            </a:r>
            <a:endParaRPr lang="en-US" sz="850" dirty="0"/>
          </a:p>
        </p:txBody>
      </p:sp>
      <p:sp>
        <p:nvSpPr>
          <p:cNvPr id="27" name="producto ISA segmento"/>
          <p:cNvSpPr txBox="1"/>
          <p:nvPr/>
        </p:nvSpPr>
        <p:spPr>
          <a:xfrm>
            <a:off x="6629400" y="2670048"/>
            <a:ext cx="1965960" cy="182880"/>
          </a:xfrm>
          <a:prstGeom prst="rect">
            <a:avLst/>
          </a:prstGeom>
          <a:noFill/>
          <a:ln/>
        </p:spPr>
        <p:txBody>
          <a:bodyPr wrap="square" lIns="0" tIns="0" rIns="0" bIns="0" rtlCol="0" anchor="t"/>
          <a:lstStyle/>
          <a:p>
            <a:pPr indent="0" marL="0">
              <a:buNone/>
            </a:pPr>
            <a:r>
              <a:rPr lang="en-US" sz="750" dirty="0">
                <a:solidFill>
                  <a:srgbClr val="8C8C8C"/>
                </a:solidFill>
                <a:latin typeface="Arial" pitchFamily="34" charset="0"/>
                <a:ea typeface="Arial" pitchFamily="34" charset="-122"/>
                <a:cs typeface="Arial" pitchFamily="34" charset="-120"/>
              </a:rPr>
              <a:t>Segmento: Intervention</a:t>
            </a:r>
            <a:endParaRPr lang="en-US" sz="750" dirty="0"/>
          </a:p>
        </p:txBody>
      </p:sp>
      <p:sp>
        <p:nvSpPr>
          <p:cNvPr id="28" name="producto WBV"/>
          <p:cNvSpPr/>
          <p:nvPr/>
        </p:nvSpPr>
        <p:spPr>
          <a:xfrm>
            <a:off x="4206240" y="2944368"/>
            <a:ext cx="4480560" cy="713232"/>
          </a:xfrm>
          <a:prstGeom prst="rect">
            <a:avLst/>
          </a:prstGeom>
          <a:solidFill>
            <a:srgbClr val="FFFFFF"/>
          </a:solidFill>
          <a:ln w="9525">
            <a:solidFill>
              <a:srgbClr val="E3E3E3"/>
            </a:solidFill>
            <a:prstDash val="solid"/>
          </a:ln>
        </p:spPr>
      </p:sp>
      <p:sp>
        <p:nvSpPr>
          <p:cNvPr id="29" name="producto WBV marca"/>
          <p:cNvSpPr/>
          <p:nvPr/>
        </p:nvSpPr>
        <p:spPr>
          <a:xfrm>
            <a:off x="4206240" y="2944368"/>
            <a:ext cx="54864" cy="713232"/>
          </a:xfrm>
          <a:prstGeom prst="rect">
            <a:avLst/>
          </a:prstGeom>
          <a:solidFill>
            <a:srgbClr val="D40319"/>
          </a:solidFill>
          <a:ln w="12700">
            <a:solidFill>
              <a:srgbClr val="D40319"/>
            </a:solidFill>
            <a:prstDash val="solid"/>
          </a:ln>
        </p:spPr>
      </p:sp>
      <p:sp>
        <p:nvSpPr>
          <p:cNvPr id="30" name="producto WBV sigla"/>
          <p:cNvSpPr txBox="1"/>
          <p:nvPr/>
        </p:nvSpPr>
        <p:spPr>
          <a:xfrm>
            <a:off x="4389120" y="2999232"/>
            <a:ext cx="914400" cy="365760"/>
          </a:xfrm>
          <a:prstGeom prst="rect">
            <a:avLst/>
          </a:prstGeom>
          <a:noFill/>
          <a:ln/>
        </p:spPr>
        <p:txBody>
          <a:bodyPr wrap="square" lIns="0" tIns="0" rIns="0" bIns="0" rtlCol="0" anchor="ctr"/>
          <a:lstStyle/>
          <a:p>
            <a:pPr indent="0" marL="0">
              <a:buNone/>
            </a:pPr>
            <a:r>
              <a:rPr lang="en-US" sz="2200" b="1" dirty="0">
                <a:solidFill>
                  <a:srgbClr val="D40319"/>
                </a:solidFill>
                <a:latin typeface="Montserrat" pitchFamily="34" charset="0"/>
                <a:ea typeface="Montserrat" pitchFamily="34" charset="-122"/>
                <a:cs typeface="Montserrat" pitchFamily="34" charset="-120"/>
              </a:rPr>
              <a:t>WBV</a:t>
            </a:r>
            <a:endParaRPr lang="en-US" sz="2200" dirty="0"/>
          </a:p>
        </p:txBody>
      </p:sp>
      <p:sp>
        <p:nvSpPr>
          <p:cNvPr id="31" name="producto WBV nombre fondo"/>
          <p:cNvSpPr/>
          <p:nvPr/>
        </p:nvSpPr>
        <p:spPr>
          <a:xfrm>
            <a:off x="4389120" y="3392424"/>
            <a:ext cx="2103120" cy="201168"/>
          </a:xfrm>
          <a:prstGeom prst="rect">
            <a:avLst/>
          </a:prstGeom>
          <a:solidFill>
            <a:srgbClr val="D40319"/>
          </a:solidFill>
          <a:ln w="12700">
            <a:solidFill>
              <a:srgbClr val="D40319"/>
            </a:solidFill>
            <a:prstDash val="solid"/>
          </a:ln>
        </p:spPr>
      </p:sp>
      <p:sp>
        <p:nvSpPr>
          <p:cNvPr id="32" name="producto WBV nombre"/>
          <p:cNvSpPr txBox="1"/>
          <p:nvPr/>
        </p:nvSpPr>
        <p:spPr>
          <a:xfrm>
            <a:off x="4389120" y="3392424"/>
            <a:ext cx="2103120" cy="201168"/>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Montserrat" pitchFamily="34" charset="0"/>
                <a:ea typeface="Montserrat" pitchFamily="34" charset="-122"/>
                <a:cs typeface="Montserrat" pitchFamily="34" charset="-120"/>
              </a:rPr>
              <a:t>WHOLE BODY VIBRATION MONITOR</a:t>
            </a:r>
            <a:endParaRPr lang="en-US" sz="700" dirty="0"/>
          </a:p>
        </p:txBody>
      </p:sp>
      <p:sp>
        <p:nvSpPr>
          <p:cNvPr id="33" name="producto WBV texto"/>
          <p:cNvSpPr txBox="1"/>
          <p:nvPr/>
        </p:nvSpPr>
        <p:spPr>
          <a:xfrm>
            <a:off x="6629400" y="3008376"/>
            <a:ext cx="1965960" cy="457200"/>
          </a:xfrm>
          <a:prstGeom prst="rect">
            <a:avLst/>
          </a:prstGeom>
          <a:noFill/>
          <a:ln/>
        </p:spPr>
        <p:txBody>
          <a:bodyPr wrap="square" lIns="0" tIns="0" rIns="0" bIns="0" rtlCol="0" anchor="t"/>
          <a:lstStyle/>
          <a:p>
            <a:pPr indent="0" marL="0">
              <a:buNone/>
            </a:pPr>
            <a:r>
              <a:rPr lang="en-US" sz="850" dirty="0">
                <a:solidFill>
                  <a:srgbClr val="5C5C5C"/>
                </a:solidFill>
                <a:latin typeface="Arial" pitchFamily="34" charset="0"/>
                <a:ea typeface="Arial" pitchFamily="34" charset="-122"/>
                <a:cs typeface="Arial" pitchFamily="34" charset="-120"/>
              </a:rPr>
              <a:t>Monitoriza la vibración de cuerpo entero que recibe el operador durante la marcha.</a:t>
            </a:r>
            <a:endParaRPr lang="en-US" sz="850" dirty="0"/>
          </a:p>
        </p:txBody>
      </p:sp>
      <p:sp>
        <p:nvSpPr>
          <p:cNvPr id="34" name="producto WBV segmento"/>
          <p:cNvSpPr txBox="1"/>
          <p:nvPr/>
        </p:nvSpPr>
        <p:spPr>
          <a:xfrm>
            <a:off x="6629400" y="3456432"/>
            <a:ext cx="1965960" cy="182880"/>
          </a:xfrm>
          <a:prstGeom prst="rect">
            <a:avLst/>
          </a:prstGeom>
          <a:noFill/>
          <a:ln/>
        </p:spPr>
        <p:txBody>
          <a:bodyPr wrap="square" lIns="0" tIns="0" rIns="0" bIns="0" rtlCol="0" anchor="t"/>
          <a:lstStyle/>
          <a:p>
            <a:pPr indent="0" marL="0">
              <a:buNone/>
            </a:pPr>
            <a:r>
              <a:rPr lang="en-US" sz="750" dirty="0">
                <a:solidFill>
                  <a:srgbClr val="8C8C8C"/>
                </a:solidFill>
                <a:latin typeface="Arial" pitchFamily="34" charset="0"/>
                <a:ea typeface="Arial" pitchFamily="34" charset="-122"/>
                <a:cs typeface="Arial" pitchFamily="34" charset="-120"/>
              </a:rPr>
              <a:t>Segmento: Operator Conditions</a:t>
            </a:r>
            <a:endParaRPr lang="en-US" sz="750" dirty="0"/>
          </a:p>
        </p:txBody>
      </p:sp>
      <p:sp>
        <p:nvSpPr>
          <p:cNvPr id="35" name="producto FAS"/>
          <p:cNvSpPr/>
          <p:nvPr/>
        </p:nvSpPr>
        <p:spPr>
          <a:xfrm>
            <a:off x="4206240" y="3730752"/>
            <a:ext cx="4480560" cy="713232"/>
          </a:xfrm>
          <a:prstGeom prst="rect">
            <a:avLst/>
          </a:prstGeom>
          <a:solidFill>
            <a:srgbClr val="FFFFFF"/>
          </a:solidFill>
          <a:ln w="9525">
            <a:solidFill>
              <a:srgbClr val="E3E3E3"/>
            </a:solidFill>
            <a:prstDash val="solid"/>
          </a:ln>
        </p:spPr>
      </p:sp>
      <p:sp>
        <p:nvSpPr>
          <p:cNvPr id="36" name="producto FAS marca"/>
          <p:cNvSpPr/>
          <p:nvPr/>
        </p:nvSpPr>
        <p:spPr>
          <a:xfrm>
            <a:off x="4206240" y="3730752"/>
            <a:ext cx="54864" cy="713232"/>
          </a:xfrm>
          <a:prstGeom prst="rect">
            <a:avLst/>
          </a:prstGeom>
          <a:solidFill>
            <a:srgbClr val="D40319"/>
          </a:solidFill>
          <a:ln w="12700">
            <a:solidFill>
              <a:srgbClr val="D40319"/>
            </a:solidFill>
            <a:prstDash val="solid"/>
          </a:ln>
        </p:spPr>
      </p:sp>
      <p:sp>
        <p:nvSpPr>
          <p:cNvPr id="37" name="producto FAS sigla"/>
          <p:cNvSpPr txBox="1"/>
          <p:nvPr/>
        </p:nvSpPr>
        <p:spPr>
          <a:xfrm>
            <a:off x="4389120" y="3785616"/>
            <a:ext cx="914400" cy="365760"/>
          </a:xfrm>
          <a:prstGeom prst="rect">
            <a:avLst/>
          </a:prstGeom>
          <a:noFill/>
          <a:ln/>
        </p:spPr>
        <p:txBody>
          <a:bodyPr wrap="square" lIns="0" tIns="0" rIns="0" bIns="0" rtlCol="0" anchor="ctr"/>
          <a:lstStyle/>
          <a:p>
            <a:pPr indent="0" marL="0">
              <a:buNone/>
            </a:pPr>
            <a:r>
              <a:rPr lang="en-US" sz="2200" b="1" dirty="0">
                <a:solidFill>
                  <a:srgbClr val="D40319"/>
                </a:solidFill>
                <a:latin typeface="Montserrat" pitchFamily="34" charset="0"/>
                <a:ea typeface="Montserrat" pitchFamily="34" charset="-122"/>
                <a:cs typeface="Montserrat" pitchFamily="34" charset="-120"/>
              </a:rPr>
              <a:t>FAS</a:t>
            </a:r>
            <a:endParaRPr lang="en-US" sz="2200" dirty="0"/>
          </a:p>
        </p:txBody>
      </p:sp>
      <p:sp>
        <p:nvSpPr>
          <p:cNvPr id="38" name="producto FAS nombre fondo"/>
          <p:cNvSpPr/>
          <p:nvPr/>
        </p:nvSpPr>
        <p:spPr>
          <a:xfrm>
            <a:off x="4389120" y="4178808"/>
            <a:ext cx="2103120" cy="201168"/>
          </a:xfrm>
          <a:prstGeom prst="rect">
            <a:avLst/>
          </a:prstGeom>
          <a:solidFill>
            <a:srgbClr val="D40319"/>
          </a:solidFill>
          <a:ln w="12700">
            <a:solidFill>
              <a:srgbClr val="D40319"/>
            </a:solidFill>
            <a:prstDash val="solid"/>
          </a:ln>
        </p:spPr>
      </p:sp>
      <p:sp>
        <p:nvSpPr>
          <p:cNvPr id="39" name="producto FAS nombre"/>
          <p:cNvSpPr txBox="1"/>
          <p:nvPr/>
        </p:nvSpPr>
        <p:spPr>
          <a:xfrm>
            <a:off x="4389120" y="4178808"/>
            <a:ext cx="2103120" cy="201168"/>
          </a:xfrm>
          <a:prstGeom prst="rect">
            <a:avLst/>
          </a:prstGeom>
          <a:noFill/>
          <a:ln/>
        </p:spPr>
        <p:txBody>
          <a:bodyPr wrap="square" lIns="0" tIns="0" rIns="0" bIns="0" rtlCol="0" anchor="ctr"/>
          <a:lstStyle/>
          <a:p>
            <a:pPr algn="ctr" indent="0" marL="0">
              <a:buNone/>
            </a:pPr>
            <a:r>
              <a:rPr lang="en-US" sz="700" b="1" spc="80" kern="0" dirty="0">
                <a:solidFill>
                  <a:srgbClr val="FFFFFF"/>
                </a:solidFill>
                <a:latin typeface="Montserrat" pitchFamily="34" charset="0"/>
                <a:ea typeface="Montserrat" pitchFamily="34" charset="-122"/>
                <a:cs typeface="Montserrat" pitchFamily="34" charset="-120"/>
              </a:rPr>
              <a:t>FATIGUE AWARENESS SYSTEM</a:t>
            </a:r>
            <a:endParaRPr lang="en-US" sz="700" dirty="0"/>
          </a:p>
        </p:txBody>
      </p:sp>
      <p:sp>
        <p:nvSpPr>
          <p:cNvPr id="40" name="producto FAS texto"/>
          <p:cNvSpPr txBox="1"/>
          <p:nvPr/>
        </p:nvSpPr>
        <p:spPr>
          <a:xfrm>
            <a:off x="6629400" y="3794760"/>
            <a:ext cx="1965960" cy="457200"/>
          </a:xfrm>
          <a:prstGeom prst="rect">
            <a:avLst/>
          </a:prstGeom>
          <a:noFill/>
          <a:ln/>
        </p:spPr>
        <p:txBody>
          <a:bodyPr wrap="square" lIns="0" tIns="0" rIns="0" bIns="0" rtlCol="0" anchor="t"/>
          <a:lstStyle/>
          <a:p>
            <a:pPr indent="0" marL="0">
              <a:buNone/>
            </a:pPr>
            <a:r>
              <a:rPr lang="en-US" sz="850" dirty="0">
                <a:solidFill>
                  <a:srgbClr val="5C5C5C"/>
                </a:solidFill>
                <a:latin typeface="Arial" pitchFamily="34" charset="0"/>
                <a:ea typeface="Arial" pitchFamily="34" charset="-122"/>
                <a:cs typeface="Arial" pitchFamily="34" charset="-120"/>
              </a:rPr>
              <a:t>Detecta fatiga y distracción del operador: somnolencia, uso del teléfono y postura.</a:t>
            </a:r>
            <a:endParaRPr lang="en-US" sz="850" dirty="0"/>
          </a:p>
        </p:txBody>
      </p:sp>
      <p:sp>
        <p:nvSpPr>
          <p:cNvPr id="41" name="producto FAS segmento"/>
          <p:cNvSpPr txBox="1"/>
          <p:nvPr/>
        </p:nvSpPr>
        <p:spPr>
          <a:xfrm>
            <a:off x="6629400" y="4242816"/>
            <a:ext cx="1965960" cy="182880"/>
          </a:xfrm>
          <a:prstGeom prst="rect">
            <a:avLst/>
          </a:prstGeom>
          <a:noFill/>
          <a:ln/>
        </p:spPr>
        <p:txBody>
          <a:bodyPr wrap="square" lIns="0" tIns="0" rIns="0" bIns="0" rtlCol="0" anchor="t"/>
          <a:lstStyle/>
          <a:p>
            <a:pPr indent="0" marL="0">
              <a:buNone/>
            </a:pPr>
            <a:r>
              <a:rPr lang="en-US" sz="750" dirty="0">
                <a:solidFill>
                  <a:srgbClr val="8C8C8C"/>
                </a:solidFill>
                <a:latin typeface="Arial" pitchFamily="34" charset="0"/>
                <a:ea typeface="Arial" pitchFamily="34" charset="-122"/>
                <a:cs typeface="Arial" pitchFamily="34" charset="-120"/>
              </a:rPr>
              <a:t>Segmento: Fatiga</a:t>
            </a:r>
            <a:endParaRPr lang="en-US" sz="7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CÓMO SE DESARROLLAN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LAS PRUEBAS</a:t>
            </a:r>
            <a:endParaRPr lang="en-US" sz="2000" dirty="0"/>
          </a:p>
        </p:txBody>
      </p:sp>
      <p:sp>
        <p:nvSpPr>
          <p:cNvPr id="3" name="principio 1"/>
          <p:cNvSpPr/>
          <p:nvPr/>
        </p:nvSpPr>
        <p:spPr>
          <a:xfrm>
            <a:off x="457200" y="1097280"/>
            <a:ext cx="2651760" cy="1920240"/>
          </a:xfrm>
          <a:prstGeom prst="rect">
            <a:avLst/>
          </a:prstGeom>
          <a:solidFill>
            <a:srgbClr val="FFFFFF"/>
          </a:solidFill>
          <a:ln w="9525">
            <a:solidFill>
              <a:srgbClr val="E3E3E3"/>
            </a:solidFill>
            <a:prstDash val="solid"/>
          </a:ln>
        </p:spPr>
      </p:sp>
      <p:pic>
        <p:nvPicPr>
          <p:cNvPr id="4" name="icono principio 1" descr="preencoded.png">    </p:cNvPr>
          <p:cNvPicPr>
            <a:picLocks noChangeAspect="1"/>
          </p:cNvPicPr>
          <p:nvPr/>
        </p:nvPicPr>
        <p:blipFill>
          <a:blip r:embed="rId1"/>
          <a:stretch>
            <a:fillRect/>
          </a:stretch>
        </p:blipFill>
        <p:spPr>
          <a:xfrm>
            <a:off x="685800" y="1325880"/>
            <a:ext cx="457200" cy="457200"/>
          </a:xfrm>
          <a:prstGeom prst="rect">
            <a:avLst/>
          </a:prstGeom>
        </p:spPr>
      </p:pic>
      <p:sp>
        <p:nvSpPr>
          <p:cNvPr id="5" name="título principio 1"/>
          <p:cNvSpPr txBox="1"/>
          <p:nvPr/>
        </p:nvSpPr>
        <p:spPr>
          <a:xfrm>
            <a:off x="685800" y="1874520"/>
            <a:ext cx="2194560" cy="457200"/>
          </a:xfrm>
          <a:prstGeom prst="rect">
            <a:avLst/>
          </a:prstGeom>
          <a:noFill/>
          <a:ln/>
        </p:spPr>
        <p:txBody>
          <a:bodyPr wrap="square" lIns="0" tIns="0" rIns="0" bIns="0" rtlCol="0" anchor="t"/>
          <a:lstStyle/>
          <a:p>
            <a:pPr indent="0" marL="0">
              <a:buNone/>
            </a:pPr>
            <a:r>
              <a:rPr lang="en-US" sz="1000" b="1" dirty="0">
                <a:solidFill>
                  <a:srgbClr val="0F1C2C"/>
                </a:solidFill>
                <a:latin typeface="Montserrat" pitchFamily="34" charset="0"/>
                <a:ea typeface="Montserrat" pitchFamily="34" charset="-122"/>
                <a:cs typeface="Montserrat" pitchFamily="34" charset="-120"/>
              </a:rPr>
              <a:t>CADA CAMIÓN, EN SU CARRIL</a:t>
            </a:r>
            <a:endParaRPr lang="en-US" sz="1000" dirty="0"/>
          </a:p>
        </p:txBody>
      </p:sp>
      <p:sp>
        <p:nvSpPr>
          <p:cNvPr id="6" name="texto principio 1"/>
          <p:cNvSpPr txBox="1"/>
          <p:nvPr/>
        </p:nvSpPr>
        <p:spPr>
          <a:xfrm>
            <a:off x="685800" y="2359152"/>
            <a:ext cx="2194560" cy="621792"/>
          </a:xfrm>
          <a:prstGeom prst="rect">
            <a:avLst/>
          </a:prstGeom>
          <a:noFill/>
          <a:ln/>
        </p:spPr>
        <p:txBody>
          <a:bodyPr wrap="square" lIns="0" tIns="0" rIns="0" bIns="0" rtlCol="0" anchor="t"/>
          <a:lstStyle/>
          <a:p>
            <a:pPr indent="0" marL="0">
              <a:buNone/>
            </a:pPr>
            <a:r>
              <a:rPr lang="en-US" sz="1000" dirty="0">
                <a:solidFill>
                  <a:srgbClr val="5C5C5C"/>
                </a:solidFill>
                <a:latin typeface="Arial" pitchFamily="34" charset="0"/>
                <a:ea typeface="Arial" pitchFamily="34" charset="-122"/>
                <a:cs typeface="Arial" pitchFamily="34" charset="-120"/>
              </a:rPr>
              <a:t>Se respeta el carril de cada camión en todas las pruebas. La interacción es segura: no hay enfrentamientos directos.</a:t>
            </a:r>
            <a:endParaRPr lang="en-US" sz="1000" dirty="0"/>
          </a:p>
        </p:txBody>
      </p:sp>
      <p:sp>
        <p:nvSpPr>
          <p:cNvPr id="7" name="principio 2"/>
          <p:cNvSpPr/>
          <p:nvPr/>
        </p:nvSpPr>
        <p:spPr>
          <a:xfrm>
            <a:off x="3246120" y="1097280"/>
            <a:ext cx="2651760" cy="1920240"/>
          </a:xfrm>
          <a:prstGeom prst="rect">
            <a:avLst/>
          </a:prstGeom>
          <a:solidFill>
            <a:srgbClr val="FFFFFF"/>
          </a:solidFill>
          <a:ln w="9525">
            <a:solidFill>
              <a:srgbClr val="E3E3E3"/>
            </a:solidFill>
            <a:prstDash val="solid"/>
          </a:ln>
        </p:spPr>
      </p:sp>
      <p:pic>
        <p:nvPicPr>
          <p:cNvPr id="8" name="icono principio 2" descr="preencoded.png">    </p:cNvPr>
          <p:cNvPicPr>
            <a:picLocks noChangeAspect="1"/>
          </p:cNvPicPr>
          <p:nvPr/>
        </p:nvPicPr>
        <p:blipFill>
          <a:blip r:embed="rId2"/>
          <a:stretch>
            <a:fillRect/>
          </a:stretch>
        </p:blipFill>
        <p:spPr>
          <a:xfrm>
            <a:off x="3474720" y="1325880"/>
            <a:ext cx="457200" cy="457200"/>
          </a:xfrm>
          <a:prstGeom prst="rect">
            <a:avLst/>
          </a:prstGeom>
        </p:spPr>
      </p:pic>
      <p:sp>
        <p:nvSpPr>
          <p:cNvPr id="9" name="título principio 2"/>
          <p:cNvSpPr txBox="1"/>
          <p:nvPr/>
        </p:nvSpPr>
        <p:spPr>
          <a:xfrm>
            <a:off x="3474720" y="1874520"/>
            <a:ext cx="2194560" cy="457200"/>
          </a:xfrm>
          <a:prstGeom prst="rect">
            <a:avLst/>
          </a:prstGeom>
          <a:noFill/>
          <a:ln/>
        </p:spPr>
        <p:txBody>
          <a:bodyPr wrap="square" lIns="0" tIns="0" rIns="0" bIns="0" rtlCol="0" anchor="t"/>
          <a:lstStyle/>
          <a:p>
            <a:pPr indent="0" marL="0">
              <a:buNone/>
            </a:pPr>
            <a:r>
              <a:rPr lang="en-US" sz="1000" b="1" dirty="0">
                <a:solidFill>
                  <a:srgbClr val="0F1C2C"/>
                </a:solidFill>
                <a:latin typeface="Montserrat" pitchFamily="34" charset="0"/>
                <a:ea typeface="Montserrat" pitchFamily="34" charset="-122"/>
                <a:cs typeface="Montserrat" pitchFamily="34" charset="-120"/>
              </a:rPr>
              <a:t>ESPACIO PARA MANIOBRAR</a:t>
            </a:r>
            <a:endParaRPr lang="en-US" sz="1000" dirty="0"/>
          </a:p>
        </p:txBody>
      </p:sp>
      <p:sp>
        <p:nvSpPr>
          <p:cNvPr id="10" name="texto principio 2"/>
          <p:cNvSpPr txBox="1"/>
          <p:nvPr/>
        </p:nvSpPr>
        <p:spPr>
          <a:xfrm>
            <a:off x="3474720" y="2359152"/>
            <a:ext cx="2194560" cy="621792"/>
          </a:xfrm>
          <a:prstGeom prst="rect">
            <a:avLst/>
          </a:prstGeom>
          <a:noFill/>
          <a:ln/>
        </p:spPr>
        <p:txBody>
          <a:bodyPr wrap="square" lIns="0" tIns="0" rIns="0" bIns="0" rtlCol="0" anchor="t"/>
          <a:lstStyle/>
          <a:p>
            <a:pPr indent="0" marL="0">
              <a:buNone/>
            </a:pPr>
            <a:r>
              <a:rPr lang="en-US" sz="1000" dirty="0">
                <a:solidFill>
                  <a:srgbClr val="5C5C5C"/>
                </a:solidFill>
                <a:latin typeface="Arial" pitchFamily="34" charset="0"/>
                <a:ea typeface="Arial" pitchFamily="34" charset="-122"/>
                <a:cs typeface="Arial" pitchFamily="34" charset="-120"/>
              </a:rPr>
              <a:t>Se dejan distancias suficientes para que cada camión pueda maniobrar sin invadir el carril del otro.</a:t>
            </a:r>
            <a:endParaRPr lang="en-US" sz="1000" dirty="0"/>
          </a:p>
        </p:txBody>
      </p:sp>
      <p:sp>
        <p:nvSpPr>
          <p:cNvPr id="11" name="principio 3"/>
          <p:cNvSpPr/>
          <p:nvPr/>
        </p:nvSpPr>
        <p:spPr>
          <a:xfrm>
            <a:off x="6035040" y="1097280"/>
            <a:ext cx="2651760" cy="1920240"/>
          </a:xfrm>
          <a:prstGeom prst="rect">
            <a:avLst/>
          </a:prstGeom>
          <a:solidFill>
            <a:srgbClr val="FFFFFF"/>
          </a:solidFill>
          <a:ln w="9525">
            <a:solidFill>
              <a:srgbClr val="E3E3E3"/>
            </a:solidFill>
            <a:prstDash val="solid"/>
          </a:ln>
        </p:spPr>
      </p:sp>
      <p:pic>
        <p:nvPicPr>
          <p:cNvPr id="12" name="icono principio 3" descr="preencoded.png">    </p:cNvPr>
          <p:cNvPicPr>
            <a:picLocks noChangeAspect="1"/>
          </p:cNvPicPr>
          <p:nvPr/>
        </p:nvPicPr>
        <p:blipFill>
          <a:blip r:embed="rId3"/>
          <a:stretch>
            <a:fillRect/>
          </a:stretch>
        </p:blipFill>
        <p:spPr>
          <a:xfrm>
            <a:off x="6263640" y="1325880"/>
            <a:ext cx="457200" cy="457200"/>
          </a:xfrm>
          <a:prstGeom prst="rect">
            <a:avLst/>
          </a:prstGeom>
        </p:spPr>
      </p:pic>
      <p:sp>
        <p:nvSpPr>
          <p:cNvPr id="13" name="título principio 3"/>
          <p:cNvSpPr txBox="1"/>
          <p:nvPr/>
        </p:nvSpPr>
        <p:spPr>
          <a:xfrm>
            <a:off x="6263640" y="1874520"/>
            <a:ext cx="2194560" cy="457200"/>
          </a:xfrm>
          <a:prstGeom prst="rect">
            <a:avLst/>
          </a:prstGeom>
          <a:noFill/>
          <a:ln/>
        </p:spPr>
        <p:txBody>
          <a:bodyPr wrap="square" lIns="0" tIns="0" rIns="0" bIns="0" rtlCol="0" anchor="t"/>
          <a:lstStyle/>
          <a:p>
            <a:pPr indent="0" marL="0">
              <a:buNone/>
            </a:pPr>
            <a:r>
              <a:rPr lang="en-US" sz="1000" b="1" dirty="0">
                <a:solidFill>
                  <a:srgbClr val="0F1C2C"/>
                </a:solidFill>
                <a:latin typeface="Montserrat" pitchFamily="34" charset="0"/>
                <a:ea typeface="Montserrat" pitchFamily="34" charset="-122"/>
                <a:cs typeface="Montserrat" pitchFamily="34" charset="-120"/>
              </a:rPr>
              <a:t>ANTE UN IMPREVISTO, SE DETIENE</a:t>
            </a:r>
            <a:endParaRPr lang="en-US" sz="1000" dirty="0"/>
          </a:p>
        </p:txBody>
      </p:sp>
      <p:sp>
        <p:nvSpPr>
          <p:cNvPr id="14" name="texto principio 3"/>
          <p:cNvSpPr txBox="1"/>
          <p:nvPr/>
        </p:nvSpPr>
        <p:spPr>
          <a:xfrm>
            <a:off x="6263640" y="2359152"/>
            <a:ext cx="2194560" cy="621792"/>
          </a:xfrm>
          <a:prstGeom prst="rect">
            <a:avLst/>
          </a:prstGeom>
          <a:noFill/>
          <a:ln/>
        </p:spPr>
        <p:txBody>
          <a:bodyPr wrap="square" lIns="0" tIns="0" rIns="0" bIns="0" rtlCol="0" anchor="t"/>
          <a:lstStyle/>
          <a:p>
            <a:pPr indent="0" marL="0">
              <a:buNone/>
            </a:pPr>
            <a:r>
              <a:rPr lang="en-US" sz="1000" dirty="0">
                <a:solidFill>
                  <a:srgbClr val="5C5C5C"/>
                </a:solidFill>
                <a:latin typeface="Arial" pitchFamily="34" charset="0"/>
                <a:ea typeface="Arial" pitchFamily="34" charset="-122"/>
                <a:cs typeface="Arial" pitchFamily="34" charset="-120"/>
              </a:rPr>
              <a:t>Si surge cualquier imprevisto, la prueba se para y se retoma solo cuando vuelve a ser segura.</a:t>
            </a:r>
            <a:endParaRPr lang="en-US" sz="1000" dirty="0"/>
          </a:p>
        </p:txBody>
      </p:sp>
      <p:sp>
        <p:nvSpPr>
          <p:cNvPr id="15" name="etiqueta secuencia"/>
          <p:cNvSpPr txBox="1"/>
          <p:nvPr/>
        </p:nvSpPr>
        <p:spPr>
          <a:xfrm>
            <a:off x="457200" y="3200400"/>
            <a:ext cx="27432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SECUENCIA</a:t>
            </a:r>
            <a:endParaRPr lang="en-US" sz="800" dirty="0"/>
          </a:p>
        </p:txBody>
      </p:sp>
      <p:sp>
        <p:nvSpPr>
          <p:cNvPr id="16" name="secuencia 1"/>
          <p:cNvSpPr/>
          <p:nvPr/>
        </p:nvSpPr>
        <p:spPr>
          <a:xfrm>
            <a:off x="457200" y="3474720"/>
            <a:ext cx="1554480" cy="960120"/>
          </a:xfrm>
          <a:prstGeom prst="rect">
            <a:avLst/>
          </a:prstGeom>
          <a:solidFill>
            <a:srgbClr val="FFFFFF"/>
          </a:solidFill>
          <a:ln w="9525">
            <a:solidFill>
              <a:srgbClr val="E3E3E3"/>
            </a:solidFill>
            <a:prstDash val="solid"/>
          </a:ln>
        </p:spPr>
      </p:sp>
      <p:sp>
        <p:nvSpPr>
          <p:cNvPr id="17" name="número secuencia 1"/>
          <p:cNvSpPr txBox="1"/>
          <p:nvPr/>
        </p:nvSpPr>
        <p:spPr>
          <a:xfrm>
            <a:off x="594360" y="3566160"/>
            <a:ext cx="457200" cy="365760"/>
          </a:xfrm>
          <a:prstGeom prst="rect">
            <a:avLst/>
          </a:prstGeom>
          <a:noFill/>
          <a:ln/>
        </p:spPr>
        <p:txBody>
          <a:bodyPr wrap="square" lIns="0" tIns="0" rIns="0" bIns="0" rtlCol="0" anchor="t"/>
          <a:lstStyle/>
          <a:p>
            <a:pPr indent="0" marL="0">
              <a:buNone/>
            </a:pPr>
            <a:r>
              <a:rPr lang="en-US" sz="2000" b="1" dirty="0">
                <a:solidFill>
                  <a:srgbClr val="D40319"/>
                </a:solidFill>
                <a:latin typeface="Montserrat" pitchFamily="34" charset="0"/>
                <a:ea typeface="Montserrat" pitchFamily="34" charset="-122"/>
                <a:cs typeface="Montserrat" pitchFamily="34" charset="-120"/>
              </a:rPr>
              <a:t>1</a:t>
            </a:r>
            <a:endParaRPr lang="en-US" sz="2000" dirty="0"/>
          </a:p>
        </p:txBody>
      </p:sp>
      <p:sp>
        <p:nvSpPr>
          <p:cNvPr id="18" name="texto secuencia 1"/>
          <p:cNvSpPr txBox="1"/>
          <p:nvPr/>
        </p:nvSpPr>
        <p:spPr>
          <a:xfrm>
            <a:off x="594360" y="3977640"/>
            <a:ext cx="1280160" cy="411480"/>
          </a:xfrm>
          <a:prstGeom prst="rect">
            <a:avLst/>
          </a:prstGeom>
          <a:noFill/>
          <a:ln/>
        </p:spPr>
        <p:txBody>
          <a:bodyPr wrap="square" lIns="0" tIns="0" rIns="0" bIns="0" rtlCol="0" anchor="t"/>
          <a:lstStyle/>
          <a:p>
            <a:pPr indent="0" marL="0">
              <a:buNone/>
            </a:pPr>
            <a:r>
              <a:rPr lang="en-US" sz="850" b="1" dirty="0">
                <a:solidFill>
                  <a:srgbClr val="0F1C2C"/>
                </a:solidFill>
                <a:latin typeface="Montserrat" pitchFamily="34" charset="0"/>
                <a:ea typeface="Montserrat" pitchFamily="34" charset="-122"/>
                <a:cs typeface="Montserrat" pitchFamily="34" charset="-120"/>
              </a:rPr>
              <a:t>ENFRENTAMIENTO</a:t>
            </a:r>
            <a:endParaRPr lang="en-US" sz="850" dirty="0"/>
          </a:p>
        </p:txBody>
      </p:sp>
      <p:sp>
        <p:nvSpPr>
          <p:cNvPr id="19" name="flecha secuencia 1"/>
          <p:cNvSpPr/>
          <p:nvPr/>
        </p:nvSpPr>
        <p:spPr>
          <a:xfrm>
            <a:off x="2020824" y="3954780"/>
            <a:ext cx="109728" cy="0"/>
          </a:xfrm>
          <a:prstGeom prst="line">
            <a:avLst/>
          </a:prstGeom>
          <a:noFill/>
          <a:ln w="19050">
            <a:solidFill>
              <a:srgbClr val="D40319"/>
            </a:solidFill>
            <a:prstDash val="solid"/>
            <a:tailEnd type="triangle"/>
          </a:ln>
        </p:spPr>
      </p:sp>
      <p:sp>
        <p:nvSpPr>
          <p:cNvPr id="20" name="secuencia 2"/>
          <p:cNvSpPr/>
          <p:nvPr/>
        </p:nvSpPr>
        <p:spPr>
          <a:xfrm>
            <a:off x="2139696" y="3474720"/>
            <a:ext cx="1554480" cy="960120"/>
          </a:xfrm>
          <a:prstGeom prst="rect">
            <a:avLst/>
          </a:prstGeom>
          <a:solidFill>
            <a:srgbClr val="FFFFFF"/>
          </a:solidFill>
          <a:ln w="9525">
            <a:solidFill>
              <a:srgbClr val="E3E3E3"/>
            </a:solidFill>
            <a:prstDash val="solid"/>
          </a:ln>
        </p:spPr>
      </p:sp>
      <p:sp>
        <p:nvSpPr>
          <p:cNvPr id="21" name="número secuencia 2"/>
          <p:cNvSpPr txBox="1"/>
          <p:nvPr/>
        </p:nvSpPr>
        <p:spPr>
          <a:xfrm>
            <a:off x="2276856" y="3566160"/>
            <a:ext cx="457200" cy="365760"/>
          </a:xfrm>
          <a:prstGeom prst="rect">
            <a:avLst/>
          </a:prstGeom>
          <a:noFill/>
          <a:ln/>
        </p:spPr>
        <p:txBody>
          <a:bodyPr wrap="square" lIns="0" tIns="0" rIns="0" bIns="0" rtlCol="0" anchor="t"/>
          <a:lstStyle/>
          <a:p>
            <a:pPr indent="0" marL="0">
              <a:buNone/>
            </a:pPr>
            <a:r>
              <a:rPr lang="en-US" sz="2000" b="1" dirty="0">
                <a:solidFill>
                  <a:srgbClr val="D40319"/>
                </a:solidFill>
                <a:latin typeface="Montserrat" pitchFamily="34" charset="0"/>
                <a:ea typeface="Montserrat" pitchFamily="34" charset="-122"/>
                <a:cs typeface="Montserrat" pitchFamily="34" charset="-120"/>
              </a:rPr>
              <a:t>2</a:t>
            </a:r>
            <a:endParaRPr lang="en-US" sz="2000" dirty="0"/>
          </a:p>
        </p:txBody>
      </p:sp>
      <p:sp>
        <p:nvSpPr>
          <p:cNvPr id="22" name="texto secuencia 2"/>
          <p:cNvSpPr txBox="1"/>
          <p:nvPr/>
        </p:nvSpPr>
        <p:spPr>
          <a:xfrm>
            <a:off x="2276856" y="3977640"/>
            <a:ext cx="1280160" cy="411480"/>
          </a:xfrm>
          <a:prstGeom prst="rect">
            <a:avLst/>
          </a:prstGeom>
          <a:noFill/>
          <a:ln/>
        </p:spPr>
        <p:txBody>
          <a:bodyPr wrap="square" lIns="0" tIns="0" rIns="0" bIns="0" rtlCol="0" anchor="t"/>
          <a:lstStyle/>
          <a:p>
            <a:pPr indent="0" marL="0">
              <a:buNone/>
            </a:pPr>
            <a:r>
              <a:rPr lang="en-US" sz="850" b="1" dirty="0">
                <a:solidFill>
                  <a:srgbClr val="0F1C2C"/>
                </a:solidFill>
                <a:latin typeface="Montserrat" pitchFamily="34" charset="0"/>
                <a:ea typeface="Montserrat" pitchFamily="34" charset="-122"/>
                <a:cs typeface="Montserrat" pitchFamily="34" charset="-120"/>
              </a:rPr>
              <a:t>CRUCE EN CARRILES</a:t>
            </a:r>
            <a:endParaRPr lang="en-US" sz="850" dirty="0"/>
          </a:p>
          <a:p>
            <a:pPr indent="0" marL="0">
              <a:buNone/>
            </a:pPr>
            <a:r>
              <a:rPr lang="en-US" sz="850" b="1" dirty="0">
                <a:solidFill>
                  <a:srgbClr val="0F1C2C"/>
                </a:solidFill>
                <a:latin typeface="Montserrat" pitchFamily="34" charset="0"/>
                <a:ea typeface="Montserrat" pitchFamily="34" charset="-122"/>
                <a:cs typeface="Montserrat" pitchFamily="34" charset="-120"/>
              </a:rPr>
              <a:t>DISTINTOS</a:t>
            </a:r>
            <a:endParaRPr lang="en-US" sz="850" dirty="0"/>
          </a:p>
        </p:txBody>
      </p:sp>
      <p:sp>
        <p:nvSpPr>
          <p:cNvPr id="23" name="flecha secuencia 2"/>
          <p:cNvSpPr/>
          <p:nvPr/>
        </p:nvSpPr>
        <p:spPr>
          <a:xfrm>
            <a:off x="3703320" y="3954780"/>
            <a:ext cx="109728" cy="0"/>
          </a:xfrm>
          <a:prstGeom prst="line">
            <a:avLst/>
          </a:prstGeom>
          <a:noFill/>
          <a:ln w="19050">
            <a:solidFill>
              <a:srgbClr val="D40319"/>
            </a:solidFill>
            <a:prstDash val="solid"/>
            <a:tailEnd type="triangle"/>
          </a:ln>
        </p:spPr>
      </p:sp>
      <p:sp>
        <p:nvSpPr>
          <p:cNvPr id="24" name="secuencia 3"/>
          <p:cNvSpPr/>
          <p:nvPr/>
        </p:nvSpPr>
        <p:spPr>
          <a:xfrm>
            <a:off x="3822192" y="3474720"/>
            <a:ext cx="1554480" cy="960120"/>
          </a:xfrm>
          <a:prstGeom prst="rect">
            <a:avLst/>
          </a:prstGeom>
          <a:solidFill>
            <a:srgbClr val="FFFFFF"/>
          </a:solidFill>
          <a:ln w="9525">
            <a:solidFill>
              <a:srgbClr val="E3E3E3"/>
            </a:solidFill>
            <a:prstDash val="solid"/>
          </a:ln>
        </p:spPr>
      </p:sp>
      <p:sp>
        <p:nvSpPr>
          <p:cNvPr id="25" name="número secuencia 3"/>
          <p:cNvSpPr txBox="1"/>
          <p:nvPr/>
        </p:nvSpPr>
        <p:spPr>
          <a:xfrm>
            <a:off x="3959352" y="3566160"/>
            <a:ext cx="457200" cy="365760"/>
          </a:xfrm>
          <a:prstGeom prst="rect">
            <a:avLst/>
          </a:prstGeom>
          <a:noFill/>
          <a:ln/>
        </p:spPr>
        <p:txBody>
          <a:bodyPr wrap="square" lIns="0" tIns="0" rIns="0" bIns="0" rtlCol="0" anchor="t"/>
          <a:lstStyle/>
          <a:p>
            <a:pPr indent="0" marL="0">
              <a:buNone/>
            </a:pPr>
            <a:r>
              <a:rPr lang="en-US" sz="2000" b="1" dirty="0">
                <a:solidFill>
                  <a:srgbClr val="D40319"/>
                </a:solidFill>
                <a:latin typeface="Montserrat" pitchFamily="34" charset="0"/>
                <a:ea typeface="Montserrat" pitchFamily="34" charset="-122"/>
                <a:cs typeface="Montserrat" pitchFamily="34" charset="-120"/>
              </a:rPr>
              <a:t>3</a:t>
            </a:r>
            <a:endParaRPr lang="en-US" sz="2000" dirty="0"/>
          </a:p>
        </p:txBody>
      </p:sp>
      <p:sp>
        <p:nvSpPr>
          <p:cNvPr id="26" name="texto secuencia 3"/>
          <p:cNvSpPr txBox="1"/>
          <p:nvPr/>
        </p:nvSpPr>
        <p:spPr>
          <a:xfrm>
            <a:off x="3959352" y="3977640"/>
            <a:ext cx="1280160" cy="411480"/>
          </a:xfrm>
          <a:prstGeom prst="rect">
            <a:avLst/>
          </a:prstGeom>
          <a:noFill/>
          <a:ln/>
        </p:spPr>
        <p:txBody>
          <a:bodyPr wrap="square" lIns="0" tIns="0" rIns="0" bIns="0" rtlCol="0" anchor="t"/>
          <a:lstStyle/>
          <a:p>
            <a:pPr indent="0" marL="0">
              <a:buNone/>
            </a:pPr>
            <a:r>
              <a:rPr lang="en-US" sz="850" b="1" dirty="0">
                <a:solidFill>
                  <a:srgbClr val="0F1C2C"/>
                </a:solidFill>
                <a:latin typeface="Montserrat" pitchFamily="34" charset="0"/>
                <a:ea typeface="Montserrat" pitchFamily="34" charset="-122"/>
                <a:cs typeface="Montserrat" pitchFamily="34" charset="-120"/>
              </a:rPr>
              <a:t>SEGUIMIENTO</a:t>
            </a:r>
            <a:endParaRPr lang="en-US" sz="850" dirty="0"/>
          </a:p>
        </p:txBody>
      </p:sp>
      <p:sp>
        <p:nvSpPr>
          <p:cNvPr id="27" name="flecha secuencia 3"/>
          <p:cNvSpPr/>
          <p:nvPr/>
        </p:nvSpPr>
        <p:spPr>
          <a:xfrm>
            <a:off x="5385816" y="3954780"/>
            <a:ext cx="109728" cy="0"/>
          </a:xfrm>
          <a:prstGeom prst="line">
            <a:avLst/>
          </a:prstGeom>
          <a:noFill/>
          <a:ln w="19050">
            <a:solidFill>
              <a:srgbClr val="D40319"/>
            </a:solidFill>
            <a:prstDash val="solid"/>
            <a:tailEnd type="triangle"/>
          </a:ln>
        </p:spPr>
      </p:sp>
      <p:sp>
        <p:nvSpPr>
          <p:cNvPr id="28" name="secuencia 4"/>
          <p:cNvSpPr/>
          <p:nvPr/>
        </p:nvSpPr>
        <p:spPr>
          <a:xfrm>
            <a:off x="5504688" y="3474720"/>
            <a:ext cx="1554480" cy="960120"/>
          </a:xfrm>
          <a:prstGeom prst="rect">
            <a:avLst/>
          </a:prstGeom>
          <a:solidFill>
            <a:srgbClr val="FFFFFF"/>
          </a:solidFill>
          <a:ln w="9525">
            <a:solidFill>
              <a:srgbClr val="E3E3E3"/>
            </a:solidFill>
            <a:prstDash val="solid"/>
          </a:ln>
        </p:spPr>
      </p:sp>
      <p:sp>
        <p:nvSpPr>
          <p:cNvPr id="29" name="número secuencia 4"/>
          <p:cNvSpPr txBox="1"/>
          <p:nvPr/>
        </p:nvSpPr>
        <p:spPr>
          <a:xfrm>
            <a:off x="5641848" y="3566160"/>
            <a:ext cx="457200" cy="365760"/>
          </a:xfrm>
          <a:prstGeom prst="rect">
            <a:avLst/>
          </a:prstGeom>
          <a:noFill/>
          <a:ln/>
        </p:spPr>
        <p:txBody>
          <a:bodyPr wrap="square" lIns="0" tIns="0" rIns="0" bIns="0" rtlCol="0" anchor="t"/>
          <a:lstStyle/>
          <a:p>
            <a:pPr indent="0" marL="0">
              <a:buNone/>
            </a:pPr>
            <a:r>
              <a:rPr lang="en-US" sz="2000" b="1" dirty="0">
                <a:solidFill>
                  <a:srgbClr val="D40319"/>
                </a:solidFill>
                <a:latin typeface="Montserrat" pitchFamily="34" charset="0"/>
                <a:ea typeface="Montserrat" pitchFamily="34" charset="-122"/>
                <a:cs typeface="Montserrat" pitchFamily="34" charset="-120"/>
              </a:rPr>
              <a:t>4</a:t>
            </a:r>
            <a:endParaRPr lang="en-US" sz="2000" dirty="0"/>
          </a:p>
        </p:txBody>
      </p:sp>
      <p:sp>
        <p:nvSpPr>
          <p:cNvPr id="30" name="texto secuencia 4"/>
          <p:cNvSpPr txBox="1"/>
          <p:nvPr/>
        </p:nvSpPr>
        <p:spPr>
          <a:xfrm>
            <a:off x="5641848" y="3977640"/>
            <a:ext cx="1280160" cy="411480"/>
          </a:xfrm>
          <a:prstGeom prst="rect">
            <a:avLst/>
          </a:prstGeom>
          <a:noFill/>
          <a:ln/>
        </p:spPr>
        <p:txBody>
          <a:bodyPr wrap="square" lIns="0" tIns="0" rIns="0" bIns="0" rtlCol="0" anchor="t"/>
          <a:lstStyle/>
          <a:p>
            <a:pPr indent="0" marL="0">
              <a:buNone/>
            </a:pPr>
            <a:r>
              <a:rPr lang="en-US" sz="850" b="1" dirty="0">
                <a:solidFill>
                  <a:srgbClr val="0F1C2C"/>
                </a:solidFill>
                <a:latin typeface="Montserrat" pitchFamily="34" charset="0"/>
                <a:ea typeface="Montserrat" pitchFamily="34" charset="-122"/>
                <a:cs typeface="Montserrat" pitchFamily="34" charset="-120"/>
              </a:rPr>
              <a:t>CRUCE EN</a:t>
            </a:r>
            <a:endParaRPr lang="en-US" sz="850" dirty="0"/>
          </a:p>
          <a:p>
            <a:pPr indent="0" marL="0">
              <a:buNone/>
            </a:pPr>
            <a:r>
              <a:rPr lang="en-US" sz="850" b="1" dirty="0">
                <a:solidFill>
                  <a:srgbClr val="0F1C2C"/>
                </a:solidFill>
                <a:latin typeface="Montserrat" pitchFamily="34" charset="0"/>
                <a:ea typeface="Montserrat" pitchFamily="34" charset="-122"/>
                <a:cs typeface="Montserrat" pitchFamily="34" charset="-120"/>
              </a:rPr>
              <a:t>INTERSECCIÓN</a:t>
            </a:r>
            <a:endParaRPr lang="en-US" sz="850" dirty="0"/>
          </a:p>
        </p:txBody>
      </p:sp>
      <p:sp>
        <p:nvSpPr>
          <p:cNvPr id="31" name="flecha secuencia 4"/>
          <p:cNvSpPr/>
          <p:nvPr/>
        </p:nvSpPr>
        <p:spPr>
          <a:xfrm>
            <a:off x="7068312" y="3954780"/>
            <a:ext cx="109728" cy="0"/>
          </a:xfrm>
          <a:prstGeom prst="line">
            <a:avLst/>
          </a:prstGeom>
          <a:noFill/>
          <a:ln w="19050">
            <a:solidFill>
              <a:srgbClr val="D40319"/>
            </a:solidFill>
            <a:prstDash val="solid"/>
            <a:tailEnd type="triangle"/>
          </a:ln>
        </p:spPr>
      </p:sp>
      <p:sp>
        <p:nvSpPr>
          <p:cNvPr id="32" name="secuencia 5"/>
          <p:cNvSpPr/>
          <p:nvPr/>
        </p:nvSpPr>
        <p:spPr>
          <a:xfrm>
            <a:off x="7187184" y="3474720"/>
            <a:ext cx="1554480" cy="960120"/>
          </a:xfrm>
          <a:prstGeom prst="rect">
            <a:avLst/>
          </a:prstGeom>
          <a:solidFill>
            <a:srgbClr val="F4F4F4"/>
          </a:solidFill>
          <a:ln w="9525">
            <a:solidFill>
              <a:srgbClr val="E3E3E3"/>
            </a:solidFill>
            <a:prstDash val="solid"/>
          </a:ln>
        </p:spPr>
      </p:sp>
      <p:sp>
        <p:nvSpPr>
          <p:cNvPr id="33" name="número secuencia 5"/>
          <p:cNvSpPr txBox="1"/>
          <p:nvPr/>
        </p:nvSpPr>
        <p:spPr>
          <a:xfrm>
            <a:off x="7324344" y="3566160"/>
            <a:ext cx="457200" cy="365760"/>
          </a:xfrm>
          <a:prstGeom prst="rect">
            <a:avLst/>
          </a:prstGeom>
          <a:noFill/>
          <a:ln/>
        </p:spPr>
        <p:txBody>
          <a:bodyPr wrap="square" lIns="0" tIns="0" rIns="0" bIns="0" rtlCol="0" anchor="t"/>
          <a:lstStyle/>
          <a:p>
            <a:pPr indent="0" marL="0">
              <a:buNone/>
            </a:pPr>
            <a:r>
              <a:rPr lang="en-US" sz="2000" b="1" dirty="0">
                <a:solidFill>
                  <a:srgbClr val="D40319"/>
                </a:solidFill>
                <a:latin typeface="Montserrat" pitchFamily="34" charset="0"/>
                <a:ea typeface="Montserrat" pitchFamily="34" charset="-122"/>
                <a:cs typeface="Montserrat" pitchFamily="34" charset="-120"/>
              </a:rPr>
              <a:t>5</a:t>
            </a:r>
            <a:endParaRPr lang="en-US" sz="2000" dirty="0"/>
          </a:p>
        </p:txBody>
      </p:sp>
      <p:sp>
        <p:nvSpPr>
          <p:cNvPr id="34" name="texto secuencia 5"/>
          <p:cNvSpPr txBox="1"/>
          <p:nvPr/>
        </p:nvSpPr>
        <p:spPr>
          <a:xfrm>
            <a:off x="7324344" y="3977640"/>
            <a:ext cx="1280160" cy="411480"/>
          </a:xfrm>
          <a:prstGeom prst="rect">
            <a:avLst/>
          </a:prstGeom>
          <a:noFill/>
          <a:ln/>
        </p:spPr>
        <p:txBody>
          <a:bodyPr wrap="square" lIns="0" tIns="0" rIns="0" bIns="0" rtlCol="0" anchor="t"/>
          <a:lstStyle/>
          <a:p>
            <a:pPr indent="0" marL="0">
              <a:buNone/>
            </a:pPr>
            <a:r>
              <a:rPr lang="en-US" sz="850" b="1" dirty="0">
                <a:solidFill>
                  <a:srgbClr val="0F1C2C"/>
                </a:solidFill>
                <a:latin typeface="Montserrat" pitchFamily="34" charset="0"/>
                <a:ea typeface="Montserrat" pitchFamily="34" charset="-122"/>
                <a:cs typeface="Montserrat" pitchFamily="34" charset="-120"/>
              </a:rPr>
              <a:t>RECTA:</a:t>
            </a:r>
            <a:endParaRPr lang="en-US" sz="850" dirty="0"/>
          </a:p>
          <a:p>
            <a:pPr indent="0" marL="0">
              <a:buNone/>
            </a:pPr>
            <a:r>
              <a:rPr lang="en-US" sz="850" b="1" dirty="0">
                <a:solidFill>
                  <a:srgbClr val="0F1C2C"/>
                </a:solidFill>
                <a:latin typeface="Montserrat" pitchFamily="34" charset="0"/>
                <a:ea typeface="Montserrat" pitchFamily="34" charset="-122"/>
                <a:cs typeface="Montserrat" pitchFamily="34" charset="-120"/>
              </a:rPr>
              <a:t>VALIDACIÓN FINAL</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PRUEBA 1 ·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ENFRENTAMIENTO</a:t>
            </a:r>
            <a:endParaRPr lang="en-US" sz="2000" dirty="0"/>
          </a:p>
        </p:txBody>
      </p:sp>
      <p:sp>
        <p:nvSpPr>
          <p:cNvPr id="3" name="chip prueb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prueb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PRUEBA 1 DE 5</a:t>
            </a:r>
            <a:endParaRPr lang="en-US" sz="850" dirty="0"/>
          </a:p>
        </p:txBody>
      </p:sp>
      <p:sp>
        <p:nvSpPr>
          <p:cNvPr id="5" name="diagrama"/>
          <p:cNvSpPr/>
          <p:nvPr/>
        </p:nvSpPr>
        <p:spPr>
          <a:xfrm>
            <a:off x="457200" y="1097280"/>
            <a:ext cx="5120640" cy="3383280"/>
          </a:xfrm>
          <a:prstGeom prst="rect">
            <a:avLst/>
          </a:prstGeom>
          <a:solidFill>
            <a:srgbClr val="FFFFFF"/>
          </a:solidFill>
          <a:ln w="9525">
            <a:solidFill>
              <a:srgbClr val="E3E3E3"/>
            </a:solidFill>
            <a:prstDash val="solid"/>
          </a:ln>
        </p:spPr>
      </p:sp>
      <p:sp>
        <p:nvSpPr>
          <p:cNvPr id="6" name="etiqueta diagrama"/>
          <p:cNvSpPr txBox="1"/>
          <p:nvPr/>
        </p:nvSpPr>
        <p:spPr>
          <a:xfrm>
            <a:off x="731520" y="1261872"/>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ESQUEMA EN PLANTA</a:t>
            </a:r>
            <a:endParaRPr lang="en-US" sz="800" dirty="0"/>
          </a:p>
        </p:txBody>
      </p:sp>
      <p:sp>
        <p:nvSpPr>
          <p:cNvPr id="7" name="pista P1"/>
          <p:cNvSpPr/>
          <p:nvPr/>
        </p:nvSpPr>
        <p:spPr>
          <a:xfrm>
            <a:off x="731520" y="1828800"/>
            <a:ext cx="4480560" cy="1463040"/>
          </a:xfrm>
          <a:prstGeom prst="rect">
            <a:avLst/>
          </a:prstGeom>
          <a:solidFill>
            <a:srgbClr val="F2F2F2"/>
          </a:solidFill>
          <a:ln w="12700">
            <a:solidFill>
              <a:srgbClr val="CFCFCF"/>
            </a:solidFill>
            <a:prstDash val="solid"/>
          </a:ln>
        </p:spPr>
      </p:sp>
      <p:sp>
        <p:nvSpPr>
          <p:cNvPr id="8" name="pista P1 división 1"/>
          <p:cNvSpPr/>
          <p:nvPr/>
        </p:nvSpPr>
        <p:spPr>
          <a:xfrm>
            <a:off x="731520" y="2560320"/>
            <a:ext cx="4480560" cy="0"/>
          </a:xfrm>
          <a:prstGeom prst="line">
            <a:avLst/>
          </a:prstGeom>
          <a:noFill/>
          <a:ln w="12700">
            <a:solidFill>
              <a:srgbClr val="9A9A9A"/>
            </a:solidFill>
            <a:prstDash val="dash"/>
          </a:ln>
        </p:spPr>
      </p:sp>
      <p:pic>
        <p:nvPicPr>
          <p:cNvPr id="9" name="P1 camión A túnel seguridad" descr="preencoded.png">    </p:cNvPr>
          <p:cNvPicPr>
            <a:picLocks noChangeAspect="1"/>
          </p:cNvPicPr>
          <p:nvPr/>
        </p:nvPicPr>
        <p:blipFill>
          <a:blip r:embed="rId1"/>
          <a:stretch>
            <a:fillRect/>
          </a:stretch>
        </p:blipFill>
        <p:spPr>
          <a:xfrm>
            <a:off x="1856232" y="2018685"/>
            <a:ext cx="457200" cy="351750"/>
          </a:xfrm>
          <a:prstGeom prst="rect">
            <a:avLst/>
          </a:prstGeom>
        </p:spPr>
      </p:pic>
      <p:pic>
        <p:nvPicPr>
          <p:cNvPr id="10" name="P1 camión A túnel frenado" descr="preencoded.png">    </p:cNvPr>
          <p:cNvPicPr>
            <a:picLocks noChangeAspect="1"/>
          </p:cNvPicPr>
          <p:nvPr/>
        </p:nvPicPr>
        <p:blipFill>
          <a:blip r:embed="rId2"/>
          <a:stretch>
            <a:fillRect/>
          </a:stretch>
        </p:blipFill>
        <p:spPr>
          <a:xfrm>
            <a:off x="2313432" y="2018685"/>
            <a:ext cx="868680" cy="351750"/>
          </a:xfrm>
          <a:prstGeom prst="rect">
            <a:avLst/>
          </a:prstGeom>
        </p:spPr>
      </p:pic>
      <p:pic>
        <p:nvPicPr>
          <p:cNvPr id="11" name="P1 camión A" descr="preencoded.png">    </p:cNvPr>
          <p:cNvPicPr>
            <a:picLocks noChangeAspect="1"/>
          </p:cNvPicPr>
          <p:nvPr/>
        </p:nvPicPr>
        <p:blipFill>
          <a:blip r:embed="rId3"/>
          <a:stretch>
            <a:fillRect/>
          </a:stretch>
        </p:blipFill>
        <p:spPr>
          <a:xfrm>
            <a:off x="1005840" y="1990054"/>
            <a:ext cx="822960" cy="409011"/>
          </a:xfrm>
          <a:prstGeom prst="rect">
            <a:avLst/>
          </a:prstGeom>
        </p:spPr>
      </p:pic>
      <p:sp>
        <p:nvSpPr>
          <p:cNvPr id="12" name="P1 camión A etiqueta"/>
          <p:cNvSpPr txBox="1"/>
          <p:nvPr/>
        </p:nvSpPr>
        <p:spPr>
          <a:xfrm>
            <a:off x="104241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A</a:t>
            </a:r>
            <a:endParaRPr lang="en-US" sz="1300" dirty="0"/>
          </a:p>
        </p:txBody>
      </p:sp>
      <p:pic>
        <p:nvPicPr>
          <p:cNvPr id="13" name="P1 camión B túnel seguridad" descr="preencoded.png">    </p:cNvPr>
          <p:cNvPicPr>
            <a:picLocks noChangeAspect="1"/>
          </p:cNvPicPr>
          <p:nvPr/>
        </p:nvPicPr>
        <p:blipFill>
          <a:blip r:embed="rId4"/>
          <a:stretch>
            <a:fillRect/>
          </a:stretch>
        </p:blipFill>
        <p:spPr>
          <a:xfrm>
            <a:off x="3630168" y="2750205"/>
            <a:ext cx="457200" cy="351750"/>
          </a:xfrm>
          <a:prstGeom prst="rect">
            <a:avLst/>
          </a:prstGeom>
        </p:spPr>
      </p:pic>
      <p:pic>
        <p:nvPicPr>
          <p:cNvPr id="14" name="P1 camión B túnel frenado" descr="preencoded.png">    </p:cNvPr>
          <p:cNvPicPr>
            <a:picLocks noChangeAspect="1"/>
          </p:cNvPicPr>
          <p:nvPr/>
        </p:nvPicPr>
        <p:blipFill>
          <a:blip r:embed="rId5"/>
          <a:stretch>
            <a:fillRect/>
          </a:stretch>
        </p:blipFill>
        <p:spPr>
          <a:xfrm>
            <a:off x="2761488" y="2750205"/>
            <a:ext cx="868680" cy="351750"/>
          </a:xfrm>
          <a:prstGeom prst="rect">
            <a:avLst/>
          </a:prstGeom>
        </p:spPr>
      </p:pic>
      <p:pic>
        <p:nvPicPr>
          <p:cNvPr id="15" name="P1 camión B" descr="preencoded.png">    </p:cNvPr>
          <p:cNvPicPr>
            <a:picLocks noChangeAspect="1"/>
          </p:cNvPicPr>
          <p:nvPr/>
        </p:nvPicPr>
        <p:blipFill>
          <a:blip r:embed="rId6"/>
          <a:stretch>
            <a:fillRect/>
          </a:stretch>
        </p:blipFill>
        <p:spPr>
          <a:xfrm>
            <a:off x="4114800" y="2721574"/>
            <a:ext cx="822960" cy="409011"/>
          </a:xfrm>
          <a:prstGeom prst="rect">
            <a:avLst/>
          </a:prstGeom>
        </p:spPr>
      </p:pic>
      <p:sp>
        <p:nvSpPr>
          <p:cNvPr id="16" name="P1 camión B etiqueta"/>
          <p:cNvSpPr txBox="1"/>
          <p:nvPr/>
        </p:nvSpPr>
        <p:spPr>
          <a:xfrm>
            <a:off x="4489704" y="272157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B</a:t>
            </a:r>
            <a:endParaRPr lang="en-US" sz="1300" dirty="0"/>
          </a:p>
        </p:txBody>
      </p:sp>
      <p:sp>
        <p:nvSpPr>
          <p:cNvPr id="17" name="nota P1"/>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5C5C5C"/>
                </a:solidFill>
                <a:latin typeface="Arial" pitchFamily="34" charset="0"/>
                <a:ea typeface="Arial" pitchFamily="34" charset="-122"/>
                <a:cs typeface="Arial" pitchFamily="34" charset="-120"/>
              </a:rPr>
              <a:t>Cada camión en su carril</a:t>
            </a:r>
            <a:endParaRPr lang="en-US" sz="1000" dirty="0"/>
          </a:p>
        </p:txBody>
      </p:sp>
      <p:pic>
        <p:nvPicPr>
          <p:cNvPr id="18"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19"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seguridad</a:t>
            </a:r>
            <a:endParaRPr lang="en-US" sz="900" dirty="0"/>
          </a:p>
        </p:txBody>
      </p:sp>
      <p:pic>
        <p:nvPicPr>
          <p:cNvPr id="20"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1"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frenado</a:t>
            </a:r>
            <a:endParaRPr lang="en-US" sz="900" dirty="0"/>
          </a:p>
        </p:txBody>
      </p:sp>
      <p:sp>
        <p:nvSpPr>
          <p:cNvPr id="22" name="leyenda túnel"/>
          <p:cNvSpPr txBox="1"/>
          <p:nvPr/>
        </p:nvSpPr>
        <p:spPr>
          <a:xfrm>
            <a:off x="4343400" y="4160520"/>
            <a:ext cx="1188720" cy="219456"/>
          </a:xfrm>
          <a:prstGeom prst="rect">
            <a:avLst/>
          </a:prstGeom>
          <a:noFill/>
          <a:ln/>
        </p:spPr>
        <p:txBody>
          <a:bodyPr wrap="square" lIns="0" tIns="0" rIns="0" bIns="0" rtlCol="0" anchor="ctr"/>
          <a:lstStyle/>
          <a:p>
            <a:pPr indent="0" marL="0">
              <a:buNone/>
            </a:pPr>
            <a:r>
              <a:rPr lang="en-US" sz="900" dirty="0">
                <a:solidFill>
                  <a:srgbClr val="B5B5B5"/>
                </a:solidFill>
                <a:latin typeface="Arial" pitchFamily="34" charset="0"/>
                <a:ea typeface="Arial" pitchFamily="34" charset="-122"/>
                <a:cs typeface="Arial" pitchFamily="34" charset="-120"/>
              </a:rPr>
              <a:t>Túnel virtual</a:t>
            </a:r>
            <a:endParaRPr lang="en-US" sz="900" dirty="0"/>
          </a:p>
        </p:txBody>
      </p:sp>
      <p:pic>
        <p:nvPicPr>
          <p:cNvPr id="23" name="bloque Objetivo icono" descr="preencoded.png">    </p:cNvPr>
          <p:cNvPicPr>
            <a:picLocks noChangeAspect="1"/>
          </p:cNvPicPr>
          <p:nvPr/>
        </p:nvPicPr>
        <p:blipFill>
          <a:blip r:embed="rId9"/>
          <a:stretch>
            <a:fillRect/>
          </a:stretch>
        </p:blipFill>
        <p:spPr>
          <a:xfrm>
            <a:off x="5852160" y="1115568"/>
            <a:ext cx="347472" cy="347472"/>
          </a:xfrm>
          <a:prstGeom prst="rect">
            <a:avLst/>
          </a:prstGeom>
        </p:spPr>
      </p:pic>
      <p:sp>
        <p:nvSpPr>
          <p:cNvPr id="24" name="bloque Objetivo título"/>
          <p:cNvSpPr txBox="1"/>
          <p:nvPr/>
        </p:nvSpPr>
        <p:spPr>
          <a:xfrm>
            <a:off x="6355080" y="1097280"/>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OBJETIVO</a:t>
            </a:r>
            <a:endParaRPr lang="en-US" sz="1200" dirty="0"/>
          </a:p>
        </p:txBody>
      </p:sp>
      <p:sp>
        <p:nvSpPr>
          <p:cNvPr id="25" name="bloque Objetivo texto"/>
          <p:cNvSpPr txBox="1"/>
          <p:nvPr/>
        </p:nvSpPr>
        <p:spPr>
          <a:xfrm>
            <a:off x="6355080" y="1335024"/>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Comprobar la respuesta del sistema cuando dos camiones se aproximan de frente.</a:t>
            </a:r>
            <a:endParaRPr lang="en-US" sz="1100" dirty="0"/>
          </a:p>
        </p:txBody>
      </p:sp>
      <p:pic>
        <p:nvPicPr>
          <p:cNvPr id="26" name="bloque Desarrollo icono" descr="preencoded.png">    </p:cNvPr>
          <p:cNvPicPr>
            <a:picLocks noChangeAspect="1"/>
          </p:cNvPicPr>
          <p:nvPr/>
        </p:nvPicPr>
        <p:blipFill>
          <a:blip r:embed="rId10"/>
          <a:stretch>
            <a:fillRect/>
          </a:stretch>
        </p:blipFill>
        <p:spPr>
          <a:xfrm>
            <a:off x="5852160" y="2103120"/>
            <a:ext cx="347472" cy="347472"/>
          </a:xfrm>
          <a:prstGeom prst="rect">
            <a:avLst/>
          </a:prstGeom>
        </p:spPr>
      </p:pic>
      <p:sp>
        <p:nvSpPr>
          <p:cNvPr id="27" name="bloque Desarrollo título"/>
          <p:cNvSpPr txBox="1"/>
          <p:nvPr/>
        </p:nvSpPr>
        <p:spPr>
          <a:xfrm>
            <a:off x="6355080" y="2084832"/>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DESARROLLO</a:t>
            </a:r>
            <a:endParaRPr lang="en-US" sz="1200" dirty="0"/>
          </a:p>
        </p:txBody>
      </p:sp>
      <p:sp>
        <p:nvSpPr>
          <p:cNvPr id="28" name="bloque Desarrollo texto"/>
          <p:cNvSpPr txBox="1"/>
          <p:nvPr/>
        </p:nvSpPr>
        <p:spPr>
          <a:xfrm>
            <a:off x="6355080" y="2322576"/>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Los dos camiones avanzan uno hacia el otro, cada uno en su carril, y se detienen a la distancia establecida.</a:t>
            </a:r>
            <a:endParaRPr lang="en-US" sz="1100" dirty="0"/>
          </a:p>
        </p:txBody>
      </p:sp>
      <p:pic>
        <p:nvPicPr>
          <p:cNvPr id="29" name="bloque Seguridad icono" descr="preencoded.png">    </p:cNvPr>
          <p:cNvPicPr>
            <a:picLocks noChangeAspect="1"/>
          </p:cNvPicPr>
          <p:nvPr/>
        </p:nvPicPr>
        <p:blipFill>
          <a:blip r:embed="rId11"/>
          <a:stretch>
            <a:fillRect/>
          </a:stretch>
        </p:blipFill>
        <p:spPr>
          <a:xfrm>
            <a:off x="5852160" y="3090672"/>
            <a:ext cx="347472" cy="347472"/>
          </a:xfrm>
          <a:prstGeom prst="rect">
            <a:avLst/>
          </a:prstGeom>
        </p:spPr>
      </p:pic>
      <p:sp>
        <p:nvSpPr>
          <p:cNvPr id="30" name="bloque Seguridad título"/>
          <p:cNvSpPr txBox="1"/>
          <p:nvPr/>
        </p:nvSpPr>
        <p:spPr>
          <a:xfrm>
            <a:off x="6355080" y="3072384"/>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SEGURIDAD</a:t>
            </a:r>
            <a:endParaRPr lang="en-US" sz="1200" dirty="0"/>
          </a:p>
        </p:txBody>
      </p:sp>
      <p:sp>
        <p:nvSpPr>
          <p:cNvPr id="31" name="bloque Seguridad texto"/>
          <p:cNvSpPr txBox="1"/>
          <p:nvPr/>
        </p:nvSpPr>
        <p:spPr>
          <a:xfrm>
            <a:off x="6355080" y="3310128"/>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Carriles separados: no hay enfrentamiento directo. Distancia de parada acordada antes de iniciar.</a:t>
            </a:r>
            <a:endParaRPr lang="en-US" sz="1100" dirty="0"/>
          </a:p>
        </p:txBody>
      </p:sp>
      <p:sp>
        <p:nvSpPr>
          <p:cNvPr id="32" name="etiqueta productos prueba"/>
          <p:cNvSpPr txBox="1"/>
          <p:nvPr/>
        </p:nvSpPr>
        <p:spPr>
          <a:xfrm>
            <a:off x="6355080" y="4041648"/>
            <a:ext cx="109728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PRODUCTOS</a:t>
            </a:r>
            <a:endParaRPr lang="en-US" sz="800" dirty="0"/>
          </a:p>
        </p:txBody>
      </p:sp>
      <p:sp>
        <p:nvSpPr>
          <p:cNvPr id="33" name="producto prueba CMS fondo"/>
          <p:cNvSpPr/>
          <p:nvPr/>
        </p:nvSpPr>
        <p:spPr>
          <a:xfrm>
            <a:off x="6355080" y="4242816"/>
            <a:ext cx="548640" cy="237744"/>
          </a:xfrm>
          <a:prstGeom prst="rect">
            <a:avLst/>
          </a:prstGeom>
          <a:solidFill>
            <a:srgbClr val="D40319"/>
          </a:solidFill>
          <a:ln w="12700">
            <a:solidFill>
              <a:srgbClr val="D40319"/>
            </a:solidFill>
            <a:prstDash val="solid"/>
          </a:ln>
        </p:spPr>
      </p:sp>
      <p:sp>
        <p:nvSpPr>
          <p:cNvPr id="34" name="producto prueba CMS"/>
          <p:cNvSpPr txBox="1"/>
          <p:nvPr/>
        </p:nvSpPr>
        <p:spPr>
          <a:xfrm>
            <a:off x="6355080"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CMS</a:t>
            </a:r>
            <a:endParaRPr lang="en-US" sz="850" dirty="0"/>
          </a:p>
        </p:txBody>
      </p:sp>
      <p:sp>
        <p:nvSpPr>
          <p:cNvPr id="35" name="producto prueba ISA fondo"/>
          <p:cNvSpPr/>
          <p:nvPr/>
        </p:nvSpPr>
        <p:spPr>
          <a:xfrm>
            <a:off x="6976872" y="4242816"/>
            <a:ext cx="548640" cy="237744"/>
          </a:xfrm>
          <a:prstGeom prst="rect">
            <a:avLst/>
          </a:prstGeom>
          <a:solidFill>
            <a:srgbClr val="D40319"/>
          </a:solidFill>
          <a:ln w="12700">
            <a:solidFill>
              <a:srgbClr val="D40319"/>
            </a:solidFill>
            <a:prstDash val="solid"/>
          </a:ln>
        </p:spPr>
      </p:sp>
      <p:sp>
        <p:nvSpPr>
          <p:cNvPr id="36" name="producto prueba ISA"/>
          <p:cNvSpPr txBox="1"/>
          <p:nvPr/>
        </p:nvSpPr>
        <p:spPr>
          <a:xfrm>
            <a:off x="6976872"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ISA</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PRUEBA 2 ·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CRUCE EN CARRILES DISTINTOS</a:t>
            </a:r>
            <a:endParaRPr lang="en-US" sz="2000" dirty="0"/>
          </a:p>
        </p:txBody>
      </p:sp>
      <p:sp>
        <p:nvSpPr>
          <p:cNvPr id="3" name="chip prueb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prueb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PRUEBA 2 DE 5</a:t>
            </a:r>
            <a:endParaRPr lang="en-US" sz="850" dirty="0"/>
          </a:p>
        </p:txBody>
      </p:sp>
      <p:sp>
        <p:nvSpPr>
          <p:cNvPr id="5" name="diagrama"/>
          <p:cNvSpPr/>
          <p:nvPr/>
        </p:nvSpPr>
        <p:spPr>
          <a:xfrm>
            <a:off x="457200" y="1097280"/>
            <a:ext cx="5120640" cy="3383280"/>
          </a:xfrm>
          <a:prstGeom prst="rect">
            <a:avLst/>
          </a:prstGeom>
          <a:solidFill>
            <a:srgbClr val="FFFFFF"/>
          </a:solidFill>
          <a:ln w="9525">
            <a:solidFill>
              <a:srgbClr val="E3E3E3"/>
            </a:solidFill>
            <a:prstDash val="solid"/>
          </a:ln>
        </p:spPr>
      </p:sp>
      <p:sp>
        <p:nvSpPr>
          <p:cNvPr id="6" name="etiqueta diagrama"/>
          <p:cNvSpPr txBox="1"/>
          <p:nvPr/>
        </p:nvSpPr>
        <p:spPr>
          <a:xfrm>
            <a:off x="731520" y="1261872"/>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ESQUEMA EN PLANTA</a:t>
            </a:r>
            <a:endParaRPr lang="en-US" sz="800" dirty="0"/>
          </a:p>
        </p:txBody>
      </p:sp>
      <p:sp>
        <p:nvSpPr>
          <p:cNvPr id="7" name="pista P2"/>
          <p:cNvSpPr/>
          <p:nvPr/>
        </p:nvSpPr>
        <p:spPr>
          <a:xfrm>
            <a:off x="731520" y="1828800"/>
            <a:ext cx="4480560" cy="1463040"/>
          </a:xfrm>
          <a:prstGeom prst="rect">
            <a:avLst/>
          </a:prstGeom>
          <a:solidFill>
            <a:srgbClr val="F2F2F2"/>
          </a:solidFill>
          <a:ln w="12700">
            <a:solidFill>
              <a:srgbClr val="CFCFCF"/>
            </a:solidFill>
            <a:prstDash val="solid"/>
          </a:ln>
        </p:spPr>
      </p:sp>
      <p:sp>
        <p:nvSpPr>
          <p:cNvPr id="8" name="pista P2 división 1"/>
          <p:cNvSpPr/>
          <p:nvPr/>
        </p:nvSpPr>
        <p:spPr>
          <a:xfrm>
            <a:off x="731520" y="2560320"/>
            <a:ext cx="4480560" cy="0"/>
          </a:xfrm>
          <a:prstGeom prst="line">
            <a:avLst/>
          </a:prstGeom>
          <a:noFill/>
          <a:ln w="12700">
            <a:solidFill>
              <a:srgbClr val="9A9A9A"/>
            </a:solidFill>
            <a:prstDash val="dash"/>
          </a:ln>
        </p:spPr>
      </p:sp>
      <p:pic>
        <p:nvPicPr>
          <p:cNvPr id="9" name="P2 camión A túnel seguridad" descr="preencoded.png">    </p:cNvPr>
          <p:cNvPicPr>
            <a:picLocks noChangeAspect="1"/>
          </p:cNvPicPr>
          <p:nvPr/>
        </p:nvPicPr>
        <p:blipFill>
          <a:blip r:embed="rId1"/>
          <a:stretch>
            <a:fillRect/>
          </a:stretch>
        </p:blipFill>
        <p:spPr>
          <a:xfrm>
            <a:off x="2450592" y="2018685"/>
            <a:ext cx="365760" cy="351750"/>
          </a:xfrm>
          <a:prstGeom prst="rect">
            <a:avLst/>
          </a:prstGeom>
        </p:spPr>
      </p:pic>
      <p:pic>
        <p:nvPicPr>
          <p:cNvPr id="10" name="P2 camión A túnel frenado" descr="preencoded.png">    </p:cNvPr>
          <p:cNvPicPr>
            <a:picLocks noChangeAspect="1"/>
          </p:cNvPicPr>
          <p:nvPr/>
        </p:nvPicPr>
        <p:blipFill>
          <a:blip r:embed="rId2"/>
          <a:stretch>
            <a:fillRect/>
          </a:stretch>
        </p:blipFill>
        <p:spPr>
          <a:xfrm>
            <a:off x="2816352" y="2018685"/>
            <a:ext cx="731520" cy="351750"/>
          </a:xfrm>
          <a:prstGeom prst="rect">
            <a:avLst/>
          </a:prstGeom>
        </p:spPr>
      </p:pic>
      <p:pic>
        <p:nvPicPr>
          <p:cNvPr id="11" name="P2 camión A" descr="preencoded.png">    </p:cNvPr>
          <p:cNvPicPr>
            <a:picLocks noChangeAspect="1"/>
          </p:cNvPicPr>
          <p:nvPr/>
        </p:nvPicPr>
        <p:blipFill>
          <a:blip r:embed="rId3"/>
          <a:stretch>
            <a:fillRect/>
          </a:stretch>
        </p:blipFill>
        <p:spPr>
          <a:xfrm>
            <a:off x="1600200" y="1990054"/>
            <a:ext cx="822960" cy="409011"/>
          </a:xfrm>
          <a:prstGeom prst="rect">
            <a:avLst/>
          </a:prstGeom>
        </p:spPr>
      </p:pic>
      <p:sp>
        <p:nvSpPr>
          <p:cNvPr id="12" name="P2 camión A etiqueta"/>
          <p:cNvSpPr txBox="1"/>
          <p:nvPr/>
        </p:nvSpPr>
        <p:spPr>
          <a:xfrm>
            <a:off x="163677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A</a:t>
            </a:r>
            <a:endParaRPr lang="en-US" sz="1300" dirty="0"/>
          </a:p>
        </p:txBody>
      </p:sp>
      <p:pic>
        <p:nvPicPr>
          <p:cNvPr id="13" name="P2 camión B túnel seguridad" descr="preencoded.png">    </p:cNvPr>
          <p:cNvPicPr>
            <a:picLocks noChangeAspect="1"/>
          </p:cNvPicPr>
          <p:nvPr/>
        </p:nvPicPr>
        <p:blipFill>
          <a:blip r:embed="rId4"/>
          <a:stretch>
            <a:fillRect/>
          </a:stretch>
        </p:blipFill>
        <p:spPr>
          <a:xfrm>
            <a:off x="3127248" y="2750205"/>
            <a:ext cx="365760" cy="351750"/>
          </a:xfrm>
          <a:prstGeom prst="rect">
            <a:avLst/>
          </a:prstGeom>
        </p:spPr>
      </p:pic>
      <p:pic>
        <p:nvPicPr>
          <p:cNvPr id="14" name="P2 camión B túnel frenado" descr="preencoded.png">    </p:cNvPr>
          <p:cNvPicPr>
            <a:picLocks noChangeAspect="1"/>
          </p:cNvPicPr>
          <p:nvPr/>
        </p:nvPicPr>
        <p:blipFill>
          <a:blip r:embed="rId5"/>
          <a:stretch>
            <a:fillRect/>
          </a:stretch>
        </p:blipFill>
        <p:spPr>
          <a:xfrm>
            <a:off x="2395728" y="2750205"/>
            <a:ext cx="731520" cy="351750"/>
          </a:xfrm>
          <a:prstGeom prst="rect">
            <a:avLst/>
          </a:prstGeom>
        </p:spPr>
      </p:pic>
      <p:pic>
        <p:nvPicPr>
          <p:cNvPr id="15" name="P2 camión B" descr="preencoded.png">    </p:cNvPr>
          <p:cNvPicPr>
            <a:picLocks noChangeAspect="1"/>
          </p:cNvPicPr>
          <p:nvPr/>
        </p:nvPicPr>
        <p:blipFill>
          <a:blip r:embed="rId6"/>
          <a:stretch>
            <a:fillRect/>
          </a:stretch>
        </p:blipFill>
        <p:spPr>
          <a:xfrm>
            <a:off x="3520440" y="2721574"/>
            <a:ext cx="822960" cy="409011"/>
          </a:xfrm>
          <a:prstGeom prst="rect">
            <a:avLst/>
          </a:prstGeom>
        </p:spPr>
      </p:pic>
      <p:sp>
        <p:nvSpPr>
          <p:cNvPr id="16" name="P2 camión B etiqueta"/>
          <p:cNvSpPr txBox="1"/>
          <p:nvPr/>
        </p:nvSpPr>
        <p:spPr>
          <a:xfrm>
            <a:off x="3895344" y="272157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B</a:t>
            </a:r>
            <a:endParaRPr lang="en-US" sz="1300" dirty="0"/>
          </a:p>
        </p:txBody>
      </p:sp>
      <p:sp>
        <p:nvSpPr>
          <p:cNvPr id="17" name="punto de cruce"/>
          <p:cNvSpPr/>
          <p:nvPr/>
        </p:nvSpPr>
        <p:spPr>
          <a:xfrm>
            <a:off x="2971800" y="1783080"/>
            <a:ext cx="0" cy="1554480"/>
          </a:xfrm>
          <a:prstGeom prst="line">
            <a:avLst/>
          </a:prstGeom>
          <a:noFill/>
          <a:ln w="15875">
            <a:solidFill>
              <a:srgbClr val="D40319"/>
            </a:solidFill>
            <a:prstDash val="sysDash"/>
          </a:ln>
        </p:spPr>
      </p:sp>
      <p:sp>
        <p:nvSpPr>
          <p:cNvPr id="18" name="nota P2"/>
          <p:cNvSpPr txBox="1"/>
          <p:nvPr/>
        </p:nvSpPr>
        <p:spPr>
          <a:xfrm>
            <a:off x="2286000" y="3401568"/>
            <a:ext cx="1371600" cy="274320"/>
          </a:xfrm>
          <a:prstGeom prst="rect">
            <a:avLst/>
          </a:prstGeom>
          <a:noFill/>
          <a:ln/>
        </p:spPr>
        <p:txBody>
          <a:bodyPr wrap="square" lIns="0" tIns="0" rIns="0" bIns="0" rtlCol="0" anchor="ctr"/>
          <a:lstStyle/>
          <a:p>
            <a:pPr algn="ctr" indent="0" marL="0">
              <a:buNone/>
            </a:pPr>
            <a:r>
              <a:rPr lang="en-US" sz="1000" dirty="0">
                <a:solidFill>
                  <a:srgbClr val="D40319"/>
                </a:solidFill>
                <a:latin typeface="Arial" pitchFamily="34" charset="0"/>
                <a:ea typeface="Arial" pitchFamily="34" charset="-122"/>
                <a:cs typeface="Arial" pitchFamily="34" charset="-120"/>
              </a:rPr>
              <a:t>Punto de cruce</a:t>
            </a:r>
            <a:endParaRPr lang="en-US" sz="1000" dirty="0"/>
          </a:p>
        </p:txBody>
      </p:sp>
      <p:pic>
        <p:nvPicPr>
          <p:cNvPr id="19"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0"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seguridad</a:t>
            </a:r>
            <a:endParaRPr lang="en-US" sz="900" dirty="0"/>
          </a:p>
        </p:txBody>
      </p:sp>
      <p:pic>
        <p:nvPicPr>
          <p:cNvPr id="21"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2"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frenado</a:t>
            </a:r>
            <a:endParaRPr lang="en-US" sz="900" dirty="0"/>
          </a:p>
        </p:txBody>
      </p:sp>
      <p:sp>
        <p:nvSpPr>
          <p:cNvPr id="23" name="leyenda túnel"/>
          <p:cNvSpPr txBox="1"/>
          <p:nvPr/>
        </p:nvSpPr>
        <p:spPr>
          <a:xfrm>
            <a:off x="4343400" y="4160520"/>
            <a:ext cx="1188720" cy="219456"/>
          </a:xfrm>
          <a:prstGeom prst="rect">
            <a:avLst/>
          </a:prstGeom>
          <a:noFill/>
          <a:ln/>
        </p:spPr>
        <p:txBody>
          <a:bodyPr wrap="square" lIns="0" tIns="0" rIns="0" bIns="0" rtlCol="0" anchor="ctr"/>
          <a:lstStyle/>
          <a:p>
            <a:pPr indent="0" marL="0">
              <a:buNone/>
            </a:pPr>
            <a:r>
              <a:rPr lang="en-US" sz="900" dirty="0">
                <a:solidFill>
                  <a:srgbClr val="B5B5B5"/>
                </a:solidFill>
                <a:latin typeface="Arial" pitchFamily="34" charset="0"/>
                <a:ea typeface="Arial" pitchFamily="34" charset="-122"/>
                <a:cs typeface="Arial" pitchFamily="34" charset="-120"/>
              </a:rPr>
              <a:t>Túnel virtual</a:t>
            </a:r>
            <a:endParaRPr lang="en-US" sz="900" dirty="0"/>
          </a:p>
        </p:txBody>
      </p:sp>
      <p:pic>
        <p:nvPicPr>
          <p:cNvPr id="24" name="bloque Objetivo icono" descr="preencoded.png">    </p:cNvPr>
          <p:cNvPicPr>
            <a:picLocks noChangeAspect="1"/>
          </p:cNvPicPr>
          <p:nvPr/>
        </p:nvPicPr>
        <p:blipFill>
          <a:blip r:embed="rId9"/>
          <a:stretch>
            <a:fillRect/>
          </a:stretch>
        </p:blipFill>
        <p:spPr>
          <a:xfrm>
            <a:off x="5852160" y="1115568"/>
            <a:ext cx="347472" cy="347472"/>
          </a:xfrm>
          <a:prstGeom prst="rect">
            <a:avLst/>
          </a:prstGeom>
        </p:spPr>
      </p:pic>
      <p:sp>
        <p:nvSpPr>
          <p:cNvPr id="25" name="bloque Objetivo título"/>
          <p:cNvSpPr txBox="1"/>
          <p:nvPr/>
        </p:nvSpPr>
        <p:spPr>
          <a:xfrm>
            <a:off x="6355080" y="1097280"/>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OBJETIVO</a:t>
            </a:r>
            <a:endParaRPr lang="en-US" sz="1200" dirty="0"/>
          </a:p>
        </p:txBody>
      </p:sp>
      <p:sp>
        <p:nvSpPr>
          <p:cNvPr id="26" name="bloque Objetivo texto"/>
          <p:cNvSpPr txBox="1"/>
          <p:nvPr/>
        </p:nvSpPr>
        <p:spPr>
          <a:xfrm>
            <a:off x="6355080" y="1335024"/>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Comprobar la detección lateral cuando los camiones se cruzan en sentidos opuestos.</a:t>
            </a:r>
            <a:endParaRPr lang="en-US" sz="1100" dirty="0"/>
          </a:p>
        </p:txBody>
      </p:sp>
      <p:pic>
        <p:nvPicPr>
          <p:cNvPr id="27" name="bloque Desarrollo icono" descr="preencoded.png">    </p:cNvPr>
          <p:cNvPicPr>
            <a:picLocks noChangeAspect="1"/>
          </p:cNvPicPr>
          <p:nvPr/>
        </p:nvPicPr>
        <p:blipFill>
          <a:blip r:embed="rId10"/>
          <a:stretch>
            <a:fillRect/>
          </a:stretch>
        </p:blipFill>
        <p:spPr>
          <a:xfrm>
            <a:off x="5852160" y="2103120"/>
            <a:ext cx="347472" cy="347472"/>
          </a:xfrm>
          <a:prstGeom prst="rect">
            <a:avLst/>
          </a:prstGeom>
        </p:spPr>
      </p:pic>
      <p:sp>
        <p:nvSpPr>
          <p:cNvPr id="28" name="bloque Desarrollo título"/>
          <p:cNvSpPr txBox="1"/>
          <p:nvPr/>
        </p:nvSpPr>
        <p:spPr>
          <a:xfrm>
            <a:off x="6355080" y="2084832"/>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DESARROLLO</a:t>
            </a:r>
            <a:endParaRPr lang="en-US" sz="1200" dirty="0"/>
          </a:p>
        </p:txBody>
      </p:sp>
      <p:sp>
        <p:nvSpPr>
          <p:cNvPr id="29" name="bloque Desarrollo texto"/>
          <p:cNvSpPr txBox="1"/>
          <p:nvPr/>
        </p:nvSpPr>
        <p:spPr>
          <a:xfrm>
            <a:off x="6355080" y="2322576"/>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Los camiones circulan en sentidos contrarios por carriles distintos y se cruzan a la altura del punto marcado.</a:t>
            </a:r>
            <a:endParaRPr lang="en-US" sz="1100" dirty="0"/>
          </a:p>
        </p:txBody>
      </p:sp>
      <p:pic>
        <p:nvPicPr>
          <p:cNvPr id="30" name="bloque Seguridad icono" descr="preencoded.png">    </p:cNvPr>
          <p:cNvPicPr>
            <a:picLocks noChangeAspect="1"/>
          </p:cNvPicPr>
          <p:nvPr/>
        </p:nvPicPr>
        <p:blipFill>
          <a:blip r:embed="rId11"/>
          <a:stretch>
            <a:fillRect/>
          </a:stretch>
        </p:blipFill>
        <p:spPr>
          <a:xfrm>
            <a:off x="5852160" y="3090672"/>
            <a:ext cx="347472" cy="347472"/>
          </a:xfrm>
          <a:prstGeom prst="rect">
            <a:avLst/>
          </a:prstGeom>
        </p:spPr>
      </p:pic>
      <p:sp>
        <p:nvSpPr>
          <p:cNvPr id="31" name="bloque Seguridad título"/>
          <p:cNvSpPr txBox="1"/>
          <p:nvPr/>
        </p:nvSpPr>
        <p:spPr>
          <a:xfrm>
            <a:off x="6355080" y="3072384"/>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SEGURIDAD</a:t>
            </a:r>
            <a:endParaRPr lang="en-US" sz="1200" dirty="0"/>
          </a:p>
        </p:txBody>
      </p:sp>
      <p:sp>
        <p:nvSpPr>
          <p:cNvPr id="32" name="bloque Seguridad texto"/>
          <p:cNvSpPr txBox="1"/>
          <p:nvPr/>
        </p:nvSpPr>
        <p:spPr>
          <a:xfrm>
            <a:off x="6355080" y="3310128"/>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Se mantiene la separación lateral entre carriles. Velocidad reducida y constante.</a:t>
            </a:r>
            <a:endParaRPr lang="en-US" sz="1100" dirty="0"/>
          </a:p>
        </p:txBody>
      </p:sp>
      <p:sp>
        <p:nvSpPr>
          <p:cNvPr id="33" name="etiqueta productos prueba"/>
          <p:cNvSpPr txBox="1"/>
          <p:nvPr/>
        </p:nvSpPr>
        <p:spPr>
          <a:xfrm>
            <a:off x="6355080" y="4041648"/>
            <a:ext cx="109728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PRODUCTOS</a:t>
            </a:r>
            <a:endParaRPr lang="en-US" sz="800" dirty="0"/>
          </a:p>
        </p:txBody>
      </p:sp>
      <p:sp>
        <p:nvSpPr>
          <p:cNvPr id="34" name="producto prueba CMS fondo"/>
          <p:cNvSpPr/>
          <p:nvPr/>
        </p:nvSpPr>
        <p:spPr>
          <a:xfrm>
            <a:off x="6355080" y="4242816"/>
            <a:ext cx="548640" cy="237744"/>
          </a:xfrm>
          <a:prstGeom prst="rect">
            <a:avLst/>
          </a:prstGeom>
          <a:solidFill>
            <a:srgbClr val="D40319"/>
          </a:solidFill>
          <a:ln w="12700">
            <a:solidFill>
              <a:srgbClr val="D40319"/>
            </a:solidFill>
            <a:prstDash val="solid"/>
          </a:ln>
        </p:spPr>
      </p:sp>
      <p:sp>
        <p:nvSpPr>
          <p:cNvPr id="35" name="producto prueba CMS"/>
          <p:cNvSpPr txBox="1"/>
          <p:nvPr/>
        </p:nvSpPr>
        <p:spPr>
          <a:xfrm>
            <a:off x="6355080"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CMS</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PRUEBA 3 ·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SEGUIMIENTO</a:t>
            </a:r>
            <a:endParaRPr lang="en-US" sz="2000" dirty="0"/>
          </a:p>
        </p:txBody>
      </p:sp>
      <p:sp>
        <p:nvSpPr>
          <p:cNvPr id="3" name="chip prueb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prueb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PRUEBA 3 DE 5</a:t>
            </a:r>
            <a:endParaRPr lang="en-US" sz="850" dirty="0"/>
          </a:p>
        </p:txBody>
      </p:sp>
      <p:sp>
        <p:nvSpPr>
          <p:cNvPr id="5" name="diagrama"/>
          <p:cNvSpPr/>
          <p:nvPr/>
        </p:nvSpPr>
        <p:spPr>
          <a:xfrm>
            <a:off x="457200" y="1097280"/>
            <a:ext cx="5120640" cy="3383280"/>
          </a:xfrm>
          <a:prstGeom prst="rect">
            <a:avLst/>
          </a:prstGeom>
          <a:solidFill>
            <a:srgbClr val="FFFFFF"/>
          </a:solidFill>
          <a:ln w="9525">
            <a:solidFill>
              <a:srgbClr val="E3E3E3"/>
            </a:solidFill>
            <a:prstDash val="solid"/>
          </a:ln>
        </p:spPr>
      </p:sp>
      <p:sp>
        <p:nvSpPr>
          <p:cNvPr id="6" name="etiqueta diagrama"/>
          <p:cNvSpPr txBox="1"/>
          <p:nvPr/>
        </p:nvSpPr>
        <p:spPr>
          <a:xfrm>
            <a:off x="731520" y="1261872"/>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ESQUEMA EN PLANTA</a:t>
            </a:r>
            <a:endParaRPr lang="en-US" sz="800" dirty="0"/>
          </a:p>
        </p:txBody>
      </p:sp>
      <p:sp>
        <p:nvSpPr>
          <p:cNvPr id="7" name="pista P3"/>
          <p:cNvSpPr/>
          <p:nvPr/>
        </p:nvSpPr>
        <p:spPr>
          <a:xfrm>
            <a:off x="731520" y="1828800"/>
            <a:ext cx="4480560" cy="1463040"/>
          </a:xfrm>
          <a:prstGeom prst="rect">
            <a:avLst/>
          </a:prstGeom>
          <a:solidFill>
            <a:srgbClr val="F2F2F2"/>
          </a:solidFill>
          <a:ln w="12700">
            <a:solidFill>
              <a:srgbClr val="CFCFCF"/>
            </a:solidFill>
            <a:prstDash val="solid"/>
          </a:ln>
        </p:spPr>
      </p:sp>
      <p:sp>
        <p:nvSpPr>
          <p:cNvPr id="8" name="pista P3 división 1"/>
          <p:cNvSpPr/>
          <p:nvPr/>
        </p:nvSpPr>
        <p:spPr>
          <a:xfrm>
            <a:off x="731520" y="2560320"/>
            <a:ext cx="4480560" cy="0"/>
          </a:xfrm>
          <a:prstGeom prst="line">
            <a:avLst/>
          </a:prstGeom>
          <a:noFill/>
          <a:ln w="12700">
            <a:solidFill>
              <a:srgbClr val="9A9A9A"/>
            </a:solidFill>
            <a:prstDash val="dash"/>
          </a:ln>
        </p:spPr>
      </p:sp>
      <p:pic>
        <p:nvPicPr>
          <p:cNvPr id="9" name="P3 camión A túnel seguridad" descr="preencoded.png">    </p:cNvPr>
          <p:cNvPicPr>
            <a:picLocks noChangeAspect="1"/>
          </p:cNvPicPr>
          <p:nvPr/>
        </p:nvPicPr>
        <p:blipFill>
          <a:blip r:embed="rId1"/>
          <a:stretch>
            <a:fillRect/>
          </a:stretch>
        </p:blipFill>
        <p:spPr>
          <a:xfrm>
            <a:off x="4462272" y="2018685"/>
            <a:ext cx="274320" cy="351750"/>
          </a:xfrm>
          <a:prstGeom prst="rect">
            <a:avLst/>
          </a:prstGeom>
        </p:spPr>
      </p:pic>
      <p:pic>
        <p:nvPicPr>
          <p:cNvPr id="10" name="P3 camión A túnel frenado" descr="preencoded.png">    </p:cNvPr>
          <p:cNvPicPr>
            <a:picLocks noChangeAspect="1"/>
          </p:cNvPicPr>
          <p:nvPr/>
        </p:nvPicPr>
        <p:blipFill>
          <a:blip r:embed="rId2"/>
          <a:stretch>
            <a:fillRect/>
          </a:stretch>
        </p:blipFill>
        <p:spPr>
          <a:xfrm>
            <a:off x="4736592" y="2018685"/>
            <a:ext cx="411480" cy="351750"/>
          </a:xfrm>
          <a:prstGeom prst="rect">
            <a:avLst/>
          </a:prstGeom>
        </p:spPr>
      </p:pic>
      <p:pic>
        <p:nvPicPr>
          <p:cNvPr id="11" name="P3 camión A" descr="preencoded.png">    </p:cNvPr>
          <p:cNvPicPr>
            <a:picLocks noChangeAspect="1"/>
          </p:cNvPicPr>
          <p:nvPr/>
        </p:nvPicPr>
        <p:blipFill>
          <a:blip r:embed="rId3"/>
          <a:stretch>
            <a:fillRect/>
          </a:stretch>
        </p:blipFill>
        <p:spPr>
          <a:xfrm>
            <a:off x="3611880" y="1990054"/>
            <a:ext cx="822960" cy="409011"/>
          </a:xfrm>
          <a:prstGeom prst="rect">
            <a:avLst/>
          </a:prstGeom>
        </p:spPr>
      </p:pic>
      <p:sp>
        <p:nvSpPr>
          <p:cNvPr id="12" name="P3 camión A etiqueta"/>
          <p:cNvSpPr txBox="1"/>
          <p:nvPr/>
        </p:nvSpPr>
        <p:spPr>
          <a:xfrm>
            <a:off x="364845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A</a:t>
            </a:r>
            <a:endParaRPr lang="en-US" sz="1300" dirty="0"/>
          </a:p>
        </p:txBody>
      </p:sp>
      <p:pic>
        <p:nvPicPr>
          <p:cNvPr id="13" name="P3 camión B túnel seguridad" descr="preencoded.png">    </p:cNvPr>
          <p:cNvPicPr>
            <a:picLocks noChangeAspect="1"/>
          </p:cNvPicPr>
          <p:nvPr/>
        </p:nvPicPr>
        <p:blipFill>
          <a:blip r:embed="rId4"/>
          <a:stretch>
            <a:fillRect/>
          </a:stretch>
        </p:blipFill>
        <p:spPr>
          <a:xfrm>
            <a:off x="1810512" y="2018685"/>
            <a:ext cx="548640" cy="351750"/>
          </a:xfrm>
          <a:prstGeom prst="rect">
            <a:avLst/>
          </a:prstGeom>
        </p:spPr>
      </p:pic>
      <p:pic>
        <p:nvPicPr>
          <p:cNvPr id="14" name="P3 camión B túnel frenado" descr="preencoded.png">    </p:cNvPr>
          <p:cNvPicPr>
            <a:picLocks noChangeAspect="1"/>
          </p:cNvPicPr>
          <p:nvPr/>
        </p:nvPicPr>
        <p:blipFill>
          <a:blip r:embed="rId5"/>
          <a:stretch>
            <a:fillRect/>
          </a:stretch>
        </p:blipFill>
        <p:spPr>
          <a:xfrm>
            <a:off x="2359152" y="2018685"/>
            <a:ext cx="1188720" cy="351750"/>
          </a:xfrm>
          <a:prstGeom prst="rect">
            <a:avLst/>
          </a:prstGeom>
        </p:spPr>
      </p:pic>
      <p:pic>
        <p:nvPicPr>
          <p:cNvPr id="15" name="P3 camión B" descr="preencoded.png">    </p:cNvPr>
          <p:cNvPicPr>
            <a:picLocks noChangeAspect="1"/>
          </p:cNvPicPr>
          <p:nvPr/>
        </p:nvPicPr>
        <p:blipFill>
          <a:blip r:embed="rId6"/>
          <a:stretch>
            <a:fillRect/>
          </a:stretch>
        </p:blipFill>
        <p:spPr>
          <a:xfrm>
            <a:off x="960120" y="1990054"/>
            <a:ext cx="822960" cy="409011"/>
          </a:xfrm>
          <a:prstGeom prst="rect">
            <a:avLst/>
          </a:prstGeom>
        </p:spPr>
      </p:pic>
      <p:sp>
        <p:nvSpPr>
          <p:cNvPr id="16" name="P3 camión B etiqueta"/>
          <p:cNvSpPr txBox="1"/>
          <p:nvPr/>
        </p:nvSpPr>
        <p:spPr>
          <a:xfrm>
            <a:off x="99669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B</a:t>
            </a:r>
            <a:endParaRPr lang="en-US" sz="1300" dirty="0"/>
          </a:p>
        </p:txBody>
      </p:sp>
      <p:sp>
        <p:nvSpPr>
          <p:cNvPr id="17" name="distancia seguimiento"/>
          <p:cNvSpPr/>
          <p:nvPr/>
        </p:nvSpPr>
        <p:spPr>
          <a:xfrm>
            <a:off x="1810512" y="2926080"/>
            <a:ext cx="1783080" cy="0"/>
          </a:xfrm>
          <a:prstGeom prst="line">
            <a:avLst/>
          </a:prstGeom>
          <a:noFill/>
          <a:ln w="12700">
            <a:solidFill>
              <a:srgbClr val="8C8C8C"/>
            </a:solidFill>
            <a:prstDash val="solid"/>
            <a:headEnd type="triangle"/>
            <a:tailEnd type="triangle"/>
          </a:ln>
        </p:spPr>
      </p:sp>
      <p:sp>
        <p:nvSpPr>
          <p:cNvPr id="18" name="etiqueta distancia"/>
          <p:cNvSpPr txBox="1"/>
          <p:nvPr/>
        </p:nvSpPr>
        <p:spPr>
          <a:xfrm>
            <a:off x="1783080" y="2990088"/>
            <a:ext cx="1828800" cy="228600"/>
          </a:xfrm>
          <a:prstGeom prst="rect">
            <a:avLst/>
          </a:prstGeom>
          <a:noFill/>
          <a:ln/>
        </p:spPr>
        <p:txBody>
          <a:bodyPr wrap="square" lIns="0" tIns="0" rIns="0" bIns="0" rtlCol="0" anchor="t"/>
          <a:lstStyle/>
          <a:p>
            <a:pPr algn="ctr" indent="0" marL="0">
              <a:buNone/>
            </a:pPr>
            <a:r>
              <a:rPr lang="en-US" sz="900" dirty="0">
                <a:solidFill>
                  <a:srgbClr val="8C8C8C"/>
                </a:solidFill>
                <a:latin typeface="Arial" pitchFamily="34" charset="0"/>
                <a:ea typeface="Arial" pitchFamily="34" charset="-122"/>
                <a:cs typeface="Arial" pitchFamily="34" charset="-120"/>
              </a:rPr>
              <a:t>Distancia de seguimiento</a:t>
            </a:r>
            <a:endParaRPr lang="en-US" sz="900" dirty="0"/>
          </a:p>
        </p:txBody>
      </p:sp>
      <p:sp>
        <p:nvSpPr>
          <p:cNvPr id="19" name="nota P3"/>
          <p:cNvSpPr txBox="1"/>
          <p:nvPr/>
        </p:nvSpPr>
        <p:spPr>
          <a:xfrm>
            <a:off x="731520" y="3401568"/>
            <a:ext cx="4480560" cy="274320"/>
          </a:xfrm>
          <a:prstGeom prst="rect">
            <a:avLst/>
          </a:prstGeom>
          <a:noFill/>
          <a:ln/>
        </p:spPr>
        <p:txBody>
          <a:bodyPr wrap="square" lIns="0" tIns="0" rIns="0" bIns="0" rtlCol="0" anchor="ctr"/>
          <a:lstStyle/>
          <a:p>
            <a:pPr algn="ctr" indent="0" marL="0">
              <a:buNone/>
            </a:pPr>
            <a:r>
              <a:rPr lang="en-US" sz="1000" dirty="0">
                <a:solidFill>
                  <a:srgbClr val="5C5C5C"/>
                </a:solidFill>
                <a:latin typeface="Arial" pitchFamily="34" charset="0"/>
                <a:ea typeface="Arial" pitchFamily="34" charset="-122"/>
                <a:cs typeface="Arial" pitchFamily="34" charset="-120"/>
              </a:rPr>
              <a:t>Mismo carril, mismo sentido</a:t>
            </a:r>
            <a:endParaRPr lang="en-US" sz="1000" dirty="0"/>
          </a:p>
        </p:txBody>
      </p:sp>
      <p:pic>
        <p:nvPicPr>
          <p:cNvPr id="20"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1"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seguridad</a:t>
            </a:r>
            <a:endParaRPr lang="en-US" sz="900" dirty="0"/>
          </a:p>
        </p:txBody>
      </p:sp>
      <p:pic>
        <p:nvPicPr>
          <p:cNvPr id="22"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3"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frenado</a:t>
            </a:r>
            <a:endParaRPr lang="en-US" sz="900" dirty="0"/>
          </a:p>
        </p:txBody>
      </p:sp>
      <p:sp>
        <p:nvSpPr>
          <p:cNvPr id="24" name="leyenda túnel"/>
          <p:cNvSpPr txBox="1"/>
          <p:nvPr/>
        </p:nvSpPr>
        <p:spPr>
          <a:xfrm>
            <a:off x="4343400" y="4160520"/>
            <a:ext cx="1188720" cy="219456"/>
          </a:xfrm>
          <a:prstGeom prst="rect">
            <a:avLst/>
          </a:prstGeom>
          <a:noFill/>
          <a:ln/>
        </p:spPr>
        <p:txBody>
          <a:bodyPr wrap="square" lIns="0" tIns="0" rIns="0" bIns="0" rtlCol="0" anchor="ctr"/>
          <a:lstStyle/>
          <a:p>
            <a:pPr indent="0" marL="0">
              <a:buNone/>
            </a:pPr>
            <a:r>
              <a:rPr lang="en-US" sz="900" dirty="0">
                <a:solidFill>
                  <a:srgbClr val="B5B5B5"/>
                </a:solidFill>
                <a:latin typeface="Arial" pitchFamily="34" charset="0"/>
                <a:ea typeface="Arial" pitchFamily="34" charset="-122"/>
                <a:cs typeface="Arial" pitchFamily="34" charset="-120"/>
              </a:rPr>
              <a:t>Túnel virtual</a:t>
            </a:r>
            <a:endParaRPr lang="en-US" sz="900" dirty="0"/>
          </a:p>
        </p:txBody>
      </p:sp>
      <p:pic>
        <p:nvPicPr>
          <p:cNvPr id="25" name="bloque Objetivo icono" descr="preencoded.png">    </p:cNvPr>
          <p:cNvPicPr>
            <a:picLocks noChangeAspect="1"/>
          </p:cNvPicPr>
          <p:nvPr/>
        </p:nvPicPr>
        <p:blipFill>
          <a:blip r:embed="rId9"/>
          <a:stretch>
            <a:fillRect/>
          </a:stretch>
        </p:blipFill>
        <p:spPr>
          <a:xfrm>
            <a:off x="5852160" y="1115568"/>
            <a:ext cx="347472" cy="347472"/>
          </a:xfrm>
          <a:prstGeom prst="rect">
            <a:avLst/>
          </a:prstGeom>
        </p:spPr>
      </p:pic>
      <p:sp>
        <p:nvSpPr>
          <p:cNvPr id="26" name="bloque Objetivo título"/>
          <p:cNvSpPr txBox="1"/>
          <p:nvPr/>
        </p:nvSpPr>
        <p:spPr>
          <a:xfrm>
            <a:off x="6355080" y="1097280"/>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OBJETIVO</a:t>
            </a:r>
            <a:endParaRPr lang="en-US" sz="1200" dirty="0"/>
          </a:p>
        </p:txBody>
      </p:sp>
      <p:sp>
        <p:nvSpPr>
          <p:cNvPr id="27" name="bloque Objetivo texto"/>
          <p:cNvSpPr txBox="1"/>
          <p:nvPr/>
        </p:nvSpPr>
        <p:spPr>
          <a:xfrm>
            <a:off x="6355080" y="1335024"/>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Comprobar la respuesta del sistema con un camión circulando detrás de otro.</a:t>
            </a:r>
            <a:endParaRPr lang="en-US" sz="1100" dirty="0"/>
          </a:p>
        </p:txBody>
      </p:sp>
      <p:pic>
        <p:nvPicPr>
          <p:cNvPr id="28" name="bloque Desarrollo icono" descr="preencoded.png">    </p:cNvPr>
          <p:cNvPicPr>
            <a:picLocks noChangeAspect="1"/>
          </p:cNvPicPr>
          <p:nvPr/>
        </p:nvPicPr>
        <p:blipFill>
          <a:blip r:embed="rId10"/>
          <a:stretch>
            <a:fillRect/>
          </a:stretch>
        </p:blipFill>
        <p:spPr>
          <a:xfrm>
            <a:off x="5852160" y="2103120"/>
            <a:ext cx="347472" cy="347472"/>
          </a:xfrm>
          <a:prstGeom prst="rect">
            <a:avLst/>
          </a:prstGeom>
        </p:spPr>
      </p:pic>
      <p:sp>
        <p:nvSpPr>
          <p:cNvPr id="29" name="bloque Desarrollo título"/>
          <p:cNvSpPr txBox="1"/>
          <p:nvPr/>
        </p:nvSpPr>
        <p:spPr>
          <a:xfrm>
            <a:off x="6355080" y="2084832"/>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DESARROLLO</a:t>
            </a:r>
            <a:endParaRPr lang="en-US" sz="1200" dirty="0"/>
          </a:p>
        </p:txBody>
      </p:sp>
      <p:sp>
        <p:nvSpPr>
          <p:cNvPr id="30" name="bloque Desarrollo texto"/>
          <p:cNvSpPr txBox="1"/>
          <p:nvPr/>
        </p:nvSpPr>
        <p:spPr>
          <a:xfrm>
            <a:off x="6355080" y="2322576"/>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El camión B sigue al camión A por el mismo carril, a la distancia indicada, y reduce la separación de forma controlada.</a:t>
            </a:r>
            <a:endParaRPr lang="en-US" sz="1100" dirty="0"/>
          </a:p>
        </p:txBody>
      </p:sp>
      <p:pic>
        <p:nvPicPr>
          <p:cNvPr id="31" name="bloque Seguridad icono" descr="preencoded.png">    </p:cNvPr>
          <p:cNvPicPr>
            <a:picLocks noChangeAspect="1"/>
          </p:cNvPicPr>
          <p:nvPr/>
        </p:nvPicPr>
        <p:blipFill>
          <a:blip r:embed="rId11"/>
          <a:stretch>
            <a:fillRect/>
          </a:stretch>
        </p:blipFill>
        <p:spPr>
          <a:xfrm>
            <a:off x="5852160" y="3090672"/>
            <a:ext cx="347472" cy="347472"/>
          </a:xfrm>
          <a:prstGeom prst="rect">
            <a:avLst/>
          </a:prstGeom>
        </p:spPr>
      </p:pic>
      <p:sp>
        <p:nvSpPr>
          <p:cNvPr id="32" name="bloque Seguridad título"/>
          <p:cNvSpPr txBox="1"/>
          <p:nvPr/>
        </p:nvSpPr>
        <p:spPr>
          <a:xfrm>
            <a:off x="6355080" y="3072384"/>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SEGURIDAD</a:t>
            </a:r>
            <a:endParaRPr lang="en-US" sz="1200" dirty="0"/>
          </a:p>
        </p:txBody>
      </p:sp>
      <p:sp>
        <p:nvSpPr>
          <p:cNvPr id="33" name="bloque Seguridad texto"/>
          <p:cNvSpPr txBox="1"/>
          <p:nvPr/>
        </p:nvSpPr>
        <p:spPr>
          <a:xfrm>
            <a:off x="6355080" y="3310128"/>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Mismo sentido y velocidad reducida. El camión que sigue mantiene siempre margen de frenado.</a:t>
            </a:r>
            <a:endParaRPr lang="en-US" sz="1100" dirty="0"/>
          </a:p>
        </p:txBody>
      </p:sp>
      <p:sp>
        <p:nvSpPr>
          <p:cNvPr id="34" name="etiqueta productos prueba"/>
          <p:cNvSpPr txBox="1"/>
          <p:nvPr/>
        </p:nvSpPr>
        <p:spPr>
          <a:xfrm>
            <a:off x="6355080" y="4041648"/>
            <a:ext cx="109728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PRODUCTOS</a:t>
            </a:r>
            <a:endParaRPr lang="en-US" sz="800" dirty="0"/>
          </a:p>
        </p:txBody>
      </p:sp>
      <p:sp>
        <p:nvSpPr>
          <p:cNvPr id="35" name="producto prueba CMS fondo"/>
          <p:cNvSpPr/>
          <p:nvPr/>
        </p:nvSpPr>
        <p:spPr>
          <a:xfrm>
            <a:off x="6355080" y="4242816"/>
            <a:ext cx="548640" cy="237744"/>
          </a:xfrm>
          <a:prstGeom prst="rect">
            <a:avLst/>
          </a:prstGeom>
          <a:solidFill>
            <a:srgbClr val="D40319"/>
          </a:solidFill>
          <a:ln w="12700">
            <a:solidFill>
              <a:srgbClr val="D40319"/>
            </a:solidFill>
            <a:prstDash val="solid"/>
          </a:ln>
        </p:spPr>
      </p:sp>
      <p:sp>
        <p:nvSpPr>
          <p:cNvPr id="36" name="producto prueba CMS"/>
          <p:cNvSpPr txBox="1"/>
          <p:nvPr/>
        </p:nvSpPr>
        <p:spPr>
          <a:xfrm>
            <a:off x="6355080"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CMS</a:t>
            </a:r>
            <a:endParaRPr lang="en-US" sz="850" dirty="0"/>
          </a:p>
        </p:txBody>
      </p:sp>
      <p:sp>
        <p:nvSpPr>
          <p:cNvPr id="37" name="producto prueba ISA fondo"/>
          <p:cNvSpPr/>
          <p:nvPr/>
        </p:nvSpPr>
        <p:spPr>
          <a:xfrm>
            <a:off x="6976872" y="4242816"/>
            <a:ext cx="548640" cy="237744"/>
          </a:xfrm>
          <a:prstGeom prst="rect">
            <a:avLst/>
          </a:prstGeom>
          <a:solidFill>
            <a:srgbClr val="D40319"/>
          </a:solidFill>
          <a:ln w="12700">
            <a:solidFill>
              <a:srgbClr val="D40319"/>
            </a:solidFill>
            <a:prstDash val="solid"/>
          </a:ln>
        </p:spPr>
      </p:sp>
      <p:sp>
        <p:nvSpPr>
          <p:cNvPr id="38" name="producto prueba ISA"/>
          <p:cNvSpPr txBox="1"/>
          <p:nvPr/>
        </p:nvSpPr>
        <p:spPr>
          <a:xfrm>
            <a:off x="6976872"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ISA</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PRUEBA 4 ·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CRUCE EN INTERSECCIÓN</a:t>
            </a:r>
            <a:endParaRPr lang="en-US" sz="2000" dirty="0"/>
          </a:p>
        </p:txBody>
      </p:sp>
      <p:sp>
        <p:nvSpPr>
          <p:cNvPr id="3" name="chip prueb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prueb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PRUEBA 4 DE 5</a:t>
            </a:r>
            <a:endParaRPr lang="en-US" sz="850" dirty="0"/>
          </a:p>
        </p:txBody>
      </p:sp>
      <p:sp>
        <p:nvSpPr>
          <p:cNvPr id="5" name="diagrama"/>
          <p:cNvSpPr/>
          <p:nvPr/>
        </p:nvSpPr>
        <p:spPr>
          <a:xfrm>
            <a:off x="457200" y="1097280"/>
            <a:ext cx="5120640" cy="3383280"/>
          </a:xfrm>
          <a:prstGeom prst="rect">
            <a:avLst/>
          </a:prstGeom>
          <a:solidFill>
            <a:srgbClr val="FFFFFF"/>
          </a:solidFill>
          <a:ln w="9525">
            <a:solidFill>
              <a:srgbClr val="E3E3E3"/>
            </a:solidFill>
            <a:prstDash val="solid"/>
          </a:ln>
        </p:spPr>
      </p:sp>
      <p:sp>
        <p:nvSpPr>
          <p:cNvPr id="6" name="etiqueta diagrama"/>
          <p:cNvSpPr txBox="1"/>
          <p:nvPr/>
        </p:nvSpPr>
        <p:spPr>
          <a:xfrm>
            <a:off x="731520" y="1261872"/>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ESQUEMA EN PLANTA</a:t>
            </a:r>
            <a:endParaRPr lang="en-US" sz="800" dirty="0"/>
          </a:p>
        </p:txBody>
      </p:sp>
      <p:sp>
        <p:nvSpPr>
          <p:cNvPr id="7" name="vía principal P4"/>
          <p:cNvSpPr/>
          <p:nvPr/>
        </p:nvSpPr>
        <p:spPr>
          <a:xfrm>
            <a:off x="731520" y="2331720"/>
            <a:ext cx="4480560" cy="777240"/>
          </a:xfrm>
          <a:prstGeom prst="rect">
            <a:avLst/>
          </a:prstGeom>
          <a:solidFill>
            <a:srgbClr val="F2F2F2"/>
          </a:solidFill>
          <a:ln w="12700">
            <a:solidFill>
              <a:srgbClr val="CFCFCF"/>
            </a:solidFill>
            <a:prstDash val="solid"/>
          </a:ln>
        </p:spPr>
      </p:sp>
      <p:sp>
        <p:nvSpPr>
          <p:cNvPr id="8" name="vía transversal P4"/>
          <p:cNvSpPr/>
          <p:nvPr/>
        </p:nvSpPr>
        <p:spPr>
          <a:xfrm>
            <a:off x="3108960" y="1143000"/>
            <a:ext cx="777240" cy="2880360"/>
          </a:xfrm>
          <a:prstGeom prst="rect">
            <a:avLst/>
          </a:prstGeom>
          <a:solidFill>
            <a:srgbClr val="F2F2F2"/>
          </a:solidFill>
          <a:ln w="12700">
            <a:solidFill>
              <a:srgbClr val="CFCFCF"/>
            </a:solidFill>
            <a:prstDash val="solid"/>
          </a:ln>
        </p:spPr>
      </p:sp>
      <p:sp>
        <p:nvSpPr>
          <p:cNvPr id="9" name="intersección"/>
          <p:cNvSpPr/>
          <p:nvPr/>
        </p:nvSpPr>
        <p:spPr>
          <a:xfrm>
            <a:off x="3108960" y="2331720"/>
            <a:ext cx="777240" cy="777240"/>
          </a:xfrm>
          <a:prstGeom prst="rect">
            <a:avLst/>
          </a:prstGeom>
          <a:solidFill>
            <a:srgbClr val="E8A000">
              <a:alpha val="25000"/>
            </a:srgbClr>
          </a:solidFill>
          <a:ln w="12700">
            <a:solidFill>
              <a:srgbClr val="E8A000"/>
            </a:solidFill>
            <a:prstDash val="sysDash"/>
          </a:ln>
        </p:spPr>
      </p:sp>
      <p:pic>
        <p:nvPicPr>
          <p:cNvPr id="10" name="P4 camión A túnel seguridad" descr="preencoded.png">    </p:cNvPr>
          <p:cNvPicPr>
            <a:picLocks noChangeAspect="1"/>
          </p:cNvPicPr>
          <p:nvPr/>
        </p:nvPicPr>
        <p:blipFill>
          <a:blip r:embed="rId1"/>
          <a:stretch>
            <a:fillRect/>
          </a:stretch>
        </p:blipFill>
        <p:spPr>
          <a:xfrm>
            <a:off x="1764792" y="2544465"/>
            <a:ext cx="365760" cy="351750"/>
          </a:xfrm>
          <a:prstGeom prst="rect">
            <a:avLst/>
          </a:prstGeom>
        </p:spPr>
      </p:pic>
      <p:pic>
        <p:nvPicPr>
          <p:cNvPr id="11" name="P4 camión A túnel frenado" descr="preencoded.png">    </p:cNvPr>
          <p:cNvPicPr>
            <a:picLocks noChangeAspect="1"/>
          </p:cNvPicPr>
          <p:nvPr/>
        </p:nvPicPr>
        <p:blipFill>
          <a:blip r:embed="rId2"/>
          <a:stretch>
            <a:fillRect/>
          </a:stretch>
        </p:blipFill>
        <p:spPr>
          <a:xfrm>
            <a:off x="2130552" y="2544465"/>
            <a:ext cx="731520" cy="351750"/>
          </a:xfrm>
          <a:prstGeom prst="rect">
            <a:avLst/>
          </a:prstGeom>
        </p:spPr>
      </p:pic>
      <p:pic>
        <p:nvPicPr>
          <p:cNvPr id="12" name="P4 camión A" descr="preencoded.png">    </p:cNvPr>
          <p:cNvPicPr>
            <a:picLocks noChangeAspect="1"/>
          </p:cNvPicPr>
          <p:nvPr/>
        </p:nvPicPr>
        <p:blipFill>
          <a:blip r:embed="rId3"/>
          <a:stretch>
            <a:fillRect/>
          </a:stretch>
        </p:blipFill>
        <p:spPr>
          <a:xfrm>
            <a:off x="914400" y="2515834"/>
            <a:ext cx="822960" cy="409011"/>
          </a:xfrm>
          <a:prstGeom prst="rect">
            <a:avLst/>
          </a:prstGeom>
        </p:spPr>
      </p:pic>
      <p:sp>
        <p:nvSpPr>
          <p:cNvPr id="13" name="P4 camión A etiqueta"/>
          <p:cNvSpPr txBox="1"/>
          <p:nvPr/>
        </p:nvSpPr>
        <p:spPr>
          <a:xfrm>
            <a:off x="950976" y="251583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A</a:t>
            </a:r>
            <a:endParaRPr lang="en-US" sz="1300" dirty="0"/>
          </a:p>
        </p:txBody>
      </p:sp>
      <p:pic>
        <p:nvPicPr>
          <p:cNvPr id="14" name="P4 camión B túnel seguridad" descr="preencoded.png">    </p:cNvPr>
          <p:cNvPicPr>
            <a:picLocks noChangeAspect="1"/>
          </p:cNvPicPr>
          <p:nvPr/>
        </p:nvPicPr>
        <p:blipFill>
          <a:blip r:embed="rId4"/>
          <a:stretch>
            <a:fillRect/>
          </a:stretch>
        </p:blipFill>
        <p:spPr>
          <a:xfrm>
            <a:off x="3321705" y="2011680"/>
            <a:ext cx="351750" cy="128016"/>
          </a:xfrm>
          <a:prstGeom prst="rect">
            <a:avLst/>
          </a:prstGeom>
        </p:spPr>
      </p:pic>
      <p:pic>
        <p:nvPicPr>
          <p:cNvPr id="15" name="P4 camión B túnel frenado" descr="preencoded.png">    </p:cNvPr>
          <p:cNvPicPr>
            <a:picLocks noChangeAspect="1"/>
          </p:cNvPicPr>
          <p:nvPr/>
        </p:nvPicPr>
        <p:blipFill>
          <a:blip r:embed="rId5"/>
          <a:stretch>
            <a:fillRect/>
          </a:stretch>
        </p:blipFill>
        <p:spPr>
          <a:xfrm>
            <a:off x="3321705" y="2139696"/>
            <a:ext cx="351750" cy="182880"/>
          </a:xfrm>
          <a:prstGeom prst="rect">
            <a:avLst/>
          </a:prstGeom>
        </p:spPr>
      </p:pic>
      <p:pic>
        <p:nvPicPr>
          <p:cNvPr id="16" name="P4 camión B" descr="preencoded.png">    </p:cNvPr>
          <p:cNvPicPr>
            <a:picLocks noChangeAspect="1"/>
          </p:cNvPicPr>
          <p:nvPr/>
        </p:nvPicPr>
        <p:blipFill>
          <a:blip r:embed="rId6"/>
          <a:stretch>
            <a:fillRect/>
          </a:stretch>
        </p:blipFill>
        <p:spPr>
          <a:xfrm>
            <a:off x="3293074" y="1161288"/>
            <a:ext cx="409011" cy="822960"/>
          </a:xfrm>
          <a:prstGeom prst="rect">
            <a:avLst/>
          </a:prstGeom>
        </p:spPr>
      </p:pic>
      <p:sp>
        <p:nvSpPr>
          <p:cNvPr id="17" name="P4 camión B etiqueta"/>
          <p:cNvSpPr txBox="1"/>
          <p:nvPr/>
        </p:nvSpPr>
        <p:spPr>
          <a:xfrm>
            <a:off x="3293074" y="1197864"/>
            <a:ext cx="409011" cy="411480"/>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B</a:t>
            </a:r>
            <a:endParaRPr lang="en-US" sz="1300" dirty="0"/>
          </a:p>
        </p:txBody>
      </p:sp>
      <p:sp>
        <p:nvSpPr>
          <p:cNvPr id="18" name="nota P4"/>
          <p:cNvSpPr txBox="1"/>
          <p:nvPr/>
        </p:nvSpPr>
        <p:spPr>
          <a:xfrm>
            <a:off x="3977640" y="2514600"/>
            <a:ext cx="1188720" cy="411480"/>
          </a:xfrm>
          <a:prstGeom prst="rect">
            <a:avLst/>
          </a:prstGeom>
          <a:noFill/>
          <a:ln/>
        </p:spPr>
        <p:txBody>
          <a:bodyPr wrap="square" lIns="0" tIns="0" rIns="0" bIns="0" rtlCol="0" anchor="ctr"/>
          <a:lstStyle/>
          <a:p>
            <a:pPr indent="0" marL="0">
              <a:buNone/>
            </a:pPr>
            <a:r>
              <a:rPr lang="en-US" sz="900" dirty="0">
                <a:solidFill>
                  <a:srgbClr val="9A6B00"/>
                </a:solidFill>
                <a:latin typeface="Arial" pitchFamily="34" charset="0"/>
                <a:ea typeface="Arial" pitchFamily="34" charset="-122"/>
                <a:cs typeface="Arial" pitchFamily="34" charset="-120"/>
              </a:rPr>
              <a:t>Punto de conflicto</a:t>
            </a:r>
            <a:endParaRPr lang="en-US" sz="900" dirty="0"/>
          </a:p>
        </p:txBody>
      </p:sp>
      <p:pic>
        <p:nvPicPr>
          <p:cNvPr id="19" name="leyenda seguridad" descr="preencoded.png">    </p:cNvPr>
          <p:cNvPicPr>
            <a:picLocks noChangeAspect="1"/>
          </p:cNvPicPr>
          <p:nvPr/>
        </p:nvPicPr>
        <p:blipFill>
          <a:blip r:embed="rId7"/>
          <a:stretch>
            <a:fillRect/>
          </a:stretch>
        </p:blipFill>
        <p:spPr>
          <a:xfrm>
            <a:off x="731520" y="4206240"/>
            <a:ext cx="274320" cy="128016"/>
          </a:xfrm>
          <a:prstGeom prst="rect">
            <a:avLst/>
          </a:prstGeom>
        </p:spPr>
      </p:pic>
      <p:sp>
        <p:nvSpPr>
          <p:cNvPr id="20"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seguridad</a:t>
            </a:r>
            <a:endParaRPr lang="en-US" sz="900" dirty="0"/>
          </a:p>
        </p:txBody>
      </p:sp>
      <p:pic>
        <p:nvPicPr>
          <p:cNvPr id="21" name="leyenda frenado" descr="preencoded.png">    </p:cNvPr>
          <p:cNvPicPr>
            <a:picLocks noChangeAspect="1"/>
          </p:cNvPicPr>
          <p:nvPr/>
        </p:nvPicPr>
        <p:blipFill>
          <a:blip r:embed="rId8"/>
          <a:stretch>
            <a:fillRect/>
          </a:stretch>
        </p:blipFill>
        <p:spPr>
          <a:xfrm>
            <a:off x="2560320" y="4206240"/>
            <a:ext cx="274320" cy="128016"/>
          </a:xfrm>
          <a:prstGeom prst="rect">
            <a:avLst/>
          </a:prstGeom>
        </p:spPr>
      </p:pic>
      <p:sp>
        <p:nvSpPr>
          <p:cNvPr id="22"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frenado</a:t>
            </a:r>
            <a:endParaRPr lang="en-US" sz="900" dirty="0"/>
          </a:p>
        </p:txBody>
      </p:sp>
      <p:sp>
        <p:nvSpPr>
          <p:cNvPr id="23" name="leyenda túnel"/>
          <p:cNvSpPr txBox="1"/>
          <p:nvPr/>
        </p:nvSpPr>
        <p:spPr>
          <a:xfrm>
            <a:off x="4343400" y="4160520"/>
            <a:ext cx="1188720" cy="219456"/>
          </a:xfrm>
          <a:prstGeom prst="rect">
            <a:avLst/>
          </a:prstGeom>
          <a:noFill/>
          <a:ln/>
        </p:spPr>
        <p:txBody>
          <a:bodyPr wrap="square" lIns="0" tIns="0" rIns="0" bIns="0" rtlCol="0" anchor="ctr"/>
          <a:lstStyle/>
          <a:p>
            <a:pPr indent="0" marL="0">
              <a:buNone/>
            </a:pPr>
            <a:r>
              <a:rPr lang="en-US" sz="900" dirty="0">
                <a:solidFill>
                  <a:srgbClr val="B5B5B5"/>
                </a:solidFill>
                <a:latin typeface="Arial" pitchFamily="34" charset="0"/>
                <a:ea typeface="Arial" pitchFamily="34" charset="-122"/>
                <a:cs typeface="Arial" pitchFamily="34" charset="-120"/>
              </a:rPr>
              <a:t>Túnel virtual</a:t>
            </a:r>
            <a:endParaRPr lang="en-US" sz="900" dirty="0"/>
          </a:p>
        </p:txBody>
      </p:sp>
      <p:pic>
        <p:nvPicPr>
          <p:cNvPr id="24" name="bloque Objetivo icono" descr="preencoded.png">    </p:cNvPr>
          <p:cNvPicPr>
            <a:picLocks noChangeAspect="1"/>
          </p:cNvPicPr>
          <p:nvPr/>
        </p:nvPicPr>
        <p:blipFill>
          <a:blip r:embed="rId9"/>
          <a:stretch>
            <a:fillRect/>
          </a:stretch>
        </p:blipFill>
        <p:spPr>
          <a:xfrm>
            <a:off x="5852160" y="1115568"/>
            <a:ext cx="347472" cy="347472"/>
          </a:xfrm>
          <a:prstGeom prst="rect">
            <a:avLst/>
          </a:prstGeom>
        </p:spPr>
      </p:pic>
      <p:sp>
        <p:nvSpPr>
          <p:cNvPr id="25" name="bloque Objetivo título"/>
          <p:cNvSpPr txBox="1"/>
          <p:nvPr/>
        </p:nvSpPr>
        <p:spPr>
          <a:xfrm>
            <a:off x="6355080" y="1097280"/>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OBJETIVO</a:t>
            </a:r>
            <a:endParaRPr lang="en-US" sz="1200" dirty="0"/>
          </a:p>
        </p:txBody>
      </p:sp>
      <p:sp>
        <p:nvSpPr>
          <p:cNvPr id="26" name="bloque Objetivo texto"/>
          <p:cNvSpPr txBox="1"/>
          <p:nvPr/>
        </p:nvSpPr>
        <p:spPr>
          <a:xfrm>
            <a:off x="6355080" y="1335024"/>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Comprobar la detección de un camión que se aproxima desde un lateral, en una intersección.</a:t>
            </a:r>
            <a:endParaRPr lang="en-US" sz="1100" dirty="0"/>
          </a:p>
        </p:txBody>
      </p:sp>
      <p:pic>
        <p:nvPicPr>
          <p:cNvPr id="27" name="bloque Desarrollo icono" descr="preencoded.png">    </p:cNvPr>
          <p:cNvPicPr>
            <a:picLocks noChangeAspect="1"/>
          </p:cNvPicPr>
          <p:nvPr/>
        </p:nvPicPr>
        <p:blipFill>
          <a:blip r:embed="rId10"/>
          <a:stretch>
            <a:fillRect/>
          </a:stretch>
        </p:blipFill>
        <p:spPr>
          <a:xfrm>
            <a:off x="5852160" y="2103120"/>
            <a:ext cx="347472" cy="347472"/>
          </a:xfrm>
          <a:prstGeom prst="rect">
            <a:avLst/>
          </a:prstGeom>
        </p:spPr>
      </p:pic>
      <p:sp>
        <p:nvSpPr>
          <p:cNvPr id="28" name="bloque Desarrollo título"/>
          <p:cNvSpPr txBox="1"/>
          <p:nvPr/>
        </p:nvSpPr>
        <p:spPr>
          <a:xfrm>
            <a:off x="6355080" y="2084832"/>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DESARROLLO</a:t>
            </a:r>
            <a:endParaRPr lang="en-US" sz="1200" dirty="0"/>
          </a:p>
        </p:txBody>
      </p:sp>
      <p:sp>
        <p:nvSpPr>
          <p:cNvPr id="29" name="bloque Desarrollo texto"/>
          <p:cNvSpPr txBox="1"/>
          <p:nvPr/>
        </p:nvSpPr>
        <p:spPr>
          <a:xfrm>
            <a:off x="6355080" y="2322576"/>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El camión A circula recto; el camión B llega por la vía transversal. Los dos se detienen antes del punto de conflicto.</a:t>
            </a:r>
            <a:endParaRPr lang="en-US" sz="1100" dirty="0"/>
          </a:p>
        </p:txBody>
      </p:sp>
      <p:pic>
        <p:nvPicPr>
          <p:cNvPr id="30" name="bloque Seguridad icono" descr="preencoded.png">    </p:cNvPr>
          <p:cNvPicPr>
            <a:picLocks noChangeAspect="1"/>
          </p:cNvPicPr>
          <p:nvPr/>
        </p:nvPicPr>
        <p:blipFill>
          <a:blip r:embed="rId11"/>
          <a:stretch>
            <a:fillRect/>
          </a:stretch>
        </p:blipFill>
        <p:spPr>
          <a:xfrm>
            <a:off x="5852160" y="3090672"/>
            <a:ext cx="347472" cy="347472"/>
          </a:xfrm>
          <a:prstGeom prst="rect">
            <a:avLst/>
          </a:prstGeom>
        </p:spPr>
      </p:pic>
      <p:sp>
        <p:nvSpPr>
          <p:cNvPr id="31" name="bloque Seguridad título"/>
          <p:cNvSpPr txBox="1"/>
          <p:nvPr/>
        </p:nvSpPr>
        <p:spPr>
          <a:xfrm>
            <a:off x="6355080" y="3072384"/>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SEGURIDAD</a:t>
            </a:r>
            <a:endParaRPr lang="en-US" sz="1200" dirty="0"/>
          </a:p>
        </p:txBody>
      </p:sp>
      <p:sp>
        <p:nvSpPr>
          <p:cNvPr id="32" name="bloque Seguridad texto"/>
          <p:cNvSpPr txBox="1"/>
          <p:nvPr/>
        </p:nvSpPr>
        <p:spPr>
          <a:xfrm>
            <a:off x="6355080" y="3310128"/>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Nunca ocupan la intersección a la vez: hay prioridad definida y punto de parada marcado para cada uno.</a:t>
            </a:r>
            <a:endParaRPr lang="en-US" sz="1100" dirty="0"/>
          </a:p>
        </p:txBody>
      </p:sp>
      <p:sp>
        <p:nvSpPr>
          <p:cNvPr id="33" name="etiqueta productos prueba"/>
          <p:cNvSpPr txBox="1"/>
          <p:nvPr/>
        </p:nvSpPr>
        <p:spPr>
          <a:xfrm>
            <a:off x="6355080" y="4041648"/>
            <a:ext cx="109728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PRODUCTOS</a:t>
            </a:r>
            <a:endParaRPr lang="en-US" sz="800" dirty="0"/>
          </a:p>
        </p:txBody>
      </p:sp>
      <p:sp>
        <p:nvSpPr>
          <p:cNvPr id="34" name="producto prueba CMS fondo"/>
          <p:cNvSpPr/>
          <p:nvPr/>
        </p:nvSpPr>
        <p:spPr>
          <a:xfrm>
            <a:off x="6355080" y="4242816"/>
            <a:ext cx="548640" cy="237744"/>
          </a:xfrm>
          <a:prstGeom prst="rect">
            <a:avLst/>
          </a:prstGeom>
          <a:solidFill>
            <a:srgbClr val="D40319"/>
          </a:solidFill>
          <a:ln w="12700">
            <a:solidFill>
              <a:srgbClr val="D40319"/>
            </a:solidFill>
            <a:prstDash val="solid"/>
          </a:ln>
        </p:spPr>
      </p:sp>
      <p:sp>
        <p:nvSpPr>
          <p:cNvPr id="35" name="producto prueba CMS"/>
          <p:cNvSpPr txBox="1"/>
          <p:nvPr/>
        </p:nvSpPr>
        <p:spPr>
          <a:xfrm>
            <a:off x="6355080"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CMS</a:t>
            </a:r>
            <a:endParaRPr lang="en-US" sz="850" dirty="0"/>
          </a:p>
        </p:txBody>
      </p:sp>
      <p:sp>
        <p:nvSpPr>
          <p:cNvPr id="36" name="producto prueba ISA fondo"/>
          <p:cNvSpPr/>
          <p:nvPr/>
        </p:nvSpPr>
        <p:spPr>
          <a:xfrm>
            <a:off x="6976872" y="4242816"/>
            <a:ext cx="548640" cy="237744"/>
          </a:xfrm>
          <a:prstGeom prst="rect">
            <a:avLst/>
          </a:prstGeom>
          <a:solidFill>
            <a:srgbClr val="D40319"/>
          </a:solidFill>
          <a:ln w="12700">
            <a:solidFill>
              <a:srgbClr val="D40319"/>
            </a:solidFill>
            <a:prstDash val="solid"/>
          </a:ln>
        </p:spPr>
      </p:sp>
      <p:sp>
        <p:nvSpPr>
          <p:cNvPr id="37" name="producto prueba ISA"/>
          <p:cNvSpPr txBox="1"/>
          <p:nvPr/>
        </p:nvSpPr>
        <p:spPr>
          <a:xfrm>
            <a:off x="6976872"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ISA</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PRUEBA 5 ·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RECTA: VALIDACIÓN FINAL</a:t>
            </a:r>
            <a:endParaRPr lang="en-US" sz="2000" dirty="0"/>
          </a:p>
        </p:txBody>
      </p:sp>
      <p:sp>
        <p:nvSpPr>
          <p:cNvPr id="3" name="chip prueba fondo"/>
          <p:cNvSpPr/>
          <p:nvPr/>
        </p:nvSpPr>
        <p:spPr>
          <a:xfrm>
            <a:off x="7406640" y="402336"/>
            <a:ext cx="1280160" cy="237744"/>
          </a:xfrm>
          <a:prstGeom prst="rect">
            <a:avLst/>
          </a:prstGeom>
          <a:solidFill>
            <a:srgbClr val="D9D9D9"/>
          </a:solidFill>
          <a:ln w="12700">
            <a:solidFill>
              <a:srgbClr val="D9D9D9"/>
            </a:solidFill>
            <a:prstDash val="solid"/>
          </a:ln>
        </p:spPr>
      </p:sp>
      <p:sp>
        <p:nvSpPr>
          <p:cNvPr id="4" name="chip prueba"/>
          <p:cNvSpPr txBox="1"/>
          <p:nvPr/>
        </p:nvSpPr>
        <p:spPr>
          <a:xfrm>
            <a:off x="7406640" y="402336"/>
            <a:ext cx="1280160" cy="237744"/>
          </a:xfrm>
          <a:prstGeom prst="rect">
            <a:avLst/>
          </a:prstGeom>
          <a:noFill/>
          <a:ln/>
        </p:spPr>
        <p:txBody>
          <a:bodyPr wrap="square" lIns="0" tIns="0" rIns="0" bIns="0" rtlCol="0" anchor="ctr"/>
          <a:lstStyle/>
          <a:p>
            <a:pPr algn="ctr" indent="0" marL="0">
              <a:buNone/>
            </a:pPr>
            <a:r>
              <a:rPr lang="en-US" sz="850" b="1" spc="100" kern="0" dirty="0">
                <a:solidFill>
                  <a:srgbClr val="0F1C2C"/>
                </a:solidFill>
                <a:latin typeface="Montserrat" pitchFamily="34" charset="0"/>
                <a:ea typeface="Montserrat" pitchFamily="34" charset="-122"/>
                <a:cs typeface="Montserrat" pitchFamily="34" charset="-120"/>
              </a:rPr>
              <a:t>PRUEBA 5 DE 5</a:t>
            </a:r>
            <a:endParaRPr lang="en-US" sz="850" dirty="0"/>
          </a:p>
        </p:txBody>
      </p:sp>
      <p:sp>
        <p:nvSpPr>
          <p:cNvPr id="5" name="diagrama"/>
          <p:cNvSpPr/>
          <p:nvPr/>
        </p:nvSpPr>
        <p:spPr>
          <a:xfrm>
            <a:off x="457200" y="1097280"/>
            <a:ext cx="5120640" cy="3383280"/>
          </a:xfrm>
          <a:prstGeom prst="rect">
            <a:avLst/>
          </a:prstGeom>
          <a:solidFill>
            <a:srgbClr val="FFFFFF"/>
          </a:solidFill>
          <a:ln w="9525">
            <a:solidFill>
              <a:srgbClr val="E3E3E3"/>
            </a:solidFill>
            <a:prstDash val="solid"/>
          </a:ln>
        </p:spPr>
      </p:sp>
      <p:sp>
        <p:nvSpPr>
          <p:cNvPr id="6" name="etiqueta diagrama"/>
          <p:cNvSpPr txBox="1"/>
          <p:nvPr/>
        </p:nvSpPr>
        <p:spPr>
          <a:xfrm>
            <a:off x="731520" y="1261872"/>
            <a:ext cx="22860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ESQUEMA EN PLANTA</a:t>
            </a:r>
            <a:endParaRPr lang="en-US" sz="800" dirty="0"/>
          </a:p>
        </p:txBody>
      </p:sp>
      <p:sp>
        <p:nvSpPr>
          <p:cNvPr id="7" name="pista P5"/>
          <p:cNvSpPr/>
          <p:nvPr/>
        </p:nvSpPr>
        <p:spPr>
          <a:xfrm>
            <a:off x="731520" y="1828800"/>
            <a:ext cx="4480560" cy="1463040"/>
          </a:xfrm>
          <a:prstGeom prst="rect">
            <a:avLst/>
          </a:prstGeom>
          <a:solidFill>
            <a:srgbClr val="F2F2F2"/>
          </a:solidFill>
          <a:ln w="12700">
            <a:solidFill>
              <a:srgbClr val="CFCFCF"/>
            </a:solidFill>
            <a:prstDash val="solid"/>
          </a:ln>
        </p:spPr>
      </p:sp>
      <p:sp>
        <p:nvSpPr>
          <p:cNvPr id="8" name="pista P5 división 1"/>
          <p:cNvSpPr/>
          <p:nvPr/>
        </p:nvSpPr>
        <p:spPr>
          <a:xfrm>
            <a:off x="731520" y="2560320"/>
            <a:ext cx="4480560" cy="0"/>
          </a:xfrm>
          <a:prstGeom prst="line">
            <a:avLst/>
          </a:prstGeom>
          <a:noFill/>
          <a:ln w="12700">
            <a:solidFill>
              <a:srgbClr val="9A9A9A"/>
            </a:solidFill>
            <a:prstDash val="dash"/>
          </a:ln>
        </p:spPr>
      </p:sp>
      <p:pic>
        <p:nvPicPr>
          <p:cNvPr id="9" name="P5 camión A túnel seguridad" descr="preencoded.png">    </p:cNvPr>
          <p:cNvPicPr>
            <a:picLocks noChangeAspect="1"/>
          </p:cNvPicPr>
          <p:nvPr/>
        </p:nvPicPr>
        <p:blipFill>
          <a:blip r:embed="rId1"/>
          <a:stretch>
            <a:fillRect/>
          </a:stretch>
        </p:blipFill>
        <p:spPr>
          <a:xfrm>
            <a:off x="1810512" y="2018685"/>
            <a:ext cx="548640" cy="351750"/>
          </a:xfrm>
          <a:prstGeom prst="rect">
            <a:avLst/>
          </a:prstGeom>
        </p:spPr>
      </p:pic>
      <p:pic>
        <p:nvPicPr>
          <p:cNvPr id="10" name="P5 camión A túnel frenado" descr="preencoded.png">    </p:cNvPr>
          <p:cNvPicPr>
            <a:picLocks noChangeAspect="1"/>
          </p:cNvPicPr>
          <p:nvPr/>
        </p:nvPicPr>
        <p:blipFill>
          <a:blip r:embed="rId2"/>
          <a:stretch>
            <a:fillRect/>
          </a:stretch>
        </p:blipFill>
        <p:spPr>
          <a:xfrm>
            <a:off x="2359152" y="2018685"/>
            <a:ext cx="2194560" cy="351750"/>
          </a:xfrm>
          <a:prstGeom prst="rect">
            <a:avLst/>
          </a:prstGeom>
        </p:spPr>
      </p:pic>
      <p:pic>
        <p:nvPicPr>
          <p:cNvPr id="11" name="P5 camión A" descr="preencoded.png">    </p:cNvPr>
          <p:cNvPicPr>
            <a:picLocks noChangeAspect="1"/>
          </p:cNvPicPr>
          <p:nvPr/>
        </p:nvPicPr>
        <p:blipFill>
          <a:blip r:embed="rId3"/>
          <a:stretch>
            <a:fillRect/>
          </a:stretch>
        </p:blipFill>
        <p:spPr>
          <a:xfrm>
            <a:off x="960120" y="1990054"/>
            <a:ext cx="822960" cy="409011"/>
          </a:xfrm>
          <a:prstGeom prst="rect">
            <a:avLst/>
          </a:prstGeom>
        </p:spPr>
      </p:pic>
      <p:sp>
        <p:nvSpPr>
          <p:cNvPr id="12" name="P5 camión A etiqueta"/>
          <p:cNvSpPr txBox="1"/>
          <p:nvPr/>
        </p:nvSpPr>
        <p:spPr>
          <a:xfrm>
            <a:off x="996696" y="199005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A</a:t>
            </a:r>
            <a:endParaRPr lang="en-US" sz="1300" dirty="0"/>
          </a:p>
        </p:txBody>
      </p:sp>
      <p:pic>
        <p:nvPicPr>
          <p:cNvPr id="13" name="P5 camión B túnel seguridad" descr="preencoded.png">    </p:cNvPr>
          <p:cNvPicPr>
            <a:picLocks noChangeAspect="1"/>
          </p:cNvPicPr>
          <p:nvPr/>
        </p:nvPicPr>
        <p:blipFill>
          <a:blip r:embed="rId4"/>
          <a:stretch>
            <a:fillRect/>
          </a:stretch>
        </p:blipFill>
        <p:spPr>
          <a:xfrm>
            <a:off x="1810512" y="2750205"/>
            <a:ext cx="548640" cy="351750"/>
          </a:xfrm>
          <a:prstGeom prst="rect">
            <a:avLst/>
          </a:prstGeom>
        </p:spPr>
      </p:pic>
      <p:pic>
        <p:nvPicPr>
          <p:cNvPr id="14" name="P5 camión B túnel frenado" descr="preencoded.png">    </p:cNvPr>
          <p:cNvPicPr>
            <a:picLocks noChangeAspect="1"/>
          </p:cNvPicPr>
          <p:nvPr/>
        </p:nvPicPr>
        <p:blipFill>
          <a:blip r:embed="rId5"/>
          <a:stretch>
            <a:fillRect/>
          </a:stretch>
        </p:blipFill>
        <p:spPr>
          <a:xfrm>
            <a:off x="2359152" y="2750205"/>
            <a:ext cx="2194560" cy="351750"/>
          </a:xfrm>
          <a:prstGeom prst="rect">
            <a:avLst/>
          </a:prstGeom>
        </p:spPr>
      </p:pic>
      <p:pic>
        <p:nvPicPr>
          <p:cNvPr id="15" name="P5 camión B" descr="preencoded.png">    </p:cNvPr>
          <p:cNvPicPr>
            <a:picLocks noChangeAspect="1"/>
          </p:cNvPicPr>
          <p:nvPr/>
        </p:nvPicPr>
        <p:blipFill>
          <a:blip r:embed="rId6"/>
          <a:stretch>
            <a:fillRect/>
          </a:stretch>
        </p:blipFill>
        <p:spPr>
          <a:xfrm>
            <a:off x="960120" y="2721574"/>
            <a:ext cx="822960" cy="409011"/>
          </a:xfrm>
          <a:prstGeom prst="rect">
            <a:avLst/>
          </a:prstGeom>
        </p:spPr>
      </p:pic>
      <p:sp>
        <p:nvSpPr>
          <p:cNvPr id="16" name="P5 camión B etiqueta"/>
          <p:cNvSpPr txBox="1"/>
          <p:nvPr/>
        </p:nvSpPr>
        <p:spPr>
          <a:xfrm>
            <a:off x="996696" y="2721574"/>
            <a:ext cx="411480" cy="409011"/>
          </a:xfrm>
          <a:prstGeom prst="rect">
            <a:avLst/>
          </a:prstGeom>
          <a:noFill/>
          <a:ln/>
        </p:spPr>
        <p:txBody>
          <a:bodyPr wrap="square" lIns="0" tIns="0" rIns="0" bIns="0" rtlCol="0" anchor="ctr"/>
          <a:lstStyle/>
          <a:p>
            <a:pPr algn="ctr" indent="0" marL="0">
              <a:buNone/>
            </a:pPr>
            <a:r>
              <a:rPr lang="en-US" sz="1300" b="1" dirty="0">
                <a:solidFill>
                  <a:srgbClr val="8A8A8A"/>
                </a:solidFill>
                <a:latin typeface="Montserrat" pitchFamily="34" charset="0"/>
                <a:ea typeface="Montserrat" pitchFamily="34" charset="-122"/>
                <a:cs typeface="Montserrat" pitchFamily="34" charset="-120"/>
              </a:rPr>
              <a:t>B</a:t>
            </a:r>
            <a:endParaRPr lang="en-US" sz="1300" dirty="0"/>
          </a:p>
        </p:txBody>
      </p:sp>
      <p:sp>
        <p:nvSpPr>
          <p:cNvPr id="17" name="meta"/>
          <p:cNvSpPr/>
          <p:nvPr/>
        </p:nvSpPr>
        <p:spPr>
          <a:xfrm>
            <a:off x="4983480" y="1783080"/>
            <a:ext cx="0" cy="1554480"/>
          </a:xfrm>
          <a:prstGeom prst="line">
            <a:avLst/>
          </a:prstGeom>
          <a:noFill/>
          <a:ln w="25400">
            <a:solidFill>
              <a:srgbClr val="2E8B3A"/>
            </a:solidFill>
            <a:prstDash val="sysDash"/>
          </a:ln>
        </p:spPr>
      </p:sp>
      <p:pic>
        <p:nvPicPr>
          <p:cNvPr id="18" name="icono meta" descr="preencoded.png">    </p:cNvPr>
          <p:cNvPicPr>
            <a:picLocks noChangeAspect="1"/>
          </p:cNvPicPr>
          <p:nvPr/>
        </p:nvPicPr>
        <p:blipFill>
          <a:blip r:embed="rId7"/>
          <a:stretch>
            <a:fillRect/>
          </a:stretch>
        </p:blipFill>
        <p:spPr>
          <a:xfrm>
            <a:off x="4846320" y="3364992"/>
            <a:ext cx="274320" cy="274320"/>
          </a:xfrm>
          <a:prstGeom prst="rect">
            <a:avLst/>
          </a:prstGeom>
        </p:spPr>
      </p:pic>
      <p:sp>
        <p:nvSpPr>
          <p:cNvPr id="19" name="nota P5"/>
          <p:cNvSpPr txBox="1"/>
          <p:nvPr/>
        </p:nvSpPr>
        <p:spPr>
          <a:xfrm>
            <a:off x="731520" y="3401568"/>
            <a:ext cx="3931920" cy="274320"/>
          </a:xfrm>
          <a:prstGeom prst="rect">
            <a:avLst/>
          </a:prstGeom>
          <a:noFill/>
          <a:ln/>
        </p:spPr>
        <p:txBody>
          <a:bodyPr wrap="square" lIns="0" tIns="0" rIns="0" bIns="0" rtlCol="0" anchor="ctr"/>
          <a:lstStyle/>
          <a:p>
            <a:pPr algn="ctr" indent="0" marL="0">
              <a:buNone/>
            </a:pPr>
            <a:r>
              <a:rPr lang="en-US" sz="1000" dirty="0">
                <a:solidFill>
                  <a:srgbClr val="5C5C5C"/>
                </a:solidFill>
                <a:latin typeface="Arial" pitchFamily="34" charset="0"/>
                <a:ea typeface="Arial" pitchFamily="34" charset="-122"/>
                <a:cs typeface="Arial" pitchFamily="34" charset="-120"/>
              </a:rPr>
              <a:t>Tramo recto a velocidad constante</a:t>
            </a:r>
            <a:endParaRPr lang="en-US" sz="1000" dirty="0"/>
          </a:p>
        </p:txBody>
      </p:sp>
      <p:pic>
        <p:nvPicPr>
          <p:cNvPr id="20" name="leyenda seguridad" descr="preencoded.png">    </p:cNvPr>
          <p:cNvPicPr>
            <a:picLocks noChangeAspect="1"/>
          </p:cNvPicPr>
          <p:nvPr/>
        </p:nvPicPr>
        <p:blipFill>
          <a:blip r:embed="rId8"/>
          <a:stretch>
            <a:fillRect/>
          </a:stretch>
        </p:blipFill>
        <p:spPr>
          <a:xfrm>
            <a:off x="731520" y="4206240"/>
            <a:ext cx="274320" cy="128016"/>
          </a:xfrm>
          <a:prstGeom prst="rect">
            <a:avLst/>
          </a:prstGeom>
        </p:spPr>
      </p:pic>
      <p:sp>
        <p:nvSpPr>
          <p:cNvPr id="21" name="leyenda seguridad texto"/>
          <p:cNvSpPr txBox="1"/>
          <p:nvPr/>
        </p:nvSpPr>
        <p:spPr>
          <a:xfrm>
            <a:off x="10789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seguridad</a:t>
            </a:r>
            <a:endParaRPr lang="en-US" sz="900" dirty="0"/>
          </a:p>
        </p:txBody>
      </p:sp>
      <p:pic>
        <p:nvPicPr>
          <p:cNvPr id="22" name="leyenda frenado" descr="preencoded.png">    </p:cNvPr>
          <p:cNvPicPr>
            <a:picLocks noChangeAspect="1"/>
          </p:cNvPicPr>
          <p:nvPr/>
        </p:nvPicPr>
        <p:blipFill>
          <a:blip r:embed="rId9"/>
          <a:stretch>
            <a:fillRect/>
          </a:stretch>
        </p:blipFill>
        <p:spPr>
          <a:xfrm>
            <a:off x="2560320" y="4206240"/>
            <a:ext cx="274320" cy="128016"/>
          </a:xfrm>
          <a:prstGeom prst="rect">
            <a:avLst/>
          </a:prstGeom>
        </p:spPr>
      </p:pic>
      <p:sp>
        <p:nvSpPr>
          <p:cNvPr id="23" name="leyenda frenado texto"/>
          <p:cNvSpPr txBox="1"/>
          <p:nvPr/>
        </p:nvSpPr>
        <p:spPr>
          <a:xfrm>
            <a:off x="2907792" y="4160520"/>
            <a:ext cx="1463040" cy="219456"/>
          </a:xfrm>
          <a:prstGeom prst="rect">
            <a:avLst/>
          </a:prstGeom>
          <a:noFill/>
          <a:ln/>
        </p:spPr>
        <p:txBody>
          <a:bodyPr wrap="square" lIns="0" tIns="0" rIns="0" bIns="0" rtlCol="0" anchor="ctr"/>
          <a:lstStyle/>
          <a:p>
            <a:pPr indent="0" marL="0">
              <a:buNone/>
            </a:pPr>
            <a:r>
              <a:rPr lang="en-US" sz="900" dirty="0">
                <a:solidFill>
                  <a:srgbClr val="8C8C8C"/>
                </a:solidFill>
                <a:latin typeface="Arial" pitchFamily="34" charset="0"/>
                <a:ea typeface="Arial" pitchFamily="34" charset="-122"/>
                <a:cs typeface="Arial" pitchFamily="34" charset="-120"/>
              </a:rPr>
              <a:t>Distancia de frenado</a:t>
            </a:r>
            <a:endParaRPr lang="en-US" sz="900" dirty="0"/>
          </a:p>
        </p:txBody>
      </p:sp>
      <p:sp>
        <p:nvSpPr>
          <p:cNvPr id="24" name="leyenda túnel"/>
          <p:cNvSpPr txBox="1"/>
          <p:nvPr/>
        </p:nvSpPr>
        <p:spPr>
          <a:xfrm>
            <a:off x="4343400" y="4160520"/>
            <a:ext cx="1188720" cy="219456"/>
          </a:xfrm>
          <a:prstGeom prst="rect">
            <a:avLst/>
          </a:prstGeom>
          <a:noFill/>
          <a:ln/>
        </p:spPr>
        <p:txBody>
          <a:bodyPr wrap="square" lIns="0" tIns="0" rIns="0" bIns="0" rtlCol="0" anchor="ctr"/>
          <a:lstStyle/>
          <a:p>
            <a:pPr indent="0" marL="0">
              <a:buNone/>
            </a:pPr>
            <a:r>
              <a:rPr lang="en-US" sz="900" dirty="0">
                <a:solidFill>
                  <a:srgbClr val="B5B5B5"/>
                </a:solidFill>
                <a:latin typeface="Arial" pitchFamily="34" charset="0"/>
                <a:ea typeface="Arial" pitchFamily="34" charset="-122"/>
                <a:cs typeface="Arial" pitchFamily="34" charset="-120"/>
              </a:rPr>
              <a:t>Túnel virtual</a:t>
            </a:r>
            <a:endParaRPr lang="en-US" sz="900" dirty="0"/>
          </a:p>
        </p:txBody>
      </p:sp>
      <p:pic>
        <p:nvPicPr>
          <p:cNvPr id="25" name="bloque Objetivo icono" descr="preencoded.png">    </p:cNvPr>
          <p:cNvPicPr>
            <a:picLocks noChangeAspect="1"/>
          </p:cNvPicPr>
          <p:nvPr/>
        </p:nvPicPr>
        <p:blipFill>
          <a:blip r:embed="rId10"/>
          <a:stretch>
            <a:fillRect/>
          </a:stretch>
        </p:blipFill>
        <p:spPr>
          <a:xfrm>
            <a:off x="5852160" y="1115568"/>
            <a:ext cx="347472" cy="347472"/>
          </a:xfrm>
          <a:prstGeom prst="rect">
            <a:avLst/>
          </a:prstGeom>
        </p:spPr>
      </p:pic>
      <p:sp>
        <p:nvSpPr>
          <p:cNvPr id="26" name="bloque Objetivo título"/>
          <p:cNvSpPr txBox="1"/>
          <p:nvPr/>
        </p:nvSpPr>
        <p:spPr>
          <a:xfrm>
            <a:off x="6355080" y="1097280"/>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OBJETIVO</a:t>
            </a:r>
            <a:endParaRPr lang="en-US" sz="1200" dirty="0"/>
          </a:p>
        </p:txBody>
      </p:sp>
      <p:sp>
        <p:nvSpPr>
          <p:cNvPr id="27" name="bloque Objetivo texto"/>
          <p:cNvSpPr txBox="1"/>
          <p:nvPr/>
        </p:nvSpPr>
        <p:spPr>
          <a:xfrm>
            <a:off x="6355080" y="1335024"/>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Validar el funcionamiento completo del sistema en un recorrido recto, sin interacción entre camiones.</a:t>
            </a:r>
            <a:endParaRPr lang="en-US" sz="1100" dirty="0"/>
          </a:p>
        </p:txBody>
      </p:sp>
      <p:pic>
        <p:nvPicPr>
          <p:cNvPr id="28" name="bloque Desarrollo icono" descr="preencoded.png">    </p:cNvPr>
          <p:cNvPicPr>
            <a:picLocks noChangeAspect="1"/>
          </p:cNvPicPr>
          <p:nvPr/>
        </p:nvPicPr>
        <p:blipFill>
          <a:blip r:embed="rId11"/>
          <a:stretch>
            <a:fillRect/>
          </a:stretch>
        </p:blipFill>
        <p:spPr>
          <a:xfrm>
            <a:off x="5852160" y="2103120"/>
            <a:ext cx="347472" cy="347472"/>
          </a:xfrm>
          <a:prstGeom prst="rect">
            <a:avLst/>
          </a:prstGeom>
        </p:spPr>
      </p:pic>
      <p:sp>
        <p:nvSpPr>
          <p:cNvPr id="29" name="bloque Desarrollo título"/>
          <p:cNvSpPr txBox="1"/>
          <p:nvPr/>
        </p:nvSpPr>
        <p:spPr>
          <a:xfrm>
            <a:off x="6355080" y="2084832"/>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DESARROLLO</a:t>
            </a:r>
            <a:endParaRPr lang="en-US" sz="1200" dirty="0"/>
          </a:p>
        </p:txBody>
      </p:sp>
      <p:sp>
        <p:nvSpPr>
          <p:cNvPr id="30" name="bloque Desarrollo texto"/>
          <p:cNvSpPr txBox="1"/>
          <p:nvPr/>
        </p:nvSpPr>
        <p:spPr>
          <a:xfrm>
            <a:off x="6355080" y="2322576"/>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Cada camión realiza un tramo recto a velocidad constante. Se comprueba que el sistema responde como en las pruebas anteriores.</a:t>
            </a:r>
            <a:endParaRPr lang="en-US" sz="1100" dirty="0"/>
          </a:p>
        </p:txBody>
      </p:sp>
      <p:pic>
        <p:nvPicPr>
          <p:cNvPr id="31" name="bloque Seguridad icono" descr="preencoded.png">    </p:cNvPr>
          <p:cNvPicPr>
            <a:picLocks noChangeAspect="1"/>
          </p:cNvPicPr>
          <p:nvPr/>
        </p:nvPicPr>
        <p:blipFill>
          <a:blip r:embed="rId12"/>
          <a:stretch>
            <a:fillRect/>
          </a:stretch>
        </p:blipFill>
        <p:spPr>
          <a:xfrm>
            <a:off x="5852160" y="3090672"/>
            <a:ext cx="347472" cy="347472"/>
          </a:xfrm>
          <a:prstGeom prst="rect">
            <a:avLst/>
          </a:prstGeom>
        </p:spPr>
      </p:pic>
      <p:sp>
        <p:nvSpPr>
          <p:cNvPr id="32" name="bloque Seguridad título"/>
          <p:cNvSpPr txBox="1"/>
          <p:nvPr/>
        </p:nvSpPr>
        <p:spPr>
          <a:xfrm>
            <a:off x="6355080" y="3072384"/>
            <a:ext cx="2331720" cy="237744"/>
          </a:xfrm>
          <a:prstGeom prst="rect">
            <a:avLst/>
          </a:prstGeom>
          <a:noFill/>
          <a:ln/>
        </p:spPr>
        <p:txBody>
          <a:bodyPr wrap="square" lIns="0" tIns="0" rIns="0" bIns="0" rtlCol="0" anchor="t"/>
          <a:lstStyle/>
          <a:p>
            <a:pPr indent="0" marL="0">
              <a:buNone/>
            </a:pPr>
            <a:r>
              <a:rPr lang="en-US" sz="1200" b="1" dirty="0">
                <a:solidFill>
                  <a:srgbClr val="0F1C2C"/>
                </a:solidFill>
                <a:latin typeface="Montserrat" pitchFamily="34" charset="0"/>
                <a:ea typeface="Montserrat" pitchFamily="34" charset="-122"/>
                <a:cs typeface="Montserrat" pitchFamily="34" charset="-120"/>
              </a:rPr>
              <a:t>SEGURIDAD</a:t>
            </a:r>
            <a:endParaRPr lang="en-US" sz="1200" dirty="0"/>
          </a:p>
        </p:txBody>
      </p:sp>
      <p:sp>
        <p:nvSpPr>
          <p:cNvPr id="33" name="bloque Seguridad texto"/>
          <p:cNvSpPr txBox="1"/>
          <p:nvPr/>
        </p:nvSpPr>
        <p:spPr>
          <a:xfrm>
            <a:off x="6355080" y="3310128"/>
            <a:ext cx="2331720" cy="694944"/>
          </a:xfrm>
          <a:prstGeom prst="rect">
            <a:avLst/>
          </a:prstGeom>
          <a:noFill/>
          <a:ln/>
        </p:spPr>
        <p:txBody>
          <a:bodyPr wrap="square" lIns="0" tIns="0" rIns="0" bIns="0" rtlCol="0" anchor="t"/>
          <a:lstStyle/>
          <a:p>
            <a:pPr indent="0" marL="0">
              <a:buNone/>
            </a:pPr>
            <a:r>
              <a:rPr lang="en-US" sz="1100" dirty="0">
                <a:solidFill>
                  <a:srgbClr val="5C5C5C"/>
                </a:solidFill>
                <a:latin typeface="Arial" pitchFamily="34" charset="0"/>
                <a:ea typeface="Arial" pitchFamily="34" charset="-122"/>
                <a:cs typeface="Arial" pitchFamily="34" charset="-120"/>
              </a:rPr>
              <a:t>Un camión en pista cada vez. Se da por terminada la sesión cuando los dos han completado la recta.</a:t>
            </a:r>
            <a:endParaRPr lang="en-US" sz="1100" dirty="0"/>
          </a:p>
        </p:txBody>
      </p:sp>
      <p:sp>
        <p:nvSpPr>
          <p:cNvPr id="34" name="etiqueta productos prueba"/>
          <p:cNvSpPr txBox="1"/>
          <p:nvPr/>
        </p:nvSpPr>
        <p:spPr>
          <a:xfrm>
            <a:off x="6355080" y="4041648"/>
            <a:ext cx="109728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PRODUCTOS</a:t>
            </a:r>
            <a:endParaRPr lang="en-US" sz="800" dirty="0"/>
          </a:p>
        </p:txBody>
      </p:sp>
      <p:sp>
        <p:nvSpPr>
          <p:cNvPr id="35" name="producto prueba WBV fondo"/>
          <p:cNvSpPr/>
          <p:nvPr/>
        </p:nvSpPr>
        <p:spPr>
          <a:xfrm>
            <a:off x="6355080" y="4242816"/>
            <a:ext cx="548640" cy="237744"/>
          </a:xfrm>
          <a:prstGeom prst="rect">
            <a:avLst/>
          </a:prstGeom>
          <a:solidFill>
            <a:srgbClr val="D40319"/>
          </a:solidFill>
          <a:ln w="12700">
            <a:solidFill>
              <a:srgbClr val="D40319"/>
            </a:solidFill>
            <a:prstDash val="solid"/>
          </a:ln>
        </p:spPr>
      </p:sp>
      <p:sp>
        <p:nvSpPr>
          <p:cNvPr id="36" name="producto prueba WBV"/>
          <p:cNvSpPr txBox="1"/>
          <p:nvPr/>
        </p:nvSpPr>
        <p:spPr>
          <a:xfrm>
            <a:off x="6355080"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WBV</a:t>
            </a:r>
            <a:endParaRPr lang="en-US" sz="850" dirty="0"/>
          </a:p>
        </p:txBody>
      </p:sp>
      <p:sp>
        <p:nvSpPr>
          <p:cNvPr id="37" name="producto prueba FAS fondo"/>
          <p:cNvSpPr/>
          <p:nvPr/>
        </p:nvSpPr>
        <p:spPr>
          <a:xfrm>
            <a:off x="6976872" y="4242816"/>
            <a:ext cx="548640" cy="237744"/>
          </a:xfrm>
          <a:prstGeom prst="rect">
            <a:avLst/>
          </a:prstGeom>
          <a:solidFill>
            <a:srgbClr val="D40319"/>
          </a:solidFill>
          <a:ln w="12700">
            <a:solidFill>
              <a:srgbClr val="D40319"/>
            </a:solidFill>
            <a:prstDash val="solid"/>
          </a:ln>
        </p:spPr>
      </p:sp>
      <p:sp>
        <p:nvSpPr>
          <p:cNvPr id="38" name="producto prueba FAS"/>
          <p:cNvSpPr txBox="1"/>
          <p:nvPr/>
        </p:nvSpPr>
        <p:spPr>
          <a:xfrm>
            <a:off x="6976872" y="4242816"/>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FAS</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1920240" y="274320"/>
            <a:ext cx="5760720" cy="502920"/>
          </a:xfrm>
          <a:prstGeom prst="rect">
            <a:avLst/>
          </a:prstGeom>
          <a:noFill/>
          <a:ln/>
        </p:spPr>
        <p:txBody>
          <a:bodyPr wrap="square" lIns="0" tIns="0" rIns="0" bIns="0" rtlCol="0" anchor="ctr"/>
          <a:lstStyle/>
          <a:p>
            <a:pPr algn="l" indent="0" marL="0">
              <a:buNone/>
            </a:pPr>
            <a:r>
              <a:rPr lang="en-US" sz="2000" spc="50" kern="0" dirty="0">
                <a:solidFill>
                  <a:srgbClr val="0F1C2C"/>
                </a:solidFill>
                <a:latin typeface="Montserrat" pitchFamily="34" charset="0"/>
                <a:ea typeface="Montserrat" pitchFamily="34" charset="-122"/>
                <a:cs typeface="Montserrat" pitchFamily="34" charset="-120"/>
              </a:rPr>
              <a:t>¿DUDAS ANTES </a:t>
            </a:r>
            <a:pPr algn="l" indent="0" marL="0">
              <a:buNone/>
            </a:pPr>
            <a:r>
              <a:rPr lang="en-US" sz="2000" b="1" spc="50" kern="0" dirty="0">
                <a:solidFill>
                  <a:srgbClr val="0F1C2C"/>
                </a:solidFill>
                <a:latin typeface="Montserrat" pitchFamily="34" charset="0"/>
                <a:ea typeface="Montserrat" pitchFamily="34" charset="-122"/>
                <a:cs typeface="Montserrat" pitchFamily="34" charset="-120"/>
              </a:rPr>
              <a:t>DE EMPEZAR?</a:t>
            </a:r>
            <a:endParaRPr lang="en-US" sz="2000" dirty="0"/>
          </a:p>
        </p:txBody>
      </p:sp>
      <p:sp>
        <p:nvSpPr>
          <p:cNvPr id="3" name="resumen seguridad"/>
          <p:cNvSpPr/>
          <p:nvPr/>
        </p:nvSpPr>
        <p:spPr>
          <a:xfrm>
            <a:off x="457200" y="1097280"/>
            <a:ext cx="4023360" cy="3383280"/>
          </a:xfrm>
          <a:prstGeom prst="rect">
            <a:avLst/>
          </a:prstGeom>
          <a:solidFill>
            <a:srgbClr val="FFFFFF"/>
          </a:solidFill>
          <a:ln w="9525">
            <a:solidFill>
              <a:srgbClr val="E3E3E3"/>
            </a:solidFill>
            <a:prstDash val="solid"/>
          </a:ln>
        </p:spPr>
      </p:sp>
      <p:sp>
        <p:nvSpPr>
          <p:cNvPr id="4" name="etiqueta resumen seguridad"/>
          <p:cNvSpPr txBox="1"/>
          <p:nvPr/>
        </p:nvSpPr>
        <p:spPr>
          <a:xfrm>
            <a:off x="731520" y="1298448"/>
            <a:ext cx="27432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SEGURIDAD</a:t>
            </a:r>
            <a:endParaRPr lang="en-US" sz="800" dirty="0"/>
          </a:p>
        </p:txBody>
      </p:sp>
      <p:pic>
        <p:nvPicPr>
          <p:cNvPr id="5" name="check 1" descr="preencoded.png">    </p:cNvPr>
          <p:cNvPicPr>
            <a:picLocks noChangeAspect="1"/>
          </p:cNvPicPr>
          <p:nvPr/>
        </p:nvPicPr>
        <p:blipFill>
          <a:blip r:embed="rId1"/>
          <a:stretch>
            <a:fillRect/>
          </a:stretch>
        </p:blipFill>
        <p:spPr>
          <a:xfrm>
            <a:off x="731520" y="1664208"/>
            <a:ext cx="237744" cy="237744"/>
          </a:xfrm>
          <a:prstGeom prst="rect">
            <a:avLst/>
          </a:prstGeom>
        </p:spPr>
      </p:pic>
      <p:sp>
        <p:nvSpPr>
          <p:cNvPr id="6" name="resumen seguridad 1"/>
          <p:cNvSpPr txBox="1"/>
          <p:nvPr/>
        </p:nvSpPr>
        <p:spPr>
          <a:xfrm>
            <a:off x="1097280" y="16002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Chaleco puesto en todo momento</a:t>
            </a:r>
            <a:endParaRPr lang="en-US" sz="1150" dirty="0"/>
          </a:p>
        </p:txBody>
      </p:sp>
      <p:pic>
        <p:nvPicPr>
          <p:cNvPr id="7" name="check 2" descr="preencoded.png">    </p:cNvPr>
          <p:cNvPicPr>
            <a:picLocks noChangeAspect="1"/>
          </p:cNvPicPr>
          <p:nvPr/>
        </p:nvPicPr>
        <p:blipFill>
          <a:blip r:embed="rId2"/>
          <a:stretch>
            <a:fillRect/>
          </a:stretch>
        </p:blipFill>
        <p:spPr>
          <a:xfrm>
            <a:off x="731520" y="2121408"/>
            <a:ext cx="237744" cy="237744"/>
          </a:xfrm>
          <a:prstGeom prst="rect">
            <a:avLst/>
          </a:prstGeom>
        </p:spPr>
      </p:pic>
      <p:sp>
        <p:nvSpPr>
          <p:cNvPr id="8" name="resumen seguridad 2"/>
          <p:cNvSpPr txBox="1"/>
          <p:nvPr/>
        </p:nvSpPr>
        <p:spPr>
          <a:xfrm>
            <a:off x="1097280" y="20574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Dentro del área delimitada, acceso a pie</a:t>
            </a:r>
            <a:endParaRPr lang="en-US" sz="1150" dirty="0"/>
          </a:p>
        </p:txBody>
      </p:sp>
      <p:pic>
        <p:nvPicPr>
          <p:cNvPr id="9" name="check 3" descr="preencoded.png">    </p:cNvPr>
          <p:cNvPicPr>
            <a:picLocks noChangeAspect="1"/>
          </p:cNvPicPr>
          <p:nvPr/>
        </p:nvPicPr>
        <p:blipFill>
          <a:blip r:embed="rId3"/>
          <a:stretch>
            <a:fillRect/>
          </a:stretch>
        </p:blipFill>
        <p:spPr>
          <a:xfrm>
            <a:off x="731520" y="2578608"/>
            <a:ext cx="237744" cy="237744"/>
          </a:xfrm>
          <a:prstGeom prst="rect">
            <a:avLst/>
          </a:prstGeom>
        </p:spPr>
      </p:pic>
      <p:sp>
        <p:nvSpPr>
          <p:cNvPr id="10" name="resumen seguridad 3"/>
          <p:cNvSpPr txBox="1"/>
          <p:nvPr/>
        </p:nvSpPr>
        <p:spPr>
          <a:xfrm>
            <a:off x="1097280" y="25146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En la carpa cuando no se desplace</a:t>
            </a:r>
            <a:endParaRPr lang="en-US" sz="1150" dirty="0"/>
          </a:p>
        </p:txBody>
      </p:sp>
      <p:pic>
        <p:nvPicPr>
          <p:cNvPr id="11" name="check 4" descr="preencoded.png">    </p:cNvPr>
          <p:cNvPicPr>
            <a:picLocks noChangeAspect="1"/>
          </p:cNvPicPr>
          <p:nvPr/>
        </p:nvPicPr>
        <p:blipFill>
          <a:blip r:embed="rId4"/>
          <a:stretch>
            <a:fillRect/>
          </a:stretch>
        </p:blipFill>
        <p:spPr>
          <a:xfrm>
            <a:off x="731520" y="3035808"/>
            <a:ext cx="237744" cy="237744"/>
          </a:xfrm>
          <a:prstGeom prst="rect">
            <a:avLst/>
          </a:prstGeom>
        </p:spPr>
      </p:pic>
      <p:sp>
        <p:nvSpPr>
          <p:cNvPr id="12" name="resumen seguridad 4"/>
          <p:cNvSpPr txBox="1"/>
          <p:nvPr/>
        </p:nvSpPr>
        <p:spPr>
          <a:xfrm>
            <a:off x="1097280" y="29718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Avisar a un supervisor antes de acercarse a un camión</a:t>
            </a:r>
            <a:endParaRPr lang="en-US" sz="1150" dirty="0"/>
          </a:p>
        </p:txBody>
      </p:sp>
      <p:pic>
        <p:nvPicPr>
          <p:cNvPr id="13" name="check 5" descr="preencoded.png">    </p:cNvPr>
          <p:cNvPicPr>
            <a:picLocks noChangeAspect="1"/>
          </p:cNvPicPr>
          <p:nvPr/>
        </p:nvPicPr>
        <p:blipFill>
          <a:blip r:embed="rId5"/>
          <a:stretch>
            <a:fillRect/>
          </a:stretch>
        </p:blipFill>
        <p:spPr>
          <a:xfrm>
            <a:off x="731520" y="3493008"/>
            <a:ext cx="237744" cy="237744"/>
          </a:xfrm>
          <a:prstGeom prst="rect">
            <a:avLst/>
          </a:prstGeom>
        </p:spPr>
      </p:pic>
      <p:sp>
        <p:nvSpPr>
          <p:cNvPr id="14" name="resumen seguridad 5"/>
          <p:cNvSpPr txBox="1"/>
          <p:nvPr/>
        </p:nvSpPr>
        <p:spPr>
          <a:xfrm>
            <a:off x="1097280" y="34290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Camión detenido y aprobación del conductor</a:t>
            </a:r>
            <a:endParaRPr lang="en-US" sz="1150" dirty="0"/>
          </a:p>
        </p:txBody>
      </p:sp>
      <p:sp>
        <p:nvSpPr>
          <p:cNvPr id="15" name="etiqueta supervisores cierre"/>
          <p:cNvSpPr txBox="1"/>
          <p:nvPr/>
        </p:nvSpPr>
        <p:spPr>
          <a:xfrm>
            <a:off x="731520" y="3977640"/>
            <a:ext cx="32004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SUPERVISORES EN PISTA</a:t>
            </a:r>
            <a:endParaRPr lang="en-US" sz="800" dirty="0"/>
          </a:p>
        </p:txBody>
      </p:sp>
      <p:sp>
        <p:nvSpPr>
          <p:cNvPr id="16" name="supervisores cierre"/>
          <p:cNvSpPr txBox="1"/>
          <p:nvPr/>
        </p:nvSpPr>
        <p:spPr>
          <a:xfrm>
            <a:off x="731520" y="4160520"/>
            <a:ext cx="3566160" cy="274320"/>
          </a:xfrm>
          <a:prstGeom prst="rect">
            <a:avLst/>
          </a:prstGeom>
          <a:noFill/>
          <a:ln/>
        </p:spPr>
        <p:txBody>
          <a:bodyPr wrap="square" lIns="0" tIns="0" rIns="0" bIns="0" rtlCol="0" anchor="t"/>
          <a:lstStyle/>
          <a:p>
            <a:pPr indent="0" marL="0">
              <a:buNone/>
            </a:pPr>
            <a:r>
              <a:rPr lang="en-US" sz="900" b="1" dirty="0">
                <a:solidFill>
                  <a:srgbClr val="0F1C2C"/>
                </a:solidFill>
                <a:latin typeface="Montserrat" pitchFamily="34" charset="0"/>
                <a:ea typeface="Montserrat" pitchFamily="34" charset="-122"/>
                <a:cs typeface="Montserrat" pitchFamily="34" charset="-120"/>
              </a:rPr>
              <a:t>Hugo Negreyros  ·  Sergio García  ·  Juan Carlos Delgado</a:t>
            </a:r>
            <a:endParaRPr lang="en-US" sz="900" dirty="0"/>
          </a:p>
        </p:txBody>
      </p:sp>
      <p:sp>
        <p:nvSpPr>
          <p:cNvPr id="17" name="resumen pruebas"/>
          <p:cNvSpPr/>
          <p:nvPr/>
        </p:nvSpPr>
        <p:spPr>
          <a:xfrm>
            <a:off x="4663440" y="1097280"/>
            <a:ext cx="4023360" cy="3383280"/>
          </a:xfrm>
          <a:prstGeom prst="rect">
            <a:avLst/>
          </a:prstGeom>
          <a:solidFill>
            <a:srgbClr val="FFFFFF"/>
          </a:solidFill>
          <a:ln w="9525">
            <a:solidFill>
              <a:srgbClr val="E3E3E3"/>
            </a:solidFill>
            <a:prstDash val="solid"/>
          </a:ln>
        </p:spPr>
      </p:sp>
      <p:sp>
        <p:nvSpPr>
          <p:cNvPr id="18" name="etiqueta resumen pruebas"/>
          <p:cNvSpPr txBox="1"/>
          <p:nvPr/>
        </p:nvSpPr>
        <p:spPr>
          <a:xfrm>
            <a:off x="4937760" y="1298448"/>
            <a:ext cx="27432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PRUEBAS</a:t>
            </a:r>
            <a:endParaRPr lang="en-US" sz="800" dirty="0"/>
          </a:p>
        </p:txBody>
      </p:sp>
      <p:sp>
        <p:nvSpPr>
          <p:cNvPr id="19" name="número cierre 1"/>
          <p:cNvSpPr txBox="1"/>
          <p:nvPr/>
        </p:nvSpPr>
        <p:spPr>
          <a:xfrm>
            <a:off x="4937760" y="1600200"/>
            <a:ext cx="274320" cy="365760"/>
          </a:xfrm>
          <a:prstGeom prst="rect">
            <a:avLst/>
          </a:prstGeom>
          <a:noFill/>
          <a:ln/>
        </p:spPr>
        <p:txBody>
          <a:bodyPr wrap="square" lIns="0" tIns="0" rIns="0" bIns="0" rtlCol="0" anchor="ctr"/>
          <a:lstStyle/>
          <a:p>
            <a:pPr indent="0" marL="0">
              <a:buNone/>
            </a:pPr>
            <a:r>
              <a:rPr lang="en-US" sz="1400" b="1" dirty="0">
                <a:solidFill>
                  <a:srgbClr val="D40319"/>
                </a:solidFill>
                <a:latin typeface="Montserrat" pitchFamily="34" charset="0"/>
                <a:ea typeface="Montserrat" pitchFamily="34" charset="-122"/>
                <a:cs typeface="Montserrat" pitchFamily="34" charset="-120"/>
              </a:rPr>
              <a:t>1</a:t>
            </a:r>
            <a:endParaRPr lang="en-US" sz="1400" dirty="0"/>
          </a:p>
        </p:txBody>
      </p:sp>
      <p:sp>
        <p:nvSpPr>
          <p:cNvPr id="20" name="resumen pruebas 1"/>
          <p:cNvSpPr txBox="1"/>
          <p:nvPr/>
        </p:nvSpPr>
        <p:spPr>
          <a:xfrm>
            <a:off x="5303520" y="16002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Enfrentamiento</a:t>
            </a:r>
            <a:endParaRPr lang="en-US" sz="1150" dirty="0"/>
          </a:p>
        </p:txBody>
      </p:sp>
      <p:sp>
        <p:nvSpPr>
          <p:cNvPr id="21" name="número cierre 2"/>
          <p:cNvSpPr txBox="1"/>
          <p:nvPr/>
        </p:nvSpPr>
        <p:spPr>
          <a:xfrm>
            <a:off x="4937760" y="2057400"/>
            <a:ext cx="274320" cy="365760"/>
          </a:xfrm>
          <a:prstGeom prst="rect">
            <a:avLst/>
          </a:prstGeom>
          <a:noFill/>
          <a:ln/>
        </p:spPr>
        <p:txBody>
          <a:bodyPr wrap="square" lIns="0" tIns="0" rIns="0" bIns="0" rtlCol="0" anchor="ctr"/>
          <a:lstStyle/>
          <a:p>
            <a:pPr indent="0" marL="0">
              <a:buNone/>
            </a:pPr>
            <a:r>
              <a:rPr lang="en-US" sz="1400" b="1" dirty="0">
                <a:solidFill>
                  <a:srgbClr val="D40319"/>
                </a:solidFill>
                <a:latin typeface="Montserrat" pitchFamily="34" charset="0"/>
                <a:ea typeface="Montserrat" pitchFamily="34" charset="-122"/>
                <a:cs typeface="Montserrat" pitchFamily="34" charset="-120"/>
              </a:rPr>
              <a:t>2</a:t>
            </a:r>
            <a:endParaRPr lang="en-US" sz="1400" dirty="0"/>
          </a:p>
        </p:txBody>
      </p:sp>
      <p:sp>
        <p:nvSpPr>
          <p:cNvPr id="22" name="resumen pruebas 2"/>
          <p:cNvSpPr txBox="1"/>
          <p:nvPr/>
        </p:nvSpPr>
        <p:spPr>
          <a:xfrm>
            <a:off x="5303520" y="20574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Cruce en carriles distintos</a:t>
            </a:r>
            <a:endParaRPr lang="en-US" sz="1150" dirty="0"/>
          </a:p>
        </p:txBody>
      </p:sp>
      <p:sp>
        <p:nvSpPr>
          <p:cNvPr id="23" name="número cierre 3"/>
          <p:cNvSpPr txBox="1"/>
          <p:nvPr/>
        </p:nvSpPr>
        <p:spPr>
          <a:xfrm>
            <a:off x="4937760" y="2514600"/>
            <a:ext cx="274320" cy="365760"/>
          </a:xfrm>
          <a:prstGeom prst="rect">
            <a:avLst/>
          </a:prstGeom>
          <a:noFill/>
          <a:ln/>
        </p:spPr>
        <p:txBody>
          <a:bodyPr wrap="square" lIns="0" tIns="0" rIns="0" bIns="0" rtlCol="0" anchor="ctr"/>
          <a:lstStyle/>
          <a:p>
            <a:pPr indent="0" marL="0">
              <a:buNone/>
            </a:pPr>
            <a:r>
              <a:rPr lang="en-US" sz="1400" b="1" dirty="0">
                <a:solidFill>
                  <a:srgbClr val="D40319"/>
                </a:solidFill>
                <a:latin typeface="Montserrat" pitchFamily="34" charset="0"/>
                <a:ea typeface="Montserrat" pitchFamily="34" charset="-122"/>
                <a:cs typeface="Montserrat" pitchFamily="34" charset="-120"/>
              </a:rPr>
              <a:t>3</a:t>
            </a:r>
            <a:endParaRPr lang="en-US" sz="1400" dirty="0"/>
          </a:p>
        </p:txBody>
      </p:sp>
      <p:sp>
        <p:nvSpPr>
          <p:cNvPr id="24" name="resumen pruebas 3"/>
          <p:cNvSpPr txBox="1"/>
          <p:nvPr/>
        </p:nvSpPr>
        <p:spPr>
          <a:xfrm>
            <a:off x="5303520" y="25146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Seguimiento</a:t>
            </a:r>
            <a:endParaRPr lang="en-US" sz="1150" dirty="0"/>
          </a:p>
        </p:txBody>
      </p:sp>
      <p:sp>
        <p:nvSpPr>
          <p:cNvPr id="25" name="número cierre 4"/>
          <p:cNvSpPr txBox="1"/>
          <p:nvPr/>
        </p:nvSpPr>
        <p:spPr>
          <a:xfrm>
            <a:off x="4937760" y="2971800"/>
            <a:ext cx="274320" cy="365760"/>
          </a:xfrm>
          <a:prstGeom prst="rect">
            <a:avLst/>
          </a:prstGeom>
          <a:noFill/>
          <a:ln/>
        </p:spPr>
        <p:txBody>
          <a:bodyPr wrap="square" lIns="0" tIns="0" rIns="0" bIns="0" rtlCol="0" anchor="ctr"/>
          <a:lstStyle/>
          <a:p>
            <a:pPr indent="0" marL="0">
              <a:buNone/>
            </a:pPr>
            <a:r>
              <a:rPr lang="en-US" sz="1400" b="1" dirty="0">
                <a:solidFill>
                  <a:srgbClr val="D40319"/>
                </a:solidFill>
                <a:latin typeface="Montserrat" pitchFamily="34" charset="0"/>
                <a:ea typeface="Montserrat" pitchFamily="34" charset="-122"/>
                <a:cs typeface="Montserrat" pitchFamily="34" charset="-120"/>
              </a:rPr>
              <a:t>4</a:t>
            </a:r>
            <a:endParaRPr lang="en-US" sz="1400" dirty="0"/>
          </a:p>
        </p:txBody>
      </p:sp>
      <p:sp>
        <p:nvSpPr>
          <p:cNvPr id="26" name="resumen pruebas 4"/>
          <p:cNvSpPr txBox="1"/>
          <p:nvPr/>
        </p:nvSpPr>
        <p:spPr>
          <a:xfrm>
            <a:off x="5303520" y="29718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Cruce en intersección</a:t>
            </a:r>
            <a:endParaRPr lang="en-US" sz="1150" dirty="0"/>
          </a:p>
        </p:txBody>
      </p:sp>
      <p:sp>
        <p:nvSpPr>
          <p:cNvPr id="27" name="número cierre 5"/>
          <p:cNvSpPr txBox="1"/>
          <p:nvPr/>
        </p:nvSpPr>
        <p:spPr>
          <a:xfrm>
            <a:off x="4937760" y="3429000"/>
            <a:ext cx="274320" cy="365760"/>
          </a:xfrm>
          <a:prstGeom prst="rect">
            <a:avLst/>
          </a:prstGeom>
          <a:noFill/>
          <a:ln/>
        </p:spPr>
        <p:txBody>
          <a:bodyPr wrap="square" lIns="0" tIns="0" rIns="0" bIns="0" rtlCol="0" anchor="ctr"/>
          <a:lstStyle/>
          <a:p>
            <a:pPr indent="0" marL="0">
              <a:buNone/>
            </a:pPr>
            <a:r>
              <a:rPr lang="en-US" sz="1400" b="1" dirty="0">
                <a:solidFill>
                  <a:srgbClr val="D40319"/>
                </a:solidFill>
                <a:latin typeface="Montserrat" pitchFamily="34" charset="0"/>
                <a:ea typeface="Montserrat" pitchFamily="34" charset="-122"/>
                <a:cs typeface="Montserrat" pitchFamily="34" charset="-120"/>
              </a:rPr>
              <a:t>5</a:t>
            </a:r>
            <a:endParaRPr lang="en-US" sz="1400" dirty="0"/>
          </a:p>
        </p:txBody>
      </p:sp>
      <p:sp>
        <p:nvSpPr>
          <p:cNvPr id="28" name="resumen pruebas 5"/>
          <p:cNvSpPr txBox="1"/>
          <p:nvPr/>
        </p:nvSpPr>
        <p:spPr>
          <a:xfrm>
            <a:off x="5303520" y="3429000"/>
            <a:ext cx="3200400" cy="365760"/>
          </a:xfrm>
          <a:prstGeom prst="rect">
            <a:avLst/>
          </a:prstGeom>
          <a:noFill/>
          <a:ln/>
        </p:spPr>
        <p:txBody>
          <a:bodyPr wrap="square" lIns="0" tIns="0" rIns="0" bIns="0" rtlCol="0" anchor="ctr"/>
          <a:lstStyle/>
          <a:p>
            <a:pPr indent="0" marL="0">
              <a:buNone/>
            </a:pPr>
            <a:r>
              <a:rPr lang="en-US" sz="1150" dirty="0">
                <a:solidFill>
                  <a:srgbClr val="3A3A3A"/>
                </a:solidFill>
                <a:latin typeface="Arial" pitchFamily="34" charset="0"/>
                <a:ea typeface="Arial" pitchFamily="34" charset="-122"/>
                <a:cs typeface="Arial" pitchFamily="34" charset="-120"/>
              </a:rPr>
              <a:t>Recta: validación final</a:t>
            </a:r>
            <a:endParaRPr lang="en-US" sz="1150" dirty="0"/>
          </a:p>
        </p:txBody>
      </p:sp>
      <p:sp>
        <p:nvSpPr>
          <p:cNvPr id="29" name="etiqueta productos cierre"/>
          <p:cNvSpPr txBox="1"/>
          <p:nvPr/>
        </p:nvSpPr>
        <p:spPr>
          <a:xfrm>
            <a:off x="4937760" y="3977640"/>
            <a:ext cx="1828800" cy="201168"/>
          </a:xfrm>
          <a:prstGeom prst="rect">
            <a:avLst/>
          </a:prstGeom>
          <a:noFill/>
          <a:ln/>
        </p:spPr>
        <p:txBody>
          <a:bodyPr wrap="square" lIns="0" tIns="0" rIns="0" bIns="0" rtlCol="0" anchor="t"/>
          <a:lstStyle/>
          <a:p>
            <a:pPr indent="0" marL="0">
              <a:buNone/>
            </a:pPr>
            <a:r>
              <a:rPr lang="en-US" sz="800" spc="250" kern="0" dirty="0">
                <a:solidFill>
                  <a:srgbClr val="8C8C8C"/>
                </a:solidFill>
                <a:latin typeface="Arial" pitchFamily="34" charset="0"/>
                <a:ea typeface="Arial" pitchFamily="34" charset="-122"/>
                <a:cs typeface="Arial" pitchFamily="34" charset="-120"/>
              </a:rPr>
              <a:t>PRODUCTOS</a:t>
            </a:r>
            <a:endParaRPr lang="en-US" sz="800" dirty="0"/>
          </a:p>
        </p:txBody>
      </p:sp>
      <p:sp>
        <p:nvSpPr>
          <p:cNvPr id="30" name="producto cierre CMS fondo"/>
          <p:cNvSpPr/>
          <p:nvPr/>
        </p:nvSpPr>
        <p:spPr>
          <a:xfrm>
            <a:off x="4937760" y="4187952"/>
            <a:ext cx="548640" cy="237744"/>
          </a:xfrm>
          <a:prstGeom prst="rect">
            <a:avLst/>
          </a:prstGeom>
          <a:solidFill>
            <a:srgbClr val="D40319"/>
          </a:solidFill>
          <a:ln w="12700">
            <a:solidFill>
              <a:srgbClr val="D40319"/>
            </a:solidFill>
            <a:prstDash val="solid"/>
          </a:ln>
        </p:spPr>
      </p:sp>
      <p:sp>
        <p:nvSpPr>
          <p:cNvPr id="31" name="producto cierre CMS"/>
          <p:cNvSpPr txBox="1"/>
          <p:nvPr/>
        </p:nvSpPr>
        <p:spPr>
          <a:xfrm>
            <a:off x="4937760" y="4187952"/>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CMS</a:t>
            </a:r>
            <a:endParaRPr lang="en-US" sz="850" dirty="0"/>
          </a:p>
        </p:txBody>
      </p:sp>
      <p:sp>
        <p:nvSpPr>
          <p:cNvPr id="32" name="producto cierre ISA fondo"/>
          <p:cNvSpPr/>
          <p:nvPr/>
        </p:nvSpPr>
        <p:spPr>
          <a:xfrm>
            <a:off x="5559552" y="4187952"/>
            <a:ext cx="548640" cy="237744"/>
          </a:xfrm>
          <a:prstGeom prst="rect">
            <a:avLst/>
          </a:prstGeom>
          <a:solidFill>
            <a:srgbClr val="D40319"/>
          </a:solidFill>
          <a:ln w="12700">
            <a:solidFill>
              <a:srgbClr val="D40319"/>
            </a:solidFill>
            <a:prstDash val="solid"/>
          </a:ln>
        </p:spPr>
      </p:sp>
      <p:sp>
        <p:nvSpPr>
          <p:cNvPr id="33" name="producto cierre ISA"/>
          <p:cNvSpPr txBox="1"/>
          <p:nvPr/>
        </p:nvSpPr>
        <p:spPr>
          <a:xfrm>
            <a:off x="5559552" y="4187952"/>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ISA</a:t>
            </a:r>
            <a:endParaRPr lang="en-US" sz="850" dirty="0"/>
          </a:p>
        </p:txBody>
      </p:sp>
      <p:sp>
        <p:nvSpPr>
          <p:cNvPr id="34" name="producto cierre WBV fondo"/>
          <p:cNvSpPr/>
          <p:nvPr/>
        </p:nvSpPr>
        <p:spPr>
          <a:xfrm>
            <a:off x="6181344" y="4187952"/>
            <a:ext cx="548640" cy="237744"/>
          </a:xfrm>
          <a:prstGeom prst="rect">
            <a:avLst/>
          </a:prstGeom>
          <a:solidFill>
            <a:srgbClr val="D40319"/>
          </a:solidFill>
          <a:ln w="12700">
            <a:solidFill>
              <a:srgbClr val="D40319"/>
            </a:solidFill>
            <a:prstDash val="solid"/>
          </a:ln>
        </p:spPr>
      </p:sp>
      <p:sp>
        <p:nvSpPr>
          <p:cNvPr id="35" name="producto cierre WBV"/>
          <p:cNvSpPr txBox="1"/>
          <p:nvPr/>
        </p:nvSpPr>
        <p:spPr>
          <a:xfrm>
            <a:off x="6181344" y="4187952"/>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WBV</a:t>
            </a:r>
            <a:endParaRPr lang="en-US" sz="850" dirty="0"/>
          </a:p>
        </p:txBody>
      </p:sp>
      <p:sp>
        <p:nvSpPr>
          <p:cNvPr id="36" name="producto cierre FAS fondo"/>
          <p:cNvSpPr/>
          <p:nvPr/>
        </p:nvSpPr>
        <p:spPr>
          <a:xfrm>
            <a:off x="6803136" y="4187952"/>
            <a:ext cx="548640" cy="237744"/>
          </a:xfrm>
          <a:prstGeom prst="rect">
            <a:avLst/>
          </a:prstGeom>
          <a:solidFill>
            <a:srgbClr val="D40319"/>
          </a:solidFill>
          <a:ln w="12700">
            <a:solidFill>
              <a:srgbClr val="D40319"/>
            </a:solidFill>
            <a:prstDash val="solid"/>
          </a:ln>
        </p:spPr>
      </p:sp>
      <p:sp>
        <p:nvSpPr>
          <p:cNvPr id="37" name="producto cierre FAS"/>
          <p:cNvSpPr txBox="1"/>
          <p:nvPr/>
        </p:nvSpPr>
        <p:spPr>
          <a:xfrm>
            <a:off x="6803136" y="4187952"/>
            <a:ext cx="548640" cy="237744"/>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Montserrat" pitchFamily="34" charset="0"/>
                <a:ea typeface="Montserrat" pitchFamily="34" charset="-122"/>
                <a:cs typeface="Montserrat" pitchFamily="34" charset="-120"/>
              </a:rPr>
              <a:t>FAS</a:t>
            </a:r>
            <a:endParaRPr lang="en-US" sz="85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5B5B5"/>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TORSA Corporativa">
  <a:themeElements>
    <a:clrScheme name="TORSA Corporativa">
      <a:dk1>
        <a:srgbClr val="0F1C2C"/>
      </a:dk1>
      <a:lt1>
        <a:srgbClr val="FFFFFF"/>
      </a:lt1>
      <a:dk2>
        <a:srgbClr val="3A3A3A"/>
      </a:dk2>
      <a:lt2>
        <a:srgbClr val="F4F4F4"/>
      </a:lt2>
      <a:accent1>
        <a:srgbClr val="D40319"/>
      </a:accent1>
      <a:accent2>
        <a:srgbClr val="0F1C2C"/>
      </a:accent2>
      <a:accent3>
        <a:srgbClr val="2E8B3A"/>
      </a:accent3>
      <a:accent4>
        <a:srgbClr val="E8A000"/>
      </a:accent4>
      <a:accent5>
        <a:srgbClr val="D40319"/>
      </a:accent5>
      <a:accent6>
        <a:srgbClr val="8C8C8C"/>
      </a:accent6>
      <a:hlink>
        <a:srgbClr val="D40319"/>
      </a:hlink>
      <a:folHlink>
        <a:srgbClr val="D40319"/>
      </a:folHlink>
    </a:clrScheme>
    <a:fontScheme name="TORSA Corporativa">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TORSA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Pruebas de campo Madrid: seguridad y plan de pruebas</dc:title>
  <dc:subject>PptxGenJS Presentation</dc:subject>
  <dc:creator>TORSA</dc:creator>
  <cp:lastModifiedBy>TORSA</cp:lastModifiedBy>
  <cp:revision>1</cp:revision>
  <dcterms:created xsi:type="dcterms:W3CDTF">2026-10-04T15:26:28Z</dcterms:created>
  <dcterms:modified xsi:type="dcterms:W3CDTF">2026-10-04T15:26:28Z</dcterms:modified>
</cp:coreProperties>
</file>