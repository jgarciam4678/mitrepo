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7"/>
    <p:sldId id="257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6FF1A2E-508E-CFF9-E930-0569FCD82E02}">
          <p14:sldIdLst>
            <p14:sldId id="256"/>
            <p14:sldId id="257"/>
          </p14:sldIdLst>
        </p14:section>
        <p14:section name="Seguridad en la zona de pruebas" id="{749B4F1C-3006-EFEB-51AD-CC6E12403515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lan de pruebas" id="{AE4255E8-A7BD-5CDB-64A1-C320FCB2388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06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r>
              <a:t>Lámina de entrenamiento y mejora continua. El modelo Madero Seg (MOBILE y TABACO) se reentrena cada semana. El 22/09 ampliamos el conjunto de test un 24 % con 170 móviles nuevos, casos más difíciles; por eso el recall bajó del 89 al 75 %. Desde entonces cada versión mejora: no detectados MOBILE de 130 a 110 y TABACO de 117 a 83. Los fallos son objetos que el modelo no ve, no confusiones entre clases. Lo que no mejora son las alarmas falsas de TABACO. Tres acciones: tipificar fallos, negativos difíciles de TABACO, validar en producción antes del despliegue.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r>
              <a:t>Lámina de producción, clientes con el sistema desplegado. Incluye MOBILE, TABACO y FATIGUE; DISTRACTION queda fuera. De enero a septiembre el monitor validó 130.210 alertas de estos tres subtipos y 9.694 fueron falsas (7,4 %). MOBILE tiene un 94,2 % de precisión, TABACO un 92,4 % y FATIGUE un 76,3 %. Puntos a vigilar: MOBILE pasó del 1,1 % al 8,9 % de alarmas falsas en septiembre, y FATIGUE se mueve entre el 18 y el 34 % desde junio. Los falsos negativos no se pueden medir con la tabla de validación; hay que medirlos con una referencia externa.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C2C">
              <a:alpha val="78000"/>
            </a:srgbClr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" name="Image 0" descr="/tmp/claude-0/-home-user-MITREPO/21d91df9-1cfc-5dbc-823a-a27b9a33fab4/scratchpad/deck/logo_torsa_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280160" cy="3465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Built by us, shaped for you</a:t>
            </a:r>
            <a:endParaRPr lang="en-US" sz="10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1737360"/>
            <a:ext cx="8046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6" name="Text 2"/>
          <p:cNvSpPr>
            <a:spLocks noGrp="1"/>
          </p:cNvSpPr>
          <p:nvPr>
            <p:ph type="body" idx="104" hasCustomPrompt="1"/>
          </p:nvPr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ITREPO/21d91df9-1cfc-5dbc-823a-a27b9a33fab4/scratchpad/deck/corp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2608"/>
            <a:ext cx="1143000" cy="3072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5B5B5"/>
                </a:solidFill>
              </a:rPr>
              <a:t>Built by us, shaped for you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5B5B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5B5B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"/>
          <p:cNvSpPr txBox="1"/>
          <p:nvPr/>
        </p:nvSpPr>
        <p:spPr>
          <a:xfrm>
            <a:off x="1920240" y="274320"/>
            <a:ext cx="5394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MADERO SEG: ENTRENAMIENTO</a:t>
            </a:r>
          </a:p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Y MEJORA CONTINUA</a:t>
            </a:r>
          </a:p>
        </p:txBody>
      </p:sp>
      <p:sp>
        <p:nvSpPr>
          <p:cNvPr id="3" name="chip fondo"/>
          <p:cNvSpPr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solidFill>
            <a:srgbClr val="D9D9D9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 txBox="1"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spc="100">
                <a:solidFill>
                  <a:srgbClr val="0F1C2C"/>
                </a:solidFill>
                <a:latin typeface="Montserrat"/>
              </a:rPr>
              <a:t>ENTRENAMIENTO</a:t>
            </a:r>
          </a:p>
        </p:txBody>
      </p:sp>
      <p:sp>
        <p:nvSpPr>
          <p:cNvPr id="5" name="mensaje principal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F1C2C"/>
                </a:solidFill>
                <a:latin typeface="Montserrat"/>
              </a:rPr>
              <a:t>Reentrenamos cada semana y cada versión mejora. Detecta 4 de cada 5 móviles y 6 de cada 7 tabacos; falla por no ver el objeto, no por confundirlo.</a:t>
            </a:r>
          </a:p>
        </p:txBody>
      </p:sp>
      <p:sp>
        <p:nvSpPr>
          <p:cNvPr id="6" name="bloque 01"/>
          <p:cNvSpPr/>
          <p:nvPr/>
        </p:nvSpPr>
        <p:spPr>
          <a:xfrm>
            <a:off x="457200" y="1554480"/>
            <a:ext cx="26974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número 01"/>
          <p:cNvSpPr txBox="1"/>
          <p:nvPr/>
        </p:nvSpPr>
        <p:spPr>
          <a:xfrm>
            <a:off x="64008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8" name="título 01"/>
          <p:cNvSpPr txBox="1"/>
          <p:nvPr/>
        </p:nvSpPr>
        <p:spPr>
          <a:xfrm>
            <a:off x="64008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MOBILE</a:t>
            </a:r>
          </a:p>
        </p:txBody>
      </p:sp>
      <p:sp>
        <p:nvSpPr>
          <p:cNvPr id="9" name="etiqueta NO DETECTADOS 01"/>
          <p:cNvSpPr txBox="1"/>
          <p:nvPr/>
        </p:nvSpPr>
        <p:spPr>
          <a:xfrm>
            <a:off x="64008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NO DETECTADOS</a:t>
            </a:r>
          </a:p>
        </p:txBody>
      </p:sp>
      <p:sp>
        <p:nvSpPr>
          <p:cNvPr id="10" name="valor NO DETECTADOS 01"/>
          <p:cNvSpPr txBox="1"/>
          <p:nvPr/>
        </p:nvSpPr>
        <p:spPr>
          <a:xfrm>
            <a:off x="64008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40319"/>
                </a:solidFill>
                <a:latin typeface="Montserrat"/>
              </a:rPr>
              <a:t>21 %</a:t>
            </a:r>
          </a:p>
        </p:txBody>
      </p:sp>
      <p:sp>
        <p:nvSpPr>
          <p:cNvPr id="11" name="detalle NO DETECTADOS 01"/>
          <p:cNvSpPr txBox="1"/>
          <p:nvPr/>
        </p:nvSpPr>
        <p:spPr>
          <a:xfrm>
            <a:off x="6400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110 de 521 reales</a:t>
            </a:r>
          </a:p>
        </p:txBody>
      </p:sp>
      <p:sp>
        <p:nvSpPr>
          <p:cNvPr id="12" name="etiqueta ALARMAS FALSAS 01"/>
          <p:cNvSpPr txBox="1"/>
          <p:nvPr/>
        </p:nvSpPr>
        <p:spPr>
          <a:xfrm>
            <a:off x="182880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ALARMAS FALSAS</a:t>
            </a:r>
          </a:p>
        </p:txBody>
      </p:sp>
      <p:sp>
        <p:nvSpPr>
          <p:cNvPr id="13" name="valor ALARMAS FALSAS 01"/>
          <p:cNvSpPr txBox="1"/>
          <p:nvPr/>
        </p:nvSpPr>
        <p:spPr>
          <a:xfrm>
            <a:off x="182880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10 %</a:t>
            </a:r>
          </a:p>
        </p:txBody>
      </p:sp>
      <p:sp>
        <p:nvSpPr>
          <p:cNvPr id="14" name="detalle ALARMAS FALSAS 01"/>
          <p:cNvSpPr txBox="1"/>
          <p:nvPr/>
        </p:nvSpPr>
        <p:spPr>
          <a:xfrm>
            <a:off x="182880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46 de 457 detecciones</a:t>
            </a:r>
          </a:p>
        </p:txBody>
      </p:sp>
      <p:sp>
        <p:nvSpPr>
          <p:cNvPr id="15" name="barra ok 01"/>
          <p:cNvSpPr/>
          <p:nvPr/>
        </p:nvSpPr>
        <p:spPr>
          <a:xfrm>
            <a:off x="640080" y="3163824"/>
            <a:ext cx="1842058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arra mal 01"/>
          <p:cNvSpPr/>
          <p:nvPr/>
        </p:nvSpPr>
        <p:spPr>
          <a:xfrm>
            <a:off x="2482138" y="3163824"/>
            <a:ext cx="489661" cy="118872"/>
          </a:xfrm>
          <a:prstGeom prst="rect">
            <a:avLst/>
          </a:prstGeom>
          <a:solidFill>
            <a:srgbClr val="D40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lectura barra 01"/>
          <p:cNvSpPr txBox="1"/>
          <p:nvPr/>
        </p:nvSpPr>
        <p:spPr>
          <a:xfrm>
            <a:off x="640080" y="3328415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Cada 100 reales: </a:t>
            </a:r>
            <a:r>
              <a:rPr sz="850" b="1">
                <a:solidFill>
                  <a:srgbClr val="0F1C2C"/>
                </a:solidFill>
                <a:latin typeface="Arial"/>
              </a:rPr>
              <a:t>79 detectados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D40319"/>
                </a:solidFill>
                <a:latin typeface="Arial"/>
              </a:rPr>
              <a:t>21 no</a:t>
            </a:r>
          </a:p>
        </p:txBody>
      </p:sp>
      <p:sp>
        <p:nvSpPr>
          <p:cNvPr id="18" name="bloque 02"/>
          <p:cNvSpPr/>
          <p:nvPr/>
        </p:nvSpPr>
        <p:spPr>
          <a:xfrm>
            <a:off x="3246120" y="1554480"/>
            <a:ext cx="26974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número 02"/>
          <p:cNvSpPr txBox="1"/>
          <p:nvPr/>
        </p:nvSpPr>
        <p:spPr>
          <a:xfrm>
            <a:off x="342900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20" name="título 02"/>
          <p:cNvSpPr txBox="1"/>
          <p:nvPr/>
        </p:nvSpPr>
        <p:spPr>
          <a:xfrm>
            <a:off x="342900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TABACO</a:t>
            </a:r>
          </a:p>
        </p:txBody>
      </p:sp>
      <p:sp>
        <p:nvSpPr>
          <p:cNvPr id="21" name="etiqueta NO DETECTADOS 02"/>
          <p:cNvSpPr txBox="1"/>
          <p:nvPr/>
        </p:nvSpPr>
        <p:spPr>
          <a:xfrm>
            <a:off x="342900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NO DETECTADOS</a:t>
            </a:r>
          </a:p>
        </p:txBody>
      </p:sp>
      <p:sp>
        <p:nvSpPr>
          <p:cNvPr id="22" name="valor NO DETECTADOS 02"/>
          <p:cNvSpPr txBox="1"/>
          <p:nvPr/>
        </p:nvSpPr>
        <p:spPr>
          <a:xfrm>
            <a:off x="342900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40319"/>
                </a:solidFill>
                <a:latin typeface="Montserrat"/>
              </a:rPr>
              <a:t>15 %</a:t>
            </a:r>
          </a:p>
        </p:txBody>
      </p:sp>
      <p:sp>
        <p:nvSpPr>
          <p:cNvPr id="23" name="detalle NO DETECTADOS 02"/>
          <p:cNvSpPr txBox="1"/>
          <p:nvPr/>
        </p:nvSpPr>
        <p:spPr>
          <a:xfrm>
            <a:off x="342900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83 de 548 reales</a:t>
            </a:r>
          </a:p>
        </p:txBody>
      </p:sp>
      <p:sp>
        <p:nvSpPr>
          <p:cNvPr id="24" name="etiqueta ALARMAS FALSAS 02"/>
          <p:cNvSpPr txBox="1"/>
          <p:nvPr/>
        </p:nvSpPr>
        <p:spPr>
          <a:xfrm>
            <a:off x="461772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ALARMAS FALSAS</a:t>
            </a:r>
          </a:p>
        </p:txBody>
      </p:sp>
      <p:sp>
        <p:nvSpPr>
          <p:cNvPr id="25" name="valor ALARMAS FALSAS 02"/>
          <p:cNvSpPr txBox="1"/>
          <p:nvPr/>
        </p:nvSpPr>
        <p:spPr>
          <a:xfrm>
            <a:off x="461772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40319"/>
                </a:solidFill>
                <a:latin typeface="Montserrat"/>
              </a:rPr>
              <a:t>17 %</a:t>
            </a:r>
          </a:p>
        </p:txBody>
      </p:sp>
      <p:sp>
        <p:nvSpPr>
          <p:cNvPr id="26" name="detalle ALARMAS FALSAS 02"/>
          <p:cNvSpPr txBox="1"/>
          <p:nvPr/>
        </p:nvSpPr>
        <p:spPr>
          <a:xfrm>
            <a:off x="46177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95 de 560 detecciones</a:t>
            </a:r>
          </a:p>
        </p:txBody>
      </p:sp>
      <p:sp>
        <p:nvSpPr>
          <p:cNvPr id="27" name="barra ok 02"/>
          <p:cNvSpPr/>
          <p:nvPr/>
        </p:nvSpPr>
        <p:spPr>
          <a:xfrm>
            <a:off x="3429000" y="3163824"/>
            <a:ext cx="1981962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arra mal 02"/>
          <p:cNvSpPr/>
          <p:nvPr/>
        </p:nvSpPr>
        <p:spPr>
          <a:xfrm>
            <a:off x="5410962" y="3163824"/>
            <a:ext cx="349758" cy="118872"/>
          </a:xfrm>
          <a:prstGeom prst="rect">
            <a:avLst/>
          </a:prstGeom>
          <a:solidFill>
            <a:srgbClr val="D40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lectura barra 02"/>
          <p:cNvSpPr txBox="1"/>
          <p:nvPr/>
        </p:nvSpPr>
        <p:spPr>
          <a:xfrm>
            <a:off x="3429000" y="3328415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Cada 100 reales: </a:t>
            </a:r>
            <a:r>
              <a:rPr sz="850" b="1">
                <a:solidFill>
                  <a:srgbClr val="0F1C2C"/>
                </a:solidFill>
                <a:latin typeface="Arial"/>
              </a:rPr>
              <a:t>85 detectados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D40319"/>
                </a:solidFill>
                <a:latin typeface="Arial"/>
              </a:rPr>
              <a:t>15 no</a:t>
            </a:r>
          </a:p>
        </p:txBody>
      </p:sp>
      <p:sp>
        <p:nvSpPr>
          <p:cNvPr id="30" name="panel lateral"/>
          <p:cNvSpPr/>
          <p:nvPr/>
        </p:nvSpPr>
        <p:spPr>
          <a:xfrm>
            <a:off x="6035040" y="1554480"/>
            <a:ext cx="265176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etiqueta lateral"/>
          <p:cNvSpPr txBox="1"/>
          <p:nvPr/>
        </p:nvSpPr>
        <p:spPr>
          <a:xfrm>
            <a:off x="6217920" y="173736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MEJORA CONTINUA (22/09 A 01/10)</a:t>
            </a:r>
          </a:p>
        </p:txBody>
      </p:sp>
      <p:sp>
        <p:nvSpPr>
          <p:cNvPr id="32" name="panel línea 1"/>
          <p:cNvSpPr txBox="1"/>
          <p:nvPr/>
        </p:nvSpPr>
        <p:spPr>
          <a:xfrm>
            <a:off x="6217920" y="1993391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Test ampliado un </a:t>
            </a:r>
            <a:r>
              <a:rPr sz="1000" b="1">
                <a:solidFill>
                  <a:srgbClr val="0F1C2C"/>
                </a:solidFill>
                <a:latin typeface="Arial"/>
              </a:rPr>
              <a:t>24 %</a:t>
            </a:r>
            <a:r>
              <a:rPr sz="1000" b="0">
                <a:solidFill>
                  <a:srgbClr val="3A3A3A"/>
                </a:solidFill>
                <a:latin typeface="Arial"/>
              </a:rPr>
              <a:t> el 22/09 con casos difíciles: por eso cayó</a:t>
            </a:r>
          </a:p>
        </p:txBody>
      </p:sp>
      <p:sp>
        <p:nvSpPr>
          <p:cNvPr id="33" name="panel línea 2"/>
          <p:cNvSpPr txBox="1"/>
          <p:nvPr/>
        </p:nvSpPr>
        <p:spPr>
          <a:xfrm>
            <a:off x="6217920" y="239572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En 3 versiones, no detectados: MOBILE </a:t>
            </a:r>
            <a:r>
              <a:rPr sz="1000" b="1">
                <a:solidFill>
                  <a:srgbClr val="0F1C2C"/>
                </a:solidFill>
                <a:latin typeface="Arial"/>
              </a:rPr>
              <a:t>130 → 110</a:t>
            </a:r>
            <a:r>
              <a:rPr sz="1000" b="0">
                <a:solidFill>
                  <a:srgbClr val="3A3A3A"/>
                </a:solidFill>
                <a:latin typeface="Arial"/>
              </a:rPr>
              <a:t>, TABACO </a:t>
            </a:r>
            <a:r>
              <a:rPr sz="1000" b="1">
                <a:solidFill>
                  <a:srgbClr val="0F1C2C"/>
                </a:solidFill>
                <a:latin typeface="Arial"/>
              </a:rPr>
              <a:t>117 → 83</a:t>
            </a:r>
          </a:p>
        </p:txBody>
      </p:sp>
      <p:sp>
        <p:nvSpPr>
          <p:cNvPr id="34" name="panel línea 3"/>
          <p:cNvSpPr txBox="1"/>
          <p:nvPr/>
        </p:nvSpPr>
        <p:spPr>
          <a:xfrm>
            <a:off x="6217920" y="2798063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Pendiente: alarmas falsas de TABACO </a:t>
            </a:r>
            <a:r>
              <a:rPr sz="1000" b="1">
                <a:solidFill>
                  <a:srgbClr val="D40319"/>
                </a:solidFill>
                <a:latin typeface="Arial"/>
              </a:rPr>
              <a:t>95 → 95</a:t>
            </a:r>
            <a:r>
              <a:rPr sz="1000" b="0">
                <a:solidFill>
                  <a:srgbClr val="3A3A3A"/>
                </a:solidFill>
                <a:latin typeface="Arial"/>
              </a:rPr>
              <a:t>, sin mejora</a:t>
            </a:r>
          </a:p>
        </p:txBody>
      </p:sp>
      <p:sp>
        <p:nvSpPr>
          <p:cNvPr id="35" name="panel línea 4"/>
          <p:cNvSpPr txBox="1"/>
          <p:nvPr/>
        </p:nvSpPr>
        <p:spPr>
          <a:xfrm>
            <a:off x="6217920" y="3200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Confusión entre clases: </a:t>
            </a:r>
            <a:r>
              <a:rPr sz="1000" b="1">
                <a:solidFill>
                  <a:srgbClr val="0F1C2C"/>
                </a:solidFill>
                <a:latin typeface="Arial"/>
              </a:rPr>
              <a:t>2 de 193</a:t>
            </a:r>
            <a:r>
              <a:rPr sz="1000" b="0">
                <a:solidFill>
                  <a:srgbClr val="3A3A3A"/>
                </a:solidFill>
                <a:latin typeface="Arial"/>
              </a:rPr>
              <a:t> fallos</a:t>
            </a:r>
          </a:p>
        </p:txBody>
      </p:sp>
      <p:sp>
        <p:nvSpPr>
          <p:cNvPr id="36" name="número acción 01"/>
          <p:cNvSpPr txBox="1"/>
          <p:nvPr/>
        </p:nvSpPr>
        <p:spPr>
          <a:xfrm>
            <a:off x="45720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37" name="acción 01"/>
          <p:cNvSpPr txBox="1"/>
          <p:nvPr/>
        </p:nvSpPr>
        <p:spPr>
          <a:xfrm>
            <a:off x="77724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Tipificar los 193 fallos</a:t>
            </a:r>
            <a:r>
              <a:rPr sz="950" b="0">
                <a:solidFill>
                  <a:srgbClr val="3A3A3A"/>
                </a:solidFill>
                <a:latin typeface="Arial"/>
              </a:rPr>
              <a:t> por causa (tamaño, oclusión, luz, cámara) para dirigir la recolección de datos.</a:t>
            </a:r>
          </a:p>
        </p:txBody>
      </p:sp>
      <p:sp>
        <p:nvSpPr>
          <p:cNvPr id="38" name="número acción 02"/>
          <p:cNvSpPr txBox="1"/>
          <p:nvPr/>
        </p:nvSpPr>
        <p:spPr>
          <a:xfrm>
            <a:off x="324612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39" name="acción 02"/>
          <p:cNvSpPr txBox="1"/>
          <p:nvPr/>
        </p:nvSpPr>
        <p:spPr>
          <a:xfrm>
            <a:off x="356616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Bajar las alarmas falsas de TABACO</a:t>
            </a:r>
            <a:r>
              <a:rPr sz="950" b="0">
                <a:solidFill>
                  <a:srgbClr val="3A3A3A"/>
                </a:solidFill>
                <a:latin typeface="Arial"/>
              </a:rPr>
              <a:t> entrenando con los fondos que hoy confunde.</a:t>
            </a:r>
          </a:p>
        </p:txBody>
      </p:sp>
      <p:sp>
        <p:nvSpPr>
          <p:cNvPr id="40" name="número acción 03"/>
          <p:cNvSpPr txBox="1"/>
          <p:nvPr/>
        </p:nvSpPr>
        <p:spPr>
          <a:xfrm>
            <a:off x="603504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03</a:t>
            </a:r>
          </a:p>
        </p:txBody>
      </p:sp>
      <p:sp>
        <p:nvSpPr>
          <p:cNvPr id="41" name="acción 03"/>
          <p:cNvSpPr txBox="1"/>
          <p:nvPr/>
        </p:nvSpPr>
        <p:spPr>
          <a:xfrm>
            <a:off x="6355079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Validar en producción</a:t>
            </a:r>
            <a:r>
              <a:rPr sz="950" b="0">
                <a:solidFill>
                  <a:srgbClr val="3A3A3A"/>
                </a:solidFill>
                <a:latin typeface="Arial"/>
              </a:rPr>
              <a:t> con eventos reales durante 2 semanas antes del despliegue.</a:t>
            </a:r>
          </a:p>
        </p:txBody>
      </p:sp>
      <p:sp>
        <p:nvSpPr>
          <p:cNvPr id="42" name="fuente"/>
          <p:cNvSpPr txBox="1"/>
          <p:nvPr/>
        </p:nvSpPr>
        <p:spPr>
          <a:xfrm>
            <a:off x="3657600" y="4305909"/>
            <a:ext cx="374903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B5B5B5"/>
                </a:solidFill>
                <a:latin typeface="Arial"/>
              </a:rPr>
              <a:t>Test: 1.069 instancias, versión 01/10 · cifras de entrenamiento, no de producción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ítulo"/>
          <p:cNvSpPr txBox="1"/>
          <p:nvPr/>
        </p:nvSpPr>
        <p:spPr>
          <a:xfrm>
            <a:off x="1920240" y="274320"/>
            <a:ext cx="5394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ALERTAS EN PRODUCCIÓN:</a:t>
            </a:r>
          </a:p>
          <a:p>
            <a:pPr algn="l"/>
            <a:r>
              <a:rPr sz="2000" b="1">
                <a:solidFill>
                  <a:srgbClr val="0F1C2C"/>
                </a:solidFill>
                <a:latin typeface="Montserrat"/>
              </a:rPr>
              <a:t>MOBILE, TABACO Y FATIGUE</a:t>
            </a:r>
          </a:p>
        </p:txBody>
      </p:sp>
      <p:sp>
        <p:nvSpPr>
          <p:cNvPr id="3" name="chip fondo"/>
          <p:cNvSpPr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solidFill>
            <a:srgbClr val="D9D9D9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 txBox="1"/>
          <p:nvPr/>
        </p:nvSpPr>
        <p:spPr>
          <a:xfrm>
            <a:off x="7406640" y="402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spc="100">
                <a:solidFill>
                  <a:srgbClr val="0F1C2C"/>
                </a:solidFill>
                <a:latin typeface="Montserrat"/>
              </a:rPr>
              <a:t>PRODUCCIÓN</a:t>
            </a:r>
          </a:p>
        </p:txBody>
      </p:sp>
      <p:sp>
        <p:nvSpPr>
          <p:cNvPr id="5" name="mensaje principal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F1C2C"/>
                </a:solidFill>
                <a:latin typeface="Montserrat"/>
              </a:rPr>
              <a:t>Clientes desplegados: MOBILE y TABACO superan el 92 % de precisión y FATIGUE el 76 %. 130.210 alertas validadas en 2026, 9.694 falsas (7,4 %).</a:t>
            </a:r>
          </a:p>
        </p:txBody>
      </p:sp>
      <p:sp>
        <p:nvSpPr>
          <p:cNvPr id="6" name="bloque 01"/>
          <p:cNvSpPr/>
          <p:nvPr/>
        </p:nvSpPr>
        <p:spPr>
          <a:xfrm>
            <a:off x="457200" y="1554480"/>
            <a:ext cx="1828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número 01"/>
          <p:cNvSpPr txBox="1"/>
          <p:nvPr/>
        </p:nvSpPr>
        <p:spPr>
          <a:xfrm>
            <a:off x="64008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8" name="título 01"/>
          <p:cNvSpPr txBox="1"/>
          <p:nvPr/>
        </p:nvSpPr>
        <p:spPr>
          <a:xfrm>
            <a:off x="64008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MOBILE</a:t>
            </a:r>
          </a:p>
        </p:txBody>
      </p:sp>
      <p:sp>
        <p:nvSpPr>
          <p:cNvPr id="9" name="etiqueta ALARMAS FALSAS 01"/>
          <p:cNvSpPr txBox="1"/>
          <p:nvPr/>
        </p:nvSpPr>
        <p:spPr>
          <a:xfrm>
            <a:off x="64008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ALARMAS FALSAS</a:t>
            </a:r>
          </a:p>
        </p:txBody>
      </p:sp>
      <p:sp>
        <p:nvSpPr>
          <p:cNvPr id="10" name="valor ALARMAS FALSAS 01"/>
          <p:cNvSpPr txBox="1"/>
          <p:nvPr/>
        </p:nvSpPr>
        <p:spPr>
          <a:xfrm>
            <a:off x="64008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5,8 %</a:t>
            </a:r>
          </a:p>
        </p:txBody>
      </p:sp>
      <p:sp>
        <p:nvSpPr>
          <p:cNvPr id="11" name="detalle ALARMAS FALSAS 01"/>
          <p:cNvSpPr txBox="1"/>
          <p:nvPr/>
        </p:nvSpPr>
        <p:spPr>
          <a:xfrm>
            <a:off x="640080" y="2843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3.966 de 68.400 validadas</a:t>
            </a:r>
          </a:p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Precisión 94,2 %</a:t>
            </a:r>
          </a:p>
        </p:txBody>
      </p:sp>
      <p:sp>
        <p:nvSpPr>
          <p:cNvPr id="12" name="barra ok 01"/>
          <p:cNvSpPr/>
          <p:nvPr/>
        </p:nvSpPr>
        <p:spPr>
          <a:xfrm>
            <a:off x="640080" y="3163824"/>
            <a:ext cx="1375257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arra mal 01"/>
          <p:cNvSpPr/>
          <p:nvPr/>
        </p:nvSpPr>
        <p:spPr>
          <a:xfrm>
            <a:off x="2015337" y="3163824"/>
            <a:ext cx="87782" cy="118872"/>
          </a:xfrm>
          <a:prstGeom prst="rect">
            <a:avLst/>
          </a:prstGeom>
          <a:solidFill>
            <a:srgbClr val="D40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ectura barra 01"/>
          <p:cNvSpPr txBox="1"/>
          <p:nvPr/>
        </p:nvSpPr>
        <p:spPr>
          <a:xfrm>
            <a:off x="640080" y="3328415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94 correctas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D40319"/>
                </a:solidFill>
                <a:latin typeface="Arial"/>
              </a:rPr>
              <a:t>6 falsas</a:t>
            </a:r>
          </a:p>
        </p:txBody>
      </p:sp>
      <p:sp>
        <p:nvSpPr>
          <p:cNvPr id="15" name="bloque 02"/>
          <p:cNvSpPr/>
          <p:nvPr/>
        </p:nvSpPr>
        <p:spPr>
          <a:xfrm>
            <a:off x="2423160" y="1554480"/>
            <a:ext cx="1828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número 02"/>
          <p:cNvSpPr txBox="1"/>
          <p:nvPr/>
        </p:nvSpPr>
        <p:spPr>
          <a:xfrm>
            <a:off x="260604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17" name="título 02"/>
          <p:cNvSpPr txBox="1"/>
          <p:nvPr/>
        </p:nvSpPr>
        <p:spPr>
          <a:xfrm>
            <a:off x="260604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TABACO</a:t>
            </a:r>
          </a:p>
        </p:txBody>
      </p:sp>
      <p:sp>
        <p:nvSpPr>
          <p:cNvPr id="18" name="etiqueta ALARMAS FALSAS 02"/>
          <p:cNvSpPr txBox="1"/>
          <p:nvPr/>
        </p:nvSpPr>
        <p:spPr>
          <a:xfrm>
            <a:off x="260604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ALARMAS FALSAS</a:t>
            </a:r>
          </a:p>
        </p:txBody>
      </p:sp>
      <p:sp>
        <p:nvSpPr>
          <p:cNvPr id="19" name="valor ALARMAS FALSAS 02"/>
          <p:cNvSpPr txBox="1"/>
          <p:nvPr/>
        </p:nvSpPr>
        <p:spPr>
          <a:xfrm>
            <a:off x="260604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1C2C"/>
                </a:solidFill>
                <a:latin typeface="Montserrat"/>
              </a:rPr>
              <a:t>7,6 %</a:t>
            </a:r>
          </a:p>
        </p:txBody>
      </p:sp>
      <p:sp>
        <p:nvSpPr>
          <p:cNvPr id="20" name="detalle ALARMAS FALSAS 02"/>
          <p:cNvSpPr txBox="1"/>
          <p:nvPr/>
        </p:nvSpPr>
        <p:spPr>
          <a:xfrm>
            <a:off x="2606040" y="2843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4.229 de 55.481 validadas</a:t>
            </a:r>
          </a:p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Precisión 92,4 %</a:t>
            </a:r>
          </a:p>
        </p:txBody>
      </p:sp>
      <p:sp>
        <p:nvSpPr>
          <p:cNvPr id="21" name="barra ok 02"/>
          <p:cNvSpPr/>
          <p:nvPr/>
        </p:nvSpPr>
        <p:spPr>
          <a:xfrm>
            <a:off x="2606040" y="3163824"/>
            <a:ext cx="1345996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arra mal 02"/>
          <p:cNvSpPr/>
          <p:nvPr/>
        </p:nvSpPr>
        <p:spPr>
          <a:xfrm>
            <a:off x="3952036" y="3163824"/>
            <a:ext cx="117043" cy="118872"/>
          </a:xfrm>
          <a:prstGeom prst="rect">
            <a:avLst/>
          </a:prstGeom>
          <a:solidFill>
            <a:srgbClr val="D40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lectura barra 02"/>
          <p:cNvSpPr txBox="1"/>
          <p:nvPr/>
        </p:nvSpPr>
        <p:spPr>
          <a:xfrm>
            <a:off x="2606040" y="3328415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92 correctas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D40319"/>
                </a:solidFill>
                <a:latin typeface="Arial"/>
              </a:rPr>
              <a:t>8 falsas</a:t>
            </a:r>
          </a:p>
        </p:txBody>
      </p:sp>
      <p:sp>
        <p:nvSpPr>
          <p:cNvPr id="24" name="bloque 03"/>
          <p:cNvSpPr/>
          <p:nvPr/>
        </p:nvSpPr>
        <p:spPr>
          <a:xfrm>
            <a:off x="4389120" y="1554480"/>
            <a:ext cx="1828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úmero 03"/>
          <p:cNvSpPr txBox="1"/>
          <p:nvPr/>
        </p:nvSpPr>
        <p:spPr>
          <a:xfrm>
            <a:off x="4572000" y="17099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03</a:t>
            </a:r>
          </a:p>
        </p:txBody>
      </p:sp>
      <p:sp>
        <p:nvSpPr>
          <p:cNvPr id="26" name="título 03"/>
          <p:cNvSpPr txBox="1"/>
          <p:nvPr/>
        </p:nvSpPr>
        <p:spPr>
          <a:xfrm>
            <a:off x="4572000" y="19019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C2C"/>
                </a:solidFill>
                <a:latin typeface="Montserrat"/>
              </a:rPr>
              <a:t>FATIGUE</a:t>
            </a:r>
          </a:p>
        </p:txBody>
      </p:sp>
      <p:sp>
        <p:nvSpPr>
          <p:cNvPr id="27" name="etiqueta ALARMAS FALSAS 03"/>
          <p:cNvSpPr txBox="1"/>
          <p:nvPr/>
        </p:nvSpPr>
        <p:spPr>
          <a:xfrm>
            <a:off x="4572000" y="2267712"/>
            <a:ext cx="1143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ALARMAS FALSAS</a:t>
            </a:r>
          </a:p>
        </p:txBody>
      </p:sp>
      <p:sp>
        <p:nvSpPr>
          <p:cNvPr id="28" name="valor ALARMAS FALSAS 03"/>
          <p:cNvSpPr txBox="1"/>
          <p:nvPr/>
        </p:nvSpPr>
        <p:spPr>
          <a:xfrm>
            <a:off x="4572000" y="24414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D40319"/>
                </a:solidFill>
                <a:latin typeface="Montserrat"/>
              </a:rPr>
              <a:t>23,7 %</a:t>
            </a:r>
          </a:p>
        </p:txBody>
      </p:sp>
      <p:sp>
        <p:nvSpPr>
          <p:cNvPr id="29" name="detalle ALARMAS FALSAS 03"/>
          <p:cNvSpPr txBox="1"/>
          <p:nvPr/>
        </p:nvSpPr>
        <p:spPr>
          <a:xfrm>
            <a:off x="4572000" y="28437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1.499 de 6.329 validadas</a:t>
            </a:r>
          </a:p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>Precisión 76,3 %</a:t>
            </a:r>
          </a:p>
        </p:txBody>
      </p:sp>
      <p:sp>
        <p:nvSpPr>
          <p:cNvPr id="30" name="barra ok 03"/>
          <p:cNvSpPr/>
          <p:nvPr/>
        </p:nvSpPr>
        <p:spPr>
          <a:xfrm>
            <a:off x="4572000" y="3163824"/>
            <a:ext cx="1111910" cy="118872"/>
          </a:xfrm>
          <a:prstGeom prst="rect">
            <a:avLst/>
          </a:prstGeom>
          <a:solidFill>
            <a:srgbClr val="0F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barra mal 03"/>
          <p:cNvSpPr/>
          <p:nvPr/>
        </p:nvSpPr>
        <p:spPr>
          <a:xfrm>
            <a:off x="5683910" y="3163824"/>
            <a:ext cx="351129" cy="118872"/>
          </a:xfrm>
          <a:prstGeom prst="rect">
            <a:avLst/>
          </a:prstGeom>
          <a:solidFill>
            <a:srgbClr val="D40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lectura barra 03"/>
          <p:cNvSpPr txBox="1"/>
          <p:nvPr/>
        </p:nvSpPr>
        <p:spPr>
          <a:xfrm>
            <a:off x="4572000" y="3328415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Arial"/>
              </a:rPr>
              <a:t/>
            </a:r>
            <a:r>
              <a:rPr sz="850" b="1">
                <a:solidFill>
                  <a:srgbClr val="0F1C2C"/>
                </a:solidFill>
                <a:latin typeface="Arial"/>
              </a:rPr>
              <a:t>76 correctas</a:t>
            </a:r>
            <a:r>
              <a:rPr sz="850" b="0">
                <a:solidFill>
                  <a:srgbClr val="5C5C5C"/>
                </a:solidFill>
                <a:latin typeface="Arial"/>
              </a:rPr>
              <a:t>, </a:t>
            </a:r>
            <a:r>
              <a:rPr sz="850" b="1">
                <a:solidFill>
                  <a:srgbClr val="D40319"/>
                </a:solidFill>
                <a:latin typeface="Arial"/>
              </a:rPr>
              <a:t>24 falsas</a:t>
            </a:r>
          </a:p>
        </p:txBody>
      </p:sp>
      <p:sp>
        <p:nvSpPr>
          <p:cNvPr id="33" name="panel lateral"/>
          <p:cNvSpPr/>
          <p:nvPr/>
        </p:nvSpPr>
        <p:spPr>
          <a:xfrm>
            <a:off x="6355079" y="1554480"/>
            <a:ext cx="2331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etiqueta lateral"/>
          <p:cNvSpPr txBox="1"/>
          <p:nvPr/>
        </p:nvSpPr>
        <p:spPr>
          <a:xfrm>
            <a:off x="6537959" y="1737360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spc="250">
                <a:solidFill>
                  <a:srgbClr val="8C8C8C"/>
                </a:solidFill>
                <a:latin typeface="Arial"/>
              </a:rPr>
              <a:t>TENDENCIA Y LO QUE FALTA</a:t>
            </a:r>
          </a:p>
        </p:txBody>
      </p:sp>
      <p:sp>
        <p:nvSpPr>
          <p:cNvPr id="35" name="panel línea 1"/>
          <p:cNvSpPr txBox="1"/>
          <p:nvPr/>
        </p:nvSpPr>
        <p:spPr>
          <a:xfrm>
            <a:off x="6537959" y="1993391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MOBILE en sep: </a:t>
            </a:r>
            <a:r>
              <a:rPr sz="1000" b="1">
                <a:solidFill>
                  <a:srgbClr val="D40319"/>
                </a:solidFill>
                <a:latin typeface="Arial"/>
              </a:rPr>
              <a:t>del 1,1 % al 8,9 %</a:t>
            </a:r>
            <a:r>
              <a:rPr sz="1000" b="0">
                <a:solidFill>
                  <a:srgbClr val="3A3A3A"/>
                </a:solidFill>
                <a:latin typeface="Arial"/>
              </a:rPr>
              <a:t> de falsas; vigilar</a:t>
            </a:r>
          </a:p>
        </p:txBody>
      </p:sp>
      <p:sp>
        <p:nvSpPr>
          <p:cNvPr id="36" name="panel línea 2"/>
          <p:cNvSpPr txBox="1"/>
          <p:nvPr/>
        </p:nvSpPr>
        <p:spPr>
          <a:xfrm>
            <a:off x="6537959" y="237743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TABACO estable: </a:t>
            </a:r>
            <a:r>
              <a:rPr sz="1000" b="1">
                <a:solidFill>
                  <a:srgbClr val="0F1C2C"/>
                </a:solidFill>
                <a:latin typeface="Arial"/>
              </a:rPr>
              <a:t>4 a 6 %</a:t>
            </a:r>
            <a:r>
              <a:rPr sz="1000" b="0">
                <a:solidFill>
                  <a:srgbClr val="3A3A3A"/>
                </a:solidFill>
                <a:latin typeface="Arial"/>
              </a:rPr>
              <a:t> de falsas desde abril</a:t>
            </a:r>
          </a:p>
        </p:txBody>
      </p:sp>
      <p:sp>
        <p:nvSpPr>
          <p:cNvPr id="37" name="panel línea 3"/>
          <p:cNvSpPr txBox="1"/>
          <p:nvPr/>
        </p:nvSpPr>
        <p:spPr>
          <a:xfrm>
            <a:off x="6537959" y="2761487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FATIGUE: </a:t>
            </a:r>
            <a:r>
              <a:rPr sz="1000" b="1">
                <a:solidFill>
                  <a:srgbClr val="D40319"/>
                </a:solidFill>
                <a:latin typeface="Arial"/>
              </a:rPr>
              <a:t>18 a 34 %</a:t>
            </a:r>
            <a:r>
              <a:rPr sz="1000" b="0">
                <a:solidFill>
                  <a:srgbClr val="3A3A3A"/>
                </a:solidFill>
                <a:latin typeface="Arial"/>
              </a:rPr>
              <a:t> desde junio; 25,8 % en septiembre</a:t>
            </a:r>
          </a:p>
        </p:txBody>
      </p:sp>
      <p:sp>
        <p:nvSpPr>
          <p:cNvPr id="38" name="panel línea 4"/>
          <p:cNvSpPr txBox="1"/>
          <p:nvPr/>
        </p:nvSpPr>
        <p:spPr>
          <a:xfrm>
            <a:off x="6537959" y="3145535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Falsos negativos: </a:t>
            </a:r>
            <a:r>
              <a:rPr sz="1000" b="1">
                <a:solidFill>
                  <a:srgbClr val="0F1C2C"/>
                </a:solidFill>
                <a:latin typeface="Arial"/>
              </a:rPr>
              <a:t>sin medir</a:t>
            </a:r>
            <a:r>
              <a:rPr sz="1000" b="0">
                <a:solidFill>
                  <a:srgbClr val="3A3A3A"/>
                </a:solidFill>
                <a:latin typeface="Arial"/>
              </a:rPr>
              <a:t>; solo vemos alertas emitidas</a:t>
            </a:r>
          </a:p>
        </p:txBody>
      </p:sp>
      <p:sp>
        <p:nvSpPr>
          <p:cNvPr id="39" name="número acción 01"/>
          <p:cNvSpPr txBox="1"/>
          <p:nvPr/>
        </p:nvSpPr>
        <p:spPr>
          <a:xfrm>
            <a:off x="45720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01</a:t>
            </a:r>
          </a:p>
        </p:txBody>
      </p:sp>
      <p:sp>
        <p:nvSpPr>
          <p:cNvPr id="40" name="acción 01"/>
          <p:cNvSpPr txBox="1"/>
          <p:nvPr/>
        </p:nvSpPr>
        <p:spPr>
          <a:xfrm>
            <a:off x="77724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Investigar la subida de MOBILE</a:t>
            </a:r>
            <a:r>
              <a:rPr sz="950" b="0">
                <a:solidFill>
                  <a:srgbClr val="3A3A3A"/>
                </a:solidFill>
                <a:latin typeface="Arial"/>
              </a:rPr>
              <a:t> en septiembre antes de que octubre la confirme.</a:t>
            </a:r>
          </a:p>
        </p:txBody>
      </p:sp>
      <p:sp>
        <p:nvSpPr>
          <p:cNvPr id="41" name="número acción 02"/>
          <p:cNvSpPr txBox="1"/>
          <p:nvPr/>
        </p:nvSpPr>
        <p:spPr>
          <a:xfrm>
            <a:off x="324612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02</a:t>
            </a:r>
          </a:p>
        </p:txBody>
      </p:sp>
      <p:sp>
        <p:nvSpPr>
          <p:cNvPr id="42" name="acción 02"/>
          <p:cNvSpPr txBox="1"/>
          <p:nvPr/>
        </p:nvSpPr>
        <p:spPr>
          <a:xfrm>
            <a:off x="3566160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Bajar las falsas de FATIGUE:</a:t>
            </a:r>
            <a:r>
              <a:rPr sz="950" b="0">
                <a:solidFill>
                  <a:srgbClr val="3A3A3A"/>
                </a:solidFill>
                <a:latin typeface="Arial"/>
              </a:rPr>
              <a:t> revisar sus 1.499 alarmas falsas y ajustar el umbral.</a:t>
            </a:r>
          </a:p>
        </p:txBody>
      </p:sp>
      <p:sp>
        <p:nvSpPr>
          <p:cNvPr id="43" name="número acción 03"/>
          <p:cNvSpPr txBox="1"/>
          <p:nvPr/>
        </p:nvSpPr>
        <p:spPr>
          <a:xfrm>
            <a:off x="6035040" y="36850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40319"/>
                </a:solidFill>
                <a:latin typeface="Montserrat"/>
              </a:rPr>
              <a:t>03</a:t>
            </a:r>
          </a:p>
        </p:txBody>
      </p:sp>
      <p:sp>
        <p:nvSpPr>
          <p:cNvPr id="44" name="acción 03"/>
          <p:cNvSpPr txBox="1"/>
          <p:nvPr/>
        </p:nvSpPr>
        <p:spPr>
          <a:xfrm>
            <a:off x="6355079" y="3675887"/>
            <a:ext cx="2331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F1C2C"/>
                </a:solidFill>
                <a:latin typeface="Arial"/>
              </a:rPr>
              <a:t>Medir los falsos negativos:</a:t>
            </a:r>
            <a:r>
              <a:rPr sz="950" b="0">
                <a:solidFill>
                  <a:srgbClr val="3A3A3A"/>
                </a:solidFill>
                <a:latin typeface="Arial"/>
              </a:rPr>
              <a:t> cruce con registros externos y muestreo de vídeo durante 2 semanas.</a:t>
            </a:r>
          </a:p>
        </p:txBody>
      </p:sp>
      <p:sp>
        <p:nvSpPr>
          <p:cNvPr id="45" name="fuente"/>
          <p:cNvSpPr txBox="1"/>
          <p:nvPr/>
        </p:nvSpPr>
        <p:spPr>
          <a:xfrm>
            <a:off x="3657600" y="4305909"/>
            <a:ext cx="374903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B5B5B5"/>
                </a:solidFill>
                <a:latin typeface="Arial"/>
              </a:rPr>
              <a:t>Alertas validadas con vídeo, ene–sep 2026 · sin DISTRACTION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RSA Corporativa">
  <a:themeElements>
    <a:clrScheme name="TORSA Corporativa">
      <a:dk1>
        <a:srgbClr val="0F1C2C"/>
      </a:dk1>
      <a:lt1>
        <a:srgbClr val="FFFFFF"/>
      </a:lt1>
      <a:dk2>
        <a:srgbClr val="3A3A3A"/>
      </a:dk2>
      <a:lt2>
        <a:srgbClr val="F4F4F4"/>
      </a:lt2>
      <a:accent1>
        <a:srgbClr val="D40319"/>
      </a:accent1>
      <a:accent2>
        <a:srgbClr val="0F1C2C"/>
      </a:accent2>
      <a:accent3>
        <a:srgbClr val="2E8B3A"/>
      </a:accent3>
      <a:accent4>
        <a:srgbClr val="E8A000"/>
      </a:accent4>
      <a:accent5>
        <a:srgbClr val="D40319"/>
      </a:accent5>
      <a:accent6>
        <a:srgbClr val="8C8C8C"/>
      </a:accent6>
      <a:hlink>
        <a:srgbClr val="D40319"/>
      </a:hlink>
      <a:folHlink>
        <a:srgbClr val="D40319"/>
      </a:folHlink>
    </a:clrScheme>
    <a:fontScheme name="TORSA Corporativa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2312</Words>
  <Application>Microsoft Macintosh PowerPoint</Application>
  <PresentationFormat>Presentación en pantalla (16:9)</PresentationFormat>
  <Paragraphs>302</Paragraphs>
  <Slides>18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1" baseType="lpstr">
      <vt:lpstr>Arial</vt:lpstr>
      <vt:lpstr>Montserrat</vt:lpstr>
      <vt:lpstr>TORSA Corporativa</vt:lpstr>
      <vt:lpstr>SUMMIT 2026 DEMO MADRID</vt:lpstr>
      <vt:lpstr>Presentación de PowerPoint</vt:lpstr>
      <vt:lpstr>SEGURIDAD EN LA ZONA DE PRUEBAS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PLAN DE PRUEBAS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TORSA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Pruebas de campo Madrid: seguridad y plan de pruebas</dc:title>
  <dc:subject>PptxGenJS Presentation</dc:subject>
  <dc:creator>TORSA</dc:creator>
  <cp:lastModifiedBy>Yeshu &amp; Pame</cp:lastModifiedBy>
  <cp:revision>3</cp:revision>
  <dcterms:created xsi:type="dcterms:W3CDTF">2026-10-04T15:56:16Z</dcterms:created>
  <dcterms:modified xsi:type="dcterms:W3CDTF">2026-10-04T16:38:41Z</dcterms:modified>
</cp:coreProperties>
</file>