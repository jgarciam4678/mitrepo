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E6FF1A2E-508E-CFF9-E930-0569FCD82E02}">
          <p14:sldIdLst>
            <p14:sldId id="256"/>
            <p14:sldId id="257"/>
          </p14:sldIdLst>
        </p14:section>
        <p14:section name="Seguridad en la zona de pruebas" id="{749B4F1C-3006-EFEB-51AD-CC6E12403515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lan de pruebas" id="{AE4255E8-A7BD-5CDB-64A1-C320FCB23880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0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t>Madero Seg mejora cada semana. Reentrenamos con más datos y más difíciles: el 22/09 ampliamos el test un 24 % con 170 móviles nuevos, que son los casos que de verdad importan en campo; por eso el recall medido bajó, y desde entonces sube en cada versión. En tres versiones los móviles no detectados bajan de 130 a 110 y los tabacos de 117 a 83. Los fallos son objetos que el modelo aún no ve, no confusiones entre clases, y eso se corrige con datos. El siguiente foco son las alarmas falsas de TABACO. Plan: más datos donde falla, afinar TABACO y un piloto de dos semanas en producción.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t>En producción, en clientes con el sistema desplegado, 9 de cada 10 alertas son correctas: 130.210 validadas en 2026 y un 92,6 % correctas. MOBILE tiene un 94,2 % de precisión y TABACO un 92,4 %, estables. FATIGUE está en el 76,3 % y es el siguiente foco: ya tenemos 1.499 casos falsos etiquetados para reentrenar. MOBILE tuvo un 1,1 % de falsas en agosto; el pico de septiembre (8,9 %) está en revisión. DISTRACTION no entra en esta lámina. Siguiente métrica: cuantificar los eventos sin alerta con un piloto de dos semanas.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C">
              <a:alpha val="78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/tmp/claude-0/-home-user-MITREPO/21d91df9-1cfc-5dbc-823a-a27b9a33fab4/scratchpad/deck/logo_torsa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280160" cy="3465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Built by us, shaped for you</a:t>
            </a:r>
            <a:endParaRPr lang="en-US" sz="10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173736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548640" y="352044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ITREPO/21d91df9-1cfc-5dbc-823a-a27b9a33fab4/scratchpad/deck/corp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143000" cy="3072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</a:rPr>
              <a:t>Built by us, shaped for you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B5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B5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1920240" y="27432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F1C2C"/>
                </a:solidFill>
                <a:latin typeface="Montserrat"/>
              </a:rPr>
              <a:t>MADERO SEG: UN MODELO QUE</a:t>
            </a:r>
          </a:p>
          <a:p>
            <a:pPr algn="l"/>
            <a:r>
              <a:rPr sz="2000" b="1">
                <a:solidFill>
                  <a:srgbClr val="0F1C2C"/>
                </a:solidFill>
                <a:latin typeface="Montserrat"/>
              </a:rPr>
              <a:t>MEJORA CADA SEMANA</a:t>
            </a:r>
          </a:p>
        </p:txBody>
      </p:sp>
      <p:sp>
        <p:nvSpPr>
          <p:cNvPr id="3" name="chip fondo"/>
          <p:cNvSpPr/>
          <p:nvPr/>
        </p:nvSpPr>
        <p:spPr>
          <a:xfrm>
            <a:off x="7406640" y="402336"/>
            <a:ext cx="1280160" cy="237744"/>
          </a:xfrm>
          <a:prstGeom prst="rect">
            <a:avLst/>
          </a:prstGeom>
          <a:solidFill>
            <a:srgbClr val="D9D9D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 txBox="1"/>
          <p:nvPr/>
        </p:nvSpPr>
        <p:spPr>
          <a:xfrm>
            <a:off x="7406640" y="4023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spc="100">
                <a:solidFill>
                  <a:srgbClr val="0F1C2C"/>
                </a:solidFill>
                <a:latin typeface="Montserrat"/>
              </a:rPr>
              <a:t>MEJORA CONTINUA</a:t>
            </a:r>
          </a:p>
        </p:txBody>
      </p:sp>
      <p:sp>
        <p:nvSpPr>
          <p:cNvPr id="5" name="mensaje principal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C2C"/>
                </a:solidFill>
                <a:latin typeface="Montserrat"/>
              </a:rPr>
              <a:t>Reentrenamos cada semana con datos más difíciles. En tres versiones, los móviles no detectados bajan un 15 % y los tabacos un 29 %.</a:t>
            </a:r>
          </a:p>
        </p:txBody>
      </p:sp>
      <p:sp>
        <p:nvSpPr>
          <p:cNvPr id="6" name="bloque 01"/>
          <p:cNvSpPr/>
          <p:nvPr/>
        </p:nvSpPr>
        <p:spPr>
          <a:xfrm>
            <a:off x="457200" y="1554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número 01"/>
          <p:cNvSpPr txBox="1"/>
          <p:nvPr/>
        </p:nvSpPr>
        <p:spPr>
          <a:xfrm>
            <a:off x="640080" y="17099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01</a:t>
            </a:r>
          </a:p>
        </p:txBody>
      </p:sp>
      <p:sp>
        <p:nvSpPr>
          <p:cNvPr id="8" name="título 01"/>
          <p:cNvSpPr txBox="1"/>
          <p:nvPr/>
        </p:nvSpPr>
        <p:spPr>
          <a:xfrm>
            <a:off x="640080" y="1901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C2C"/>
                </a:solidFill>
                <a:latin typeface="Montserrat"/>
              </a:rPr>
              <a:t>MOBILE</a:t>
            </a:r>
          </a:p>
        </p:txBody>
      </p:sp>
      <p:sp>
        <p:nvSpPr>
          <p:cNvPr id="9" name="etiqueta DETECTADOS 01"/>
          <p:cNvSpPr txBox="1"/>
          <p:nvPr/>
        </p:nvSpPr>
        <p:spPr>
          <a:xfrm>
            <a:off x="64008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DETECTADOS</a:t>
            </a:r>
          </a:p>
        </p:txBody>
      </p:sp>
      <p:sp>
        <p:nvSpPr>
          <p:cNvPr id="10" name="valor DETECTADOS 01"/>
          <p:cNvSpPr txBox="1"/>
          <p:nvPr/>
        </p:nvSpPr>
        <p:spPr>
          <a:xfrm>
            <a:off x="64008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C2C"/>
                </a:solidFill>
                <a:latin typeface="Montserrat"/>
              </a:rPr>
              <a:t>79 %</a:t>
            </a:r>
          </a:p>
        </p:txBody>
      </p:sp>
      <p:sp>
        <p:nvSpPr>
          <p:cNvPr id="11" name="detalle DETECTADOS 01"/>
          <p:cNvSpPr txBox="1"/>
          <p:nvPr/>
        </p:nvSpPr>
        <p:spPr>
          <a:xfrm>
            <a:off x="64008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411 de 521 reales</a:t>
            </a:r>
          </a:p>
        </p:txBody>
      </p:sp>
      <p:sp>
        <p:nvSpPr>
          <p:cNvPr id="12" name="etiqueta PRECISIÓN 01"/>
          <p:cNvSpPr txBox="1"/>
          <p:nvPr/>
        </p:nvSpPr>
        <p:spPr>
          <a:xfrm>
            <a:off x="182880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PRECISIÓN</a:t>
            </a:r>
          </a:p>
        </p:txBody>
      </p:sp>
      <p:sp>
        <p:nvSpPr>
          <p:cNvPr id="13" name="valor PRECISIÓN 01"/>
          <p:cNvSpPr txBox="1"/>
          <p:nvPr/>
        </p:nvSpPr>
        <p:spPr>
          <a:xfrm>
            <a:off x="182880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C2C"/>
                </a:solidFill>
                <a:latin typeface="Montserrat"/>
              </a:rPr>
              <a:t>90 %</a:t>
            </a:r>
          </a:p>
        </p:txBody>
      </p:sp>
      <p:sp>
        <p:nvSpPr>
          <p:cNvPr id="14" name="detalle PRECISIÓN 01"/>
          <p:cNvSpPr txBox="1"/>
          <p:nvPr/>
        </p:nvSpPr>
        <p:spPr>
          <a:xfrm>
            <a:off x="182880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411 de 457 detecciones</a:t>
            </a:r>
          </a:p>
        </p:txBody>
      </p:sp>
      <p:sp>
        <p:nvSpPr>
          <p:cNvPr id="15" name="barra ok 01"/>
          <p:cNvSpPr/>
          <p:nvPr/>
        </p:nvSpPr>
        <p:spPr>
          <a:xfrm>
            <a:off x="640080" y="3163824"/>
            <a:ext cx="1842058" cy="118872"/>
          </a:xfrm>
          <a:prstGeom prst="rect">
            <a:avLst/>
          </a:prstGeom>
          <a:solidFill>
            <a:srgbClr val="0F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barra mal 01"/>
          <p:cNvSpPr/>
          <p:nvPr/>
        </p:nvSpPr>
        <p:spPr>
          <a:xfrm>
            <a:off x="2482138" y="3163824"/>
            <a:ext cx="489661" cy="11887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ectura barra 01"/>
          <p:cNvSpPr txBox="1"/>
          <p:nvPr/>
        </p:nvSpPr>
        <p:spPr>
          <a:xfrm>
            <a:off x="640080" y="3328415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/>
            </a:r>
            <a:r>
              <a:rPr sz="850" b="1">
                <a:solidFill>
                  <a:srgbClr val="0F1C2C"/>
                </a:solidFill>
                <a:latin typeface="Arial"/>
              </a:rPr>
              <a:t>79 detectados</a:t>
            </a:r>
            <a:r>
              <a:rPr sz="850" b="0">
                <a:solidFill>
                  <a:srgbClr val="5C5C5C"/>
                </a:solidFill>
                <a:latin typeface="Arial"/>
              </a:rPr>
              <a:t>, </a:t>
            </a:r>
            <a:r>
              <a:rPr sz="850" b="1">
                <a:solidFill>
                  <a:srgbClr val="5C5C5C"/>
                </a:solidFill>
                <a:latin typeface="Arial"/>
              </a:rPr>
              <a:t>21 pendientes</a:t>
            </a:r>
          </a:p>
        </p:txBody>
      </p:sp>
      <p:sp>
        <p:nvSpPr>
          <p:cNvPr id="18" name="bloque 02"/>
          <p:cNvSpPr/>
          <p:nvPr/>
        </p:nvSpPr>
        <p:spPr>
          <a:xfrm>
            <a:off x="3246120" y="1554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número 02"/>
          <p:cNvSpPr txBox="1"/>
          <p:nvPr/>
        </p:nvSpPr>
        <p:spPr>
          <a:xfrm>
            <a:off x="3429000" y="17099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02</a:t>
            </a:r>
          </a:p>
        </p:txBody>
      </p:sp>
      <p:sp>
        <p:nvSpPr>
          <p:cNvPr id="20" name="título 02"/>
          <p:cNvSpPr txBox="1"/>
          <p:nvPr/>
        </p:nvSpPr>
        <p:spPr>
          <a:xfrm>
            <a:off x="3429000" y="1901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C2C"/>
                </a:solidFill>
                <a:latin typeface="Montserrat"/>
              </a:rPr>
              <a:t>TABACO</a:t>
            </a:r>
          </a:p>
        </p:txBody>
      </p:sp>
      <p:sp>
        <p:nvSpPr>
          <p:cNvPr id="21" name="etiqueta DETECTADOS 02"/>
          <p:cNvSpPr txBox="1"/>
          <p:nvPr/>
        </p:nvSpPr>
        <p:spPr>
          <a:xfrm>
            <a:off x="342900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DETECTADOS</a:t>
            </a:r>
          </a:p>
        </p:txBody>
      </p:sp>
      <p:sp>
        <p:nvSpPr>
          <p:cNvPr id="22" name="valor DETECTADOS 02"/>
          <p:cNvSpPr txBox="1"/>
          <p:nvPr/>
        </p:nvSpPr>
        <p:spPr>
          <a:xfrm>
            <a:off x="342900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C2C"/>
                </a:solidFill>
                <a:latin typeface="Montserrat"/>
              </a:rPr>
              <a:t>85 %</a:t>
            </a:r>
          </a:p>
        </p:txBody>
      </p:sp>
      <p:sp>
        <p:nvSpPr>
          <p:cNvPr id="23" name="detalle DETECTADOS 02"/>
          <p:cNvSpPr txBox="1"/>
          <p:nvPr/>
        </p:nvSpPr>
        <p:spPr>
          <a:xfrm>
            <a:off x="342900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465 de 548 reales</a:t>
            </a:r>
          </a:p>
        </p:txBody>
      </p:sp>
      <p:sp>
        <p:nvSpPr>
          <p:cNvPr id="24" name="etiqueta PRECISIÓN 02"/>
          <p:cNvSpPr txBox="1"/>
          <p:nvPr/>
        </p:nvSpPr>
        <p:spPr>
          <a:xfrm>
            <a:off x="461772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PRECISIÓN</a:t>
            </a:r>
          </a:p>
        </p:txBody>
      </p:sp>
      <p:sp>
        <p:nvSpPr>
          <p:cNvPr id="25" name="valor PRECISIÓN 02"/>
          <p:cNvSpPr txBox="1"/>
          <p:nvPr/>
        </p:nvSpPr>
        <p:spPr>
          <a:xfrm>
            <a:off x="461772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C2C"/>
                </a:solidFill>
                <a:latin typeface="Montserrat"/>
              </a:rPr>
              <a:t>83 %</a:t>
            </a:r>
          </a:p>
        </p:txBody>
      </p:sp>
      <p:sp>
        <p:nvSpPr>
          <p:cNvPr id="26" name="detalle PRECISIÓN 02"/>
          <p:cNvSpPr txBox="1"/>
          <p:nvPr/>
        </p:nvSpPr>
        <p:spPr>
          <a:xfrm>
            <a:off x="461772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465 de 560 detecciones</a:t>
            </a:r>
          </a:p>
        </p:txBody>
      </p:sp>
      <p:sp>
        <p:nvSpPr>
          <p:cNvPr id="27" name="barra ok 02"/>
          <p:cNvSpPr/>
          <p:nvPr/>
        </p:nvSpPr>
        <p:spPr>
          <a:xfrm>
            <a:off x="3429000" y="3163824"/>
            <a:ext cx="1981962" cy="118872"/>
          </a:xfrm>
          <a:prstGeom prst="rect">
            <a:avLst/>
          </a:prstGeom>
          <a:solidFill>
            <a:srgbClr val="0F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barra mal 02"/>
          <p:cNvSpPr/>
          <p:nvPr/>
        </p:nvSpPr>
        <p:spPr>
          <a:xfrm>
            <a:off x="5410962" y="3163824"/>
            <a:ext cx="349758" cy="11887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lectura barra 02"/>
          <p:cNvSpPr txBox="1"/>
          <p:nvPr/>
        </p:nvSpPr>
        <p:spPr>
          <a:xfrm>
            <a:off x="3429000" y="3328415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/>
            </a:r>
            <a:r>
              <a:rPr sz="850" b="1">
                <a:solidFill>
                  <a:srgbClr val="0F1C2C"/>
                </a:solidFill>
                <a:latin typeface="Arial"/>
              </a:rPr>
              <a:t>85 detectados</a:t>
            </a:r>
            <a:r>
              <a:rPr sz="850" b="0">
                <a:solidFill>
                  <a:srgbClr val="5C5C5C"/>
                </a:solidFill>
                <a:latin typeface="Arial"/>
              </a:rPr>
              <a:t>, </a:t>
            </a:r>
            <a:r>
              <a:rPr sz="850" b="1">
                <a:solidFill>
                  <a:srgbClr val="5C5C5C"/>
                </a:solidFill>
                <a:latin typeface="Arial"/>
              </a:rPr>
              <a:t>15 pendientes</a:t>
            </a:r>
          </a:p>
        </p:txBody>
      </p:sp>
      <p:sp>
        <p:nvSpPr>
          <p:cNvPr id="30" name="panel lateral"/>
          <p:cNvSpPr/>
          <p:nvPr/>
        </p:nvSpPr>
        <p:spPr>
          <a:xfrm>
            <a:off x="6035040" y="1554480"/>
            <a:ext cx="2651760" cy="2011680"/>
          </a:xfrm>
          <a:prstGeom prst="rect">
            <a:avLst/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etiqueta lateral"/>
          <p:cNvSpPr txBox="1"/>
          <p:nvPr/>
        </p:nvSpPr>
        <p:spPr>
          <a:xfrm>
            <a:off x="6217920" y="17373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CÓMO MEJORAMOS</a:t>
            </a:r>
          </a:p>
        </p:txBody>
      </p:sp>
      <p:sp>
        <p:nvSpPr>
          <p:cNvPr id="32" name="panel línea 1"/>
          <p:cNvSpPr txBox="1"/>
          <p:nvPr/>
        </p:nvSpPr>
        <p:spPr>
          <a:xfrm>
            <a:off x="6217920" y="1993391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Test ampliado un </a:t>
            </a:r>
            <a:r>
              <a:rPr sz="1000" b="1">
                <a:solidFill>
                  <a:srgbClr val="0F1C2C"/>
                </a:solidFill>
                <a:latin typeface="Arial"/>
              </a:rPr>
              <a:t>24 %</a:t>
            </a:r>
            <a:r>
              <a:rPr sz="1000" b="0">
                <a:solidFill>
                  <a:srgbClr val="3A3A3A"/>
                </a:solidFill>
                <a:latin typeface="Arial"/>
              </a:rPr>
              <a:t> el 22/09 con casos difíciles de campo</a:t>
            </a:r>
          </a:p>
        </p:txBody>
      </p:sp>
      <p:sp>
        <p:nvSpPr>
          <p:cNvPr id="33" name="panel línea 2"/>
          <p:cNvSpPr txBox="1"/>
          <p:nvPr/>
        </p:nvSpPr>
        <p:spPr>
          <a:xfrm>
            <a:off x="6217920" y="239572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3 mejoras seguidas: MOBILE </a:t>
            </a:r>
            <a:r>
              <a:rPr sz="1000" b="1">
                <a:solidFill>
                  <a:srgbClr val="0F1C2C"/>
                </a:solidFill>
                <a:latin typeface="Arial"/>
              </a:rPr>
              <a:t>130 → 110</a:t>
            </a:r>
            <a:r>
              <a:rPr sz="1000" b="0">
                <a:solidFill>
                  <a:srgbClr val="3A3A3A"/>
                </a:solidFill>
                <a:latin typeface="Arial"/>
              </a:rPr>
              <a:t>, TABACO </a:t>
            </a:r>
            <a:r>
              <a:rPr sz="1000" b="1">
                <a:solidFill>
                  <a:srgbClr val="0F1C2C"/>
                </a:solidFill>
                <a:latin typeface="Arial"/>
              </a:rPr>
              <a:t>117 → 83</a:t>
            </a:r>
            <a:r>
              <a:rPr sz="1000" b="0">
                <a:solidFill>
                  <a:srgbClr val="3A3A3A"/>
                </a:solidFill>
                <a:latin typeface="Arial"/>
              </a:rPr>
              <a:t> no detectados</a:t>
            </a:r>
          </a:p>
        </p:txBody>
      </p:sp>
      <p:sp>
        <p:nvSpPr>
          <p:cNvPr id="34" name="panel línea 3"/>
          <p:cNvSpPr txBox="1"/>
          <p:nvPr/>
        </p:nvSpPr>
        <p:spPr>
          <a:xfrm>
            <a:off x="6217920" y="2798063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Objetos no vistos, no confusiones (</a:t>
            </a:r>
            <a:r>
              <a:rPr sz="1000" b="1">
                <a:solidFill>
                  <a:srgbClr val="0F1C2C"/>
                </a:solidFill>
                <a:latin typeface="Arial"/>
              </a:rPr>
              <a:t>2 de 193</a:t>
            </a:r>
            <a:r>
              <a:rPr sz="1000" b="0">
                <a:solidFill>
                  <a:srgbClr val="3A3A3A"/>
                </a:solidFill>
                <a:latin typeface="Arial"/>
              </a:rPr>
              <a:t>): más datos lo corrigen</a:t>
            </a:r>
          </a:p>
        </p:txBody>
      </p:sp>
      <p:sp>
        <p:nvSpPr>
          <p:cNvPr id="35" name="panel línea 4"/>
          <p:cNvSpPr txBox="1"/>
          <p:nvPr/>
        </p:nvSpPr>
        <p:spPr>
          <a:xfrm>
            <a:off x="621792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Siguiente foco: </a:t>
            </a:r>
            <a:r>
              <a:rPr sz="1000" b="1">
                <a:solidFill>
                  <a:srgbClr val="D40319"/>
                </a:solidFill>
                <a:latin typeface="Arial"/>
              </a:rPr>
              <a:t>alarmas falsas de TABACO</a:t>
            </a:r>
          </a:p>
        </p:txBody>
      </p:sp>
      <p:sp>
        <p:nvSpPr>
          <p:cNvPr id="36" name="número acción 01"/>
          <p:cNvSpPr txBox="1"/>
          <p:nvPr/>
        </p:nvSpPr>
        <p:spPr>
          <a:xfrm>
            <a:off x="45720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01</a:t>
            </a:r>
          </a:p>
        </p:txBody>
      </p:sp>
      <p:sp>
        <p:nvSpPr>
          <p:cNvPr id="37" name="acción 01"/>
          <p:cNvSpPr txBox="1"/>
          <p:nvPr/>
        </p:nvSpPr>
        <p:spPr>
          <a:xfrm>
            <a:off x="777240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Más datos donde falla:</a:t>
            </a:r>
            <a:r>
              <a:rPr sz="950" b="0">
                <a:solidFill>
                  <a:srgbClr val="3A3A3A"/>
                </a:solidFill>
                <a:latin typeface="Arial"/>
              </a:rPr>
              <a:t> tipificar los 193 casos y recolectar en esas condiciones.</a:t>
            </a:r>
          </a:p>
        </p:txBody>
      </p:sp>
      <p:sp>
        <p:nvSpPr>
          <p:cNvPr id="38" name="número acción 02"/>
          <p:cNvSpPr txBox="1"/>
          <p:nvPr/>
        </p:nvSpPr>
        <p:spPr>
          <a:xfrm>
            <a:off x="324612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02</a:t>
            </a:r>
          </a:p>
        </p:txBody>
      </p:sp>
      <p:sp>
        <p:nvSpPr>
          <p:cNvPr id="39" name="acción 02"/>
          <p:cNvSpPr txBox="1"/>
          <p:nvPr/>
        </p:nvSpPr>
        <p:spPr>
          <a:xfrm>
            <a:off x="3566160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Afinar TABACO:</a:t>
            </a:r>
            <a:r>
              <a:rPr sz="950" b="0">
                <a:solidFill>
                  <a:srgbClr val="3A3A3A"/>
                </a:solidFill>
                <a:latin typeface="Arial"/>
              </a:rPr>
              <a:t> entrenar con los fondos que confunde para bajar las alarmas falsas.</a:t>
            </a:r>
          </a:p>
        </p:txBody>
      </p:sp>
      <p:sp>
        <p:nvSpPr>
          <p:cNvPr id="40" name="número acción 03"/>
          <p:cNvSpPr txBox="1"/>
          <p:nvPr/>
        </p:nvSpPr>
        <p:spPr>
          <a:xfrm>
            <a:off x="603504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03</a:t>
            </a:r>
          </a:p>
        </p:txBody>
      </p:sp>
      <p:sp>
        <p:nvSpPr>
          <p:cNvPr id="41" name="acción 03"/>
          <p:cNvSpPr txBox="1"/>
          <p:nvPr/>
        </p:nvSpPr>
        <p:spPr>
          <a:xfrm>
            <a:off x="6355079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Piloto en producción:</a:t>
            </a:r>
            <a:r>
              <a:rPr sz="950" b="0">
                <a:solidFill>
                  <a:srgbClr val="3A3A3A"/>
                </a:solidFill>
                <a:latin typeface="Arial"/>
              </a:rPr>
              <a:t> 2 semanas con eventos reales para certificar el despliegue.</a:t>
            </a:r>
          </a:p>
        </p:txBody>
      </p:sp>
      <p:sp>
        <p:nvSpPr>
          <p:cNvPr id="42" name="fuente"/>
          <p:cNvSpPr txBox="1"/>
          <p:nvPr/>
        </p:nvSpPr>
        <p:spPr>
          <a:xfrm>
            <a:off x="3657600" y="4305909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B5B5"/>
                </a:solidFill>
                <a:latin typeface="Arial"/>
              </a:rPr>
              <a:t>Test de 1.069 instancias, versión 01/10 · reentrenamiento semanal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1920240" y="27432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F1C2C"/>
                </a:solidFill>
                <a:latin typeface="Montserrat"/>
              </a:rPr>
              <a:t>EN PRODUCCIÓN: 9 DE CADA 10</a:t>
            </a:r>
          </a:p>
          <a:p>
            <a:pPr algn="l"/>
            <a:r>
              <a:rPr sz="2000" b="1">
                <a:solidFill>
                  <a:srgbClr val="0F1C2C"/>
                </a:solidFill>
                <a:latin typeface="Montserrat"/>
              </a:rPr>
              <a:t>ALERTAS SON CORRECTAS</a:t>
            </a:r>
          </a:p>
        </p:txBody>
      </p:sp>
      <p:sp>
        <p:nvSpPr>
          <p:cNvPr id="3" name="chip fondo"/>
          <p:cNvSpPr/>
          <p:nvPr/>
        </p:nvSpPr>
        <p:spPr>
          <a:xfrm>
            <a:off x="7406640" y="402336"/>
            <a:ext cx="1280160" cy="237744"/>
          </a:xfrm>
          <a:prstGeom prst="rect">
            <a:avLst/>
          </a:prstGeom>
          <a:solidFill>
            <a:srgbClr val="D9D9D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 txBox="1"/>
          <p:nvPr/>
        </p:nvSpPr>
        <p:spPr>
          <a:xfrm>
            <a:off x="7406640" y="4023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spc="100">
                <a:solidFill>
                  <a:srgbClr val="0F1C2C"/>
                </a:solidFill>
                <a:latin typeface="Montserrat"/>
              </a:rPr>
              <a:t>CLIENTES</a:t>
            </a:r>
          </a:p>
        </p:txBody>
      </p:sp>
      <p:sp>
        <p:nvSpPr>
          <p:cNvPr id="5" name="mensaje principal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C2C"/>
                </a:solidFill>
                <a:latin typeface="Montserrat"/>
              </a:rPr>
              <a:t>Clientes desplegados: 92,6 % de las 130.210 alertas validadas en 2026 fueron correctas. MOBILE y TABACO superan el 92 %; FATIGUE, el siguiente foco.</a:t>
            </a:r>
          </a:p>
        </p:txBody>
      </p:sp>
      <p:sp>
        <p:nvSpPr>
          <p:cNvPr id="6" name="bloque 01"/>
          <p:cNvSpPr/>
          <p:nvPr/>
        </p:nvSpPr>
        <p:spPr>
          <a:xfrm>
            <a:off x="457200" y="1554480"/>
            <a:ext cx="1828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número 01"/>
          <p:cNvSpPr txBox="1"/>
          <p:nvPr/>
        </p:nvSpPr>
        <p:spPr>
          <a:xfrm>
            <a:off x="640080" y="17099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01</a:t>
            </a:r>
          </a:p>
        </p:txBody>
      </p:sp>
      <p:sp>
        <p:nvSpPr>
          <p:cNvPr id="8" name="título 01"/>
          <p:cNvSpPr txBox="1"/>
          <p:nvPr/>
        </p:nvSpPr>
        <p:spPr>
          <a:xfrm>
            <a:off x="640080" y="1901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C2C"/>
                </a:solidFill>
                <a:latin typeface="Montserrat"/>
              </a:rPr>
              <a:t>MOBILE</a:t>
            </a:r>
          </a:p>
        </p:txBody>
      </p:sp>
      <p:sp>
        <p:nvSpPr>
          <p:cNvPr id="9" name="etiqueta PRECISIÓN 01"/>
          <p:cNvSpPr txBox="1"/>
          <p:nvPr/>
        </p:nvSpPr>
        <p:spPr>
          <a:xfrm>
            <a:off x="64008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PRECISIÓN</a:t>
            </a:r>
          </a:p>
        </p:txBody>
      </p:sp>
      <p:sp>
        <p:nvSpPr>
          <p:cNvPr id="10" name="valor PRECISIÓN 01"/>
          <p:cNvSpPr txBox="1"/>
          <p:nvPr/>
        </p:nvSpPr>
        <p:spPr>
          <a:xfrm>
            <a:off x="64008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C2C"/>
                </a:solidFill>
                <a:latin typeface="Montserrat"/>
              </a:rPr>
              <a:t>94,2 %</a:t>
            </a:r>
          </a:p>
        </p:txBody>
      </p:sp>
      <p:sp>
        <p:nvSpPr>
          <p:cNvPr id="11" name="detalle PRECISIÓN 01"/>
          <p:cNvSpPr txBox="1"/>
          <p:nvPr/>
        </p:nvSpPr>
        <p:spPr>
          <a:xfrm>
            <a:off x="640080" y="284378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64.434 correctas</a:t>
            </a:r>
          </a:p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de 68.400 validadas</a:t>
            </a:r>
          </a:p>
        </p:txBody>
      </p:sp>
      <p:sp>
        <p:nvSpPr>
          <p:cNvPr id="12" name="barra ok 01"/>
          <p:cNvSpPr/>
          <p:nvPr/>
        </p:nvSpPr>
        <p:spPr>
          <a:xfrm>
            <a:off x="640080" y="3163824"/>
            <a:ext cx="1375257" cy="118872"/>
          </a:xfrm>
          <a:prstGeom prst="rect">
            <a:avLst/>
          </a:prstGeom>
          <a:solidFill>
            <a:srgbClr val="0F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arra mal 01"/>
          <p:cNvSpPr/>
          <p:nvPr/>
        </p:nvSpPr>
        <p:spPr>
          <a:xfrm>
            <a:off x="2015337" y="3163824"/>
            <a:ext cx="87782" cy="11887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ectura barra 01"/>
          <p:cNvSpPr txBox="1"/>
          <p:nvPr/>
        </p:nvSpPr>
        <p:spPr>
          <a:xfrm>
            <a:off x="640080" y="3328415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/>
            </a:r>
            <a:r>
              <a:rPr sz="850" b="1">
                <a:solidFill>
                  <a:srgbClr val="0F1C2C"/>
                </a:solidFill>
                <a:latin typeface="Arial"/>
              </a:rPr>
              <a:t>94 correctas</a:t>
            </a:r>
            <a:r>
              <a:rPr sz="850" b="0">
                <a:solidFill>
                  <a:srgbClr val="5C5C5C"/>
                </a:solidFill>
                <a:latin typeface="Arial"/>
              </a:rPr>
              <a:t>, </a:t>
            </a:r>
            <a:r>
              <a:rPr sz="850" b="1">
                <a:solidFill>
                  <a:srgbClr val="5C5C5C"/>
                </a:solidFill>
                <a:latin typeface="Arial"/>
              </a:rPr>
              <a:t>6 falsas</a:t>
            </a:r>
          </a:p>
        </p:txBody>
      </p:sp>
      <p:sp>
        <p:nvSpPr>
          <p:cNvPr id="15" name="bloque 02"/>
          <p:cNvSpPr/>
          <p:nvPr/>
        </p:nvSpPr>
        <p:spPr>
          <a:xfrm>
            <a:off x="2423160" y="1554480"/>
            <a:ext cx="1828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número 02"/>
          <p:cNvSpPr txBox="1"/>
          <p:nvPr/>
        </p:nvSpPr>
        <p:spPr>
          <a:xfrm>
            <a:off x="2606040" y="17099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02</a:t>
            </a:r>
          </a:p>
        </p:txBody>
      </p:sp>
      <p:sp>
        <p:nvSpPr>
          <p:cNvPr id="17" name="título 02"/>
          <p:cNvSpPr txBox="1"/>
          <p:nvPr/>
        </p:nvSpPr>
        <p:spPr>
          <a:xfrm>
            <a:off x="2606040" y="1901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C2C"/>
                </a:solidFill>
                <a:latin typeface="Montserrat"/>
              </a:rPr>
              <a:t>TABACO</a:t>
            </a:r>
          </a:p>
        </p:txBody>
      </p:sp>
      <p:sp>
        <p:nvSpPr>
          <p:cNvPr id="18" name="etiqueta PRECISIÓN 02"/>
          <p:cNvSpPr txBox="1"/>
          <p:nvPr/>
        </p:nvSpPr>
        <p:spPr>
          <a:xfrm>
            <a:off x="260604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PRECISIÓN</a:t>
            </a:r>
          </a:p>
        </p:txBody>
      </p:sp>
      <p:sp>
        <p:nvSpPr>
          <p:cNvPr id="19" name="valor PRECISIÓN 02"/>
          <p:cNvSpPr txBox="1"/>
          <p:nvPr/>
        </p:nvSpPr>
        <p:spPr>
          <a:xfrm>
            <a:off x="260604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C2C"/>
                </a:solidFill>
                <a:latin typeface="Montserrat"/>
              </a:rPr>
              <a:t>92,4 %</a:t>
            </a:r>
          </a:p>
        </p:txBody>
      </p:sp>
      <p:sp>
        <p:nvSpPr>
          <p:cNvPr id="20" name="detalle PRECISIÓN 02"/>
          <p:cNvSpPr txBox="1"/>
          <p:nvPr/>
        </p:nvSpPr>
        <p:spPr>
          <a:xfrm>
            <a:off x="2606040" y="284378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51.252 correctas</a:t>
            </a:r>
          </a:p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de 55.481 validadas</a:t>
            </a:r>
          </a:p>
        </p:txBody>
      </p:sp>
      <p:sp>
        <p:nvSpPr>
          <p:cNvPr id="21" name="barra ok 02"/>
          <p:cNvSpPr/>
          <p:nvPr/>
        </p:nvSpPr>
        <p:spPr>
          <a:xfrm>
            <a:off x="2606040" y="3163824"/>
            <a:ext cx="1345996" cy="118872"/>
          </a:xfrm>
          <a:prstGeom prst="rect">
            <a:avLst/>
          </a:prstGeom>
          <a:solidFill>
            <a:srgbClr val="0F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barra mal 02"/>
          <p:cNvSpPr/>
          <p:nvPr/>
        </p:nvSpPr>
        <p:spPr>
          <a:xfrm>
            <a:off x="3952036" y="3163824"/>
            <a:ext cx="117043" cy="11887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lectura barra 02"/>
          <p:cNvSpPr txBox="1"/>
          <p:nvPr/>
        </p:nvSpPr>
        <p:spPr>
          <a:xfrm>
            <a:off x="2606040" y="3328415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/>
            </a:r>
            <a:r>
              <a:rPr sz="850" b="1">
                <a:solidFill>
                  <a:srgbClr val="0F1C2C"/>
                </a:solidFill>
                <a:latin typeface="Arial"/>
              </a:rPr>
              <a:t>92 correctas</a:t>
            </a:r>
            <a:r>
              <a:rPr sz="850" b="0">
                <a:solidFill>
                  <a:srgbClr val="5C5C5C"/>
                </a:solidFill>
                <a:latin typeface="Arial"/>
              </a:rPr>
              <a:t>, </a:t>
            </a:r>
            <a:r>
              <a:rPr sz="850" b="1">
                <a:solidFill>
                  <a:srgbClr val="5C5C5C"/>
                </a:solidFill>
                <a:latin typeface="Arial"/>
              </a:rPr>
              <a:t>8 falsas</a:t>
            </a:r>
          </a:p>
        </p:txBody>
      </p:sp>
      <p:sp>
        <p:nvSpPr>
          <p:cNvPr id="24" name="bloque 03"/>
          <p:cNvSpPr/>
          <p:nvPr/>
        </p:nvSpPr>
        <p:spPr>
          <a:xfrm>
            <a:off x="4389120" y="1554480"/>
            <a:ext cx="1828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número 03"/>
          <p:cNvSpPr txBox="1"/>
          <p:nvPr/>
        </p:nvSpPr>
        <p:spPr>
          <a:xfrm>
            <a:off x="4572000" y="17099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03</a:t>
            </a:r>
          </a:p>
        </p:txBody>
      </p:sp>
      <p:sp>
        <p:nvSpPr>
          <p:cNvPr id="26" name="título 03"/>
          <p:cNvSpPr txBox="1"/>
          <p:nvPr/>
        </p:nvSpPr>
        <p:spPr>
          <a:xfrm>
            <a:off x="4572000" y="1901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C2C"/>
                </a:solidFill>
                <a:latin typeface="Montserrat"/>
              </a:rPr>
              <a:t>FATIGUE</a:t>
            </a:r>
          </a:p>
        </p:txBody>
      </p:sp>
      <p:sp>
        <p:nvSpPr>
          <p:cNvPr id="27" name="etiqueta PRECISIÓN 03"/>
          <p:cNvSpPr txBox="1"/>
          <p:nvPr/>
        </p:nvSpPr>
        <p:spPr>
          <a:xfrm>
            <a:off x="457200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PRECISIÓN</a:t>
            </a:r>
          </a:p>
        </p:txBody>
      </p:sp>
      <p:sp>
        <p:nvSpPr>
          <p:cNvPr id="28" name="valor PRECISIÓN 03"/>
          <p:cNvSpPr txBox="1"/>
          <p:nvPr/>
        </p:nvSpPr>
        <p:spPr>
          <a:xfrm>
            <a:off x="457200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C2C"/>
                </a:solidFill>
                <a:latin typeface="Montserrat"/>
              </a:rPr>
              <a:t>76,3 %</a:t>
            </a:r>
          </a:p>
        </p:txBody>
      </p:sp>
      <p:sp>
        <p:nvSpPr>
          <p:cNvPr id="29" name="detalle PRECISIÓN 03"/>
          <p:cNvSpPr txBox="1"/>
          <p:nvPr/>
        </p:nvSpPr>
        <p:spPr>
          <a:xfrm>
            <a:off x="4572000" y="284378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4.830 correctas</a:t>
            </a:r>
          </a:p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de 6.329 validadas</a:t>
            </a:r>
          </a:p>
        </p:txBody>
      </p:sp>
      <p:sp>
        <p:nvSpPr>
          <p:cNvPr id="30" name="barra ok 03"/>
          <p:cNvSpPr/>
          <p:nvPr/>
        </p:nvSpPr>
        <p:spPr>
          <a:xfrm>
            <a:off x="4572000" y="3163824"/>
            <a:ext cx="1111910" cy="118872"/>
          </a:xfrm>
          <a:prstGeom prst="rect">
            <a:avLst/>
          </a:prstGeom>
          <a:solidFill>
            <a:srgbClr val="0F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barra mal 03"/>
          <p:cNvSpPr/>
          <p:nvPr/>
        </p:nvSpPr>
        <p:spPr>
          <a:xfrm>
            <a:off x="5683910" y="3163824"/>
            <a:ext cx="351129" cy="11887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lectura barra 03"/>
          <p:cNvSpPr txBox="1"/>
          <p:nvPr/>
        </p:nvSpPr>
        <p:spPr>
          <a:xfrm>
            <a:off x="4572000" y="3328415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/>
            </a:r>
            <a:r>
              <a:rPr sz="850" b="1">
                <a:solidFill>
                  <a:srgbClr val="0F1C2C"/>
                </a:solidFill>
                <a:latin typeface="Arial"/>
              </a:rPr>
              <a:t>76 correctas</a:t>
            </a:r>
            <a:r>
              <a:rPr sz="850" b="0">
                <a:solidFill>
                  <a:srgbClr val="5C5C5C"/>
                </a:solidFill>
                <a:latin typeface="Arial"/>
              </a:rPr>
              <a:t>, </a:t>
            </a:r>
            <a:r>
              <a:rPr sz="850" b="1">
                <a:solidFill>
                  <a:srgbClr val="5C5C5C"/>
                </a:solidFill>
                <a:latin typeface="Arial"/>
              </a:rPr>
              <a:t>24 falsas</a:t>
            </a:r>
          </a:p>
        </p:txBody>
      </p:sp>
      <p:sp>
        <p:nvSpPr>
          <p:cNvPr id="33" name="panel lateral"/>
          <p:cNvSpPr/>
          <p:nvPr/>
        </p:nvSpPr>
        <p:spPr>
          <a:xfrm>
            <a:off x="6355079" y="1554480"/>
            <a:ext cx="2331720" cy="2011680"/>
          </a:xfrm>
          <a:prstGeom prst="rect">
            <a:avLst/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etiqueta lateral"/>
          <p:cNvSpPr txBox="1"/>
          <p:nvPr/>
        </p:nvSpPr>
        <p:spPr>
          <a:xfrm>
            <a:off x="6537959" y="1737360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LO QUE VIENE</a:t>
            </a:r>
          </a:p>
        </p:txBody>
      </p:sp>
      <p:sp>
        <p:nvSpPr>
          <p:cNvPr id="35" name="panel línea 1"/>
          <p:cNvSpPr txBox="1"/>
          <p:nvPr/>
        </p:nvSpPr>
        <p:spPr>
          <a:xfrm>
            <a:off x="6537959" y="1993391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TABACO estable: </a:t>
            </a:r>
            <a:r>
              <a:rPr sz="1000" b="1">
                <a:solidFill>
                  <a:srgbClr val="0F1C2C"/>
                </a:solidFill>
                <a:latin typeface="Arial"/>
              </a:rPr>
              <a:t>4 a 6 %</a:t>
            </a:r>
            <a:r>
              <a:rPr sz="1000" b="0">
                <a:solidFill>
                  <a:srgbClr val="3A3A3A"/>
                </a:solidFill>
                <a:latin typeface="Arial"/>
              </a:rPr>
              <a:t> de falsas desde abril</a:t>
            </a:r>
          </a:p>
        </p:txBody>
      </p:sp>
      <p:sp>
        <p:nvSpPr>
          <p:cNvPr id="36" name="panel línea 2"/>
          <p:cNvSpPr txBox="1"/>
          <p:nvPr/>
        </p:nvSpPr>
        <p:spPr>
          <a:xfrm>
            <a:off x="6537959" y="2377439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MOBILE: </a:t>
            </a:r>
            <a:r>
              <a:rPr sz="1000" b="1">
                <a:solidFill>
                  <a:srgbClr val="0F1C2C"/>
                </a:solidFill>
                <a:latin typeface="Arial"/>
              </a:rPr>
              <a:t>1,1 %</a:t>
            </a:r>
            <a:r>
              <a:rPr sz="1000" b="0">
                <a:solidFill>
                  <a:srgbClr val="3A3A3A"/>
                </a:solidFill>
                <a:latin typeface="Arial"/>
              </a:rPr>
              <a:t> falsas en agosto; pico de sep en revisión</a:t>
            </a:r>
          </a:p>
        </p:txBody>
      </p:sp>
      <p:sp>
        <p:nvSpPr>
          <p:cNvPr id="37" name="panel línea 3"/>
          <p:cNvSpPr txBox="1"/>
          <p:nvPr/>
        </p:nvSpPr>
        <p:spPr>
          <a:xfrm>
            <a:off x="6537959" y="276148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FATIGUE: </a:t>
            </a:r>
            <a:r>
              <a:rPr sz="1000" b="1">
                <a:solidFill>
                  <a:srgbClr val="0F1C2C"/>
                </a:solidFill>
                <a:latin typeface="Arial"/>
              </a:rPr>
              <a:t>1.499 casos</a:t>
            </a:r>
            <a:r>
              <a:rPr sz="1000" b="0">
                <a:solidFill>
                  <a:srgbClr val="3A3A3A"/>
                </a:solidFill>
                <a:latin typeface="Arial"/>
              </a:rPr>
              <a:t> etiquetados para reentrenar</a:t>
            </a:r>
          </a:p>
        </p:txBody>
      </p:sp>
      <p:sp>
        <p:nvSpPr>
          <p:cNvPr id="38" name="panel línea 4"/>
          <p:cNvSpPr txBox="1"/>
          <p:nvPr/>
        </p:nvSpPr>
        <p:spPr>
          <a:xfrm>
            <a:off x="6537959" y="3145535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Siguiente métrica: </a:t>
            </a:r>
            <a:r>
              <a:rPr sz="1000" b="1">
                <a:solidFill>
                  <a:srgbClr val="0F1C2C"/>
                </a:solidFill>
                <a:latin typeface="Arial"/>
              </a:rPr>
              <a:t>eventos sin alerta</a:t>
            </a:r>
            <a:r>
              <a:rPr sz="1000" b="0">
                <a:solidFill>
                  <a:srgbClr val="3A3A3A"/>
                </a:solidFill>
                <a:latin typeface="Arial"/>
              </a:rPr>
              <a:t> (piloto 2 semanas)</a:t>
            </a:r>
          </a:p>
        </p:txBody>
      </p:sp>
      <p:sp>
        <p:nvSpPr>
          <p:cNvPr id="39" name="número acción 01"/>
          <p:cNvSpPr txBox="1"/>
          <p:nvPr/>
        </p:nvSpPr>
        <p:spPr>
          <a:xfrm>
            <a:off x="45720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01</a:t>
            </a:r>
          </a:p>
        </p:txBody>
      </p:sp>
      <p:sp>
        <p:nvSpPr>
          <p:cNvPr id="40" name="acción 01"/>
          <p:cNvSpPr txBox="1"/>
          <p:nvPr/>
        </p:nvSpPr>
        <p:spPr>
          <a:xfrm>
            <a:off x="777240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Mantener MOBILE y TABACO sobre el 92 %:</a:t>
            </a:r>
            <a:r>
              <a:rPr sz="950" b="0">
                <a:solidFill>
                  <a:srgbClr val="3A3A3A"/>
                </a:solidFill>
                <a:latin typeface="Arial"/>
              </a:rPr>
              <a:t> validación mensual y revisión del pico de septiembre.</a:t>
            </a:r>
          </a:p>
        </p:txBody>
      </p:sp>
      <p:sp>
        <p:nvSpPr>
          <p:cNvPr id="41" name="número acción 02"/>
          <p:cNvSpPr txBox="1"/>
          <p:nvPr/>
        </p:nvSpPr>
        <p:spPr>
          <a:xfrm>
            <a:off x="324612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02</a:t>
            </a:r>
          </a:p>
        </p:txBody>
      </p:sp>
      <p:sp>
        <p:nvSpPr>
          <p:cNvPr id="42" name="acción 02"/>
          <p:cNvSpPr txBox="1"/>
          <p:nvPr/>
        </p:nvSpPr>
        <p:spPr>
          <a:xfrm>
            <a:off x="3566160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Llevar FATIGUE al nivel de los otros dos</a:t>
            </a:r>
            <a:r>
              <a:rPr sz="950" b="0">
                <a:solidFill>
                  <a:srgbClr val="3A3A3A"/>
                </a:solidFill>
                <a:latin typeface="Arial"/>
              </a:rPr>
              <a:t> reentrenando con sus 1.499 casos etiquetados.</a:t>
            </a:r>
          </a:p>
        </p:txBody>
      </p:sp>
      <p:sp>
        <p:nvSpPr>
          <p:cNvPr id="43" name="número acción 03"/>
          <p:cNvSpPr txBox="1"/>
          <p:nvPr/>
        </p:nvSpPr>
        <p:spPr>
          <a:xfrm>
            <a:off x="603504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03</a:t>
            </a:r>
          </a:p>
        </p:txBody>
      </p:sp>
      <p:sp>
        <p:nvSpPr>
          <p:cNvPr id="44" name="acción 03"/>
          <p:cNvSpPr txBox="1"/>
          <p:nvPr/>
        </p:nvSpPr>
        <p:spPr>
          <a:xfrm>
            <a:off x="6355079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Medir lo que no se ve:</a:t>
            </a:r>
            <a:r>
              <a:rPr sz="950" b="0">
                <a:solidFill>
                  <a:srgbClr val="3A3A3A"/>
                </a:solidFill>
                <a:latin typeface="Arial"/>
              </a:rPr>
              <a:t> piloto de 2 semanas para cuantificar los eventos sin alerta.</a:t>
            </a:r>
          </a:p>
        </p:txBody>
      </p:sp>
      <p:sp>
        <p:nvSpPr>
          <p:cNvPr id="45" name="fuente"/>
          <p:cNvSpPr txBox="1"/>
          <p:nvPr/>
        </p:nvSpPr>
        <p:spPr>
          <a:xfrm>
            <a:off x="3657600" y="4305909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B5B5"/>
                </a:solidFill>
                <a:latin typeface="Arial"/>
              </a:rPr>
              <a:t>Alertas validadas con vídeo, ene–sep 2026 · sin DISTRACTION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RSA Corporativa">
  <a:themeElements>
    <a:clrScheme name="TORSA Corporativa">
      <a:dk1>
        <a:srgbClr val="0F1C2C"/>
      </a:dk1>
      <a:lt1>
        <a:srgbClr val="FFFFFF"/>
      </a:lt1>
      <a:dk2>
        <a:srgbClr val="3A3A3A"/>
      </a:dk2>
      <a:lt2>
        <a:srgbClr val="F4F4F4"/>
      </a:lt2>
      <a:accent1>
        <a:srgbClr val="D40319"/>
      </a:accent1>
      <a:accent2>
        <a:srgbClr val="0F1C2C"/>
      </a:accent2>
      <a:accent3>
        <a:srgbClr val="2E8B3A"/>
      </a:accent3>
      <a:accent4>
        <a:srgbClr val="E8A000"/>
      </a:accent4>
      <a:accent5>
        <a:srgbClr val="D40319"/>
      </a:accent5>
      <a:accent6>
        <a:srgbClr val="8C8C8C"/>
      </a:accent6>
      <a:hlink>
        <a:srgbClr val="D40319"/>
      </a:hlink>
      <a:folHlink>
        <a:srgbClr val="D40319"/>
      </a:folHlink>
    </a:clrScheme>
    <a:fontScheme name="TORSA Corporativa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2312</Words>
  <Application>Microsoft Macintosh PowerPoint</Application>
  <PresentationFormat>Presentación en pantalla (16:9)</PresentationFormat>
  <Paragraphs>302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Montserrat</vt:lpstr>
      <vt:lpstr>TORSA Corporativa</vt:lpstr>
      <vt:lpstr>SUMMIT 2026 DEMO MADRID</vt:lpstr>
      <vt:lpstr>Presentación de PowerPoint</vt:lpstr>
      <vt:lpstr>SEGURIDAD EN LA ZONA DE PRUEBAS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PLAN DE PRUEBAS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TORSA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 de campo Madrid: seguridad y plan de pruebas</dc:title>
  <dc:subject>PptxGenJS Presentation</dc:subject>
  <dc:creator>TORSA</dc:creator>
  <cp:lastModifiedBy>Yeshu &amp; Pame</cp:lastModifiedBy>
  <cp:revision>3</cp:revision>
  <dcterms:created xsi:type="dcterms:W3CDTF">2026-10-04T15:56:16Z</dcterms:created>
  <dcterms:modified xsi:type="dcterms:W3CDTF">2026-10-04T16:38:41Z</dcterms:modified>
</cp:coreProperties>
</file>