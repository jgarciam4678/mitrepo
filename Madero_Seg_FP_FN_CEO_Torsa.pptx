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6FF1A2E-508E-CFF9-E930-0569FCD82E02}">
          <p14:sldIdLst>
            <p14:sldId id="256"/>
            <p14:sldId id="257"/>
          </p14:sldIdLst>
        </p14:section>
        <p14:section name="Seguridad en la zona de pruebas" id="{749B4F1C-3006-EFEB-51AD-CC6E12403515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lan de pruebas" id="{AE4255E8-A7BD-5CDB-64A1-C320FCB2388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0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t>Mensaje principal: el modelo detecta 4 de cada 5 móviles y 6 de cada 7 tabacos. Los fallos son objetos que no ve, no confusiones entre clases. Las cifras altas anteriores (recall 89 a 91 %) eran optimistas porque el test no incluía casos difíciles; desde que se amplió el 22/09, cada versión mejora. Lo que no mejora son las alarmas falsas de TABACO. Tres acciones: tipificar fallos, negativos difíciles de TABACO, y medir en producción con eventos reales antes del despliegue.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C">
              <a:alpha val="7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/tmp/claude-0/-home-user-MITREPO/21d91df9-1cfc-5dbc-823a-a27b9a33fab4/scratchpad/deck/logo_torsa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280160" cy="3465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Built by us, shaped for you</a:t>
            </a:r>
            <a:endParaRPr lang="en-US" sz="10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173736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ITREPO/21d91df9-1cfc-5dbc-823a-a27b9a33fab4/scratchpad/deck/corp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143000" cy="3072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</a:rPr>
              <a:t>Built by us, shaped for you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B5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B5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1920240" y="2743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MADERO SEG: FALSOS NEGATIVOS</a:t>
            </a:r>
          </a:p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Y FALSOS POSITIVOS</a:t>
            </a:r>
          </a:p>
        </p:txBody>
      </p:sp>
      <p:sp>
        <p:nvSpPr>
          <p:cNvPr id="3" name="chip versión fondo"/>
          <p:cNvSpPr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solidFill>
            <a:srgbClr val="D9D9D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 versión"/>
          <p:cNvSpPr txBox="1"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spc="100">
                <a:solidFill>
                  <a:srgbClr val="0F1C2C"/>
                </a:solidFill>
                <a:latin typeface="Montserrat"/>
              </a:rPr>
              <a:t>VERSIÓN 01/10</a:t>
            </a:r>
          </a:p>
        </p:txBody>
      </p:sp>
      <p:sp>
        <p:nvSpPr>
          <p:cNvPr id="5" name="mensaje principal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C2C"/>
                </a:solidFill>
                <a:latin typeface="Montserrat"/>
              </a:rPr>
              <a:t>El modelo deja pasar 1 de cada 5 móviles y 1 de cada 7 tabacos. Falla por no ver el objeto, no por confundirlo.</a:t>
            </a:r>
          </a:p>
        </p:txBody>
      </p:sp>
      <p:sp>
        <p:nvSpPr>
          <p:cNvPr id="6" name="bloque 01"/>
          <p:cNvSpPr/>
          <p:nvPr/>
        </p:nvSpPr>
        <p:spPr>
          <a:xfrm>
            <a:off x="45720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número 01"/>
          <p:cNvSpPr txBox="1"/>
          <p:nvPr/>
        </p:nvSpPr>
        <p:spPr>
          <a:xfrm>
            <a:off x="64008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8" name="título 01"/>
          <p:cNvSpPr txBox="1"/>
          <p:nvPr/>
        </p:nvSpPr>
        <p:spPr>
          <a:xfrm>
            <a:off x="64008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MOBILE</a:t>
            </a:r>
          </a:p>
        </p:txBody>
      </p:sp>
      <p:sp>
        <p:nvSpPr>
          <p:cNvPr id="9" name="etiqueta NO DETECTADOS 01"/>
          <p:cNvSpPr txBox="1"/>
          <p:nvPr/>
        </p:nvSpPr>
        <p:spPr>
          <a:xfrm>
            <a:off x="64008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NO DETECTADOS</a:t>
            </a:r>
          </a:p>
        </p:txBody>
      </p:sp>
      <p:sp>
        <p:nvSpPr>
          <p:cNvPr id="10" name="valor NO DETECTADOS 01"/>
          <p:cNvSpPr txBox="1"/>
          <p:nvPr/>
        </p:nvSpPr>
        <p:spPr>
          <a:xfrm>
            <a:off x="64008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0319"/>
                </a:solidFill>
                <a:latin typeface="Montserrat"/>
              </a:rPr>
              <a:t>21 %</a:t>
            </a:r>
          </a:p>
        </p:txBody>
      </p:sp>
      <p:sp>
        <p:nvSpPr>
          <p:cNvPr id="11" name="detalle NO DETECTADOS 01"/>
          <p:cNvSpPr txBox="1"/>
          <p:nvPr/>
        </p:nvSpPr>
        <p:spPr>
          <a:xfrm>
            <a:off x="64008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110 de 521 reales</a:t>
            </a:r>
          </a:p>
        </p:txBody>
      </p:sp>
      <p:sp>
        <p:nvSpPr>
          <p:cNvPr id="12" name="etiqueta ALARMAS FALSAS 01"/>
          <p:cNvSpPr txBox="1"/>
          <p:nvPr/>
        </p:nvSpPr>
        <p:spPr>
          <a:xfrm>
            <a:off x="182880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ALARMAS FALSAS</a:t>
            </a:r>
          </a:p>
        </p:txBody>
      </p:sp>
      <p:sp>
        <p:nvSpPr>
          <p:cNvPr id="13" name="valor ALARMAS FALSAS 01"/>
          <p:cNvSpPr txBox="1"/>
          <p:nvPr/>
        </p:nvSpPr>
        <p:spPr>
          <a:xfrm>
            <a:off x="182880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C2C"/>
                </a:solidFill>
                <a:latin typeface="Montserrat"/>
              </a:rPr>
              <a:t>10 %</a:t>
            </a:r>
          </a:p>
        </p:txBody>
      </p:sp>
      <p:sp>
        <p:nvSpPr>
          <p:cNvPr id="14" name="detalle ALARMAS FALSAS 01"/>
          <p:cNvSpPr txBox="1"/>
          <p:nvPr/>
        </p:nvSpPr>
        <p:spPr>
          <a:xfrm>
            <a:off x="182880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46 de 457 detecciones</a:t>
            </a:r>
          </a:p>
        </p:txBody>
      </p:sp>
      <p:sp>
        <p:nvSpPr>
          <p:cNvPr id="15" name="barra detectados 01"/>
          <p:cNvSpPr/>
          <p:nvPr/>
        </p:nvSpPr>
        <p:spPr>
          <a:xfrm>
            <a:off x="640080" y="3163824"/>
            <a:ext cx="1842058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arra no detectados 01"/>
          <p:cNvSpPr/>
          <p:nvPr/>
        </p:nvSpPr>
        <p:spPr>
          <a:xfrm>
            <a:off x="2482138" y="3163824"/>
            <a:ext cx="489661" cy="118872"/>
          </a:xfrm>
          <a:prstGeom prst="rect">
            <a:avLst/>
          </a:prstGeom>
          <a:solidFill>
            <a:srgbClr val="D40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ectura barra 01"/>
          <p:cNvSpPr txBox="1"/>
          <p:nvPr/>
        </p:nvSpPr>
        <p:spPr>
          <a:xfrm>
            <a:off x="640080" y="3328415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De cada 100 reales: </a:t>
            </a:r>
            <a:r>
              <a:rPr sz="850" b="1">
                <a:solidFill>
                  <a:srgbClr val="0F1C2C"/>
                </a:solidFill>
                <a:latin typeface="Arial"/>
              </a:rPr>
              <a:t>79 detectados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D40319"/>
                </a:solidFill>
                <a:latin typeface="Arial"/>
              </a:rPr>
              <a:t>21 no</a:t>
            </a:r>
          </a:p>
        </p:txBody>
      </p:sp>
      <p:sp>
        <p:nvSpPr>
          <p:cNvPr id="18" name="bloque 02"/>
          <p:cNvSpPr/>
          <p:nvPr/>
        </p:nvSpPr>
        <p:spPr>
          <a:xfrm>
            <a:off x="324612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número 02"/>
          <p:cNvSpPr txBox="1"/>
          <p:nvPr/>
        </p:nvSpPr>
        <p:spPr>
          <a:xfrm>
            <a:off x="342900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20" name="título 02"/>
          <p:cNvSpPr txBox="1"/>
          <p:nvPr/>
        </p:nvSpPr>
        <p:spPr>
          <a:xfrm>
            <a:off x="342900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TABACO</a:t>
            </a:r>
          </a:p>
        </p:txBody>
      </p:sp>
      <p:sp>
        <p:nvSpPr>
          <p:cNvPr id="21" name="etiqueta NO DETECTADOS 02"/>
          <p:cNvSpPr txBox="1"/>
          <p:nvPr/>
        </p:nvSpPr>
        <p:spPr>
          <a:xfrm>
            <a:off x="342900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NO DETECTADOS</a:t>
            </a:r>
          </a:p>
        </p:txBody>
      </p:sp>
      <p:sp>
        <p:nvSpPr>
          <p:cNvPr id="22" name="valor NO DETECTADOS 02"/>
          <p:cNvSpPr txBox="1"/>
          <p:nvPr/>
        </p:nvSpPr>
        <p:spPr>
          <a:xfrm>
            <a:off x="342900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0319"/>
                </a:solidFill>
                <a:latin typeface="Montserrat"/>
              </a:rPr>
              <a:t>15 %</a:t>
            </a:r>
          </a:p>
        </p:txBody>
      </p:sp>
      <p:sp>
        <p:nvSpPr>
          <p:cNvPr id="23" name="detalle NO DETECTADOS 02"/>
          <p:cNvSpPr txBox="1"/>
          <p:nvPr/>
        </p:nvSpPr>
        <p:spPr>
          <a:xfrm>
            <a:off x="342900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83 de 548 reales</a:t>
            </a:r>
          </a:p>
        </p:txBody>
      </p:sp>
      <p:sp>
        <p:nvSpPr>
          <p:cNvPr id="24" name="etiqueta ALARMAS FALSAS 02"/>
          <p:cNvSpPr txBox="1"/>
          <p:nvPr/>
        </p:nvSpPr>
        <p:spPr>
          <a:xfrm>
            <a:off x="461772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ALARMAS FALSAS</a:t>
            </a:r>
          </a:p>
        </p:txBody>
      </p:sp>
      <p:sp>
        <p:nvSpPr>
          <p:cNvPr id="25" name="valor ALARMAS FALSAS 02"/>
          <p:cNvSpPr txBox="1"/>
          <p:nvPr/>
        </p:nvSpPr>
        <p:spPr>
          <a:xfrm>
            <a:off x="461772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0319"/>
                </a:solidFill>
                <a:latin typeface="Montserrat"/>
              </a:rPr>
              <a:t>17 %</a:t>
            </a:r>
          </a:p>
        </p:txBody>
      </p:sp>
      <p:sp>
        <p:nvSpPr>
          <p:cNvPr id="26" name="detalle ALARMAS FALSAS 02"/>
          <p:cNvSpPr txBox="1"/>
          <p:nvPr/>
        </p:nvSpPr>
        <p:spPr>
          <a:xfrm>
            <a:off x="461772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95 de 560 detecciones</a:t>
            </a:r>
          </a:p>
        </p:txBody>
      </p:sp>
      <p:sp>
        <p:nvSpPr>
          <p:cNvPr id="27" name="barra detectados 02"/>
          <p:cNvSpPr/>
          <p:nvPr/>
        </p:nvSpPr>
        <p:spPr>
          <a:xfrm>
            <a:off x="3429000" y="3163824"/>
            <a:ext cx="1981961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barra no detectados 02"/>
          <p:cNvSpPr/>
          <p:nvPr/>
        </p:nvSpPr>
        <p:spPr>
          <a:xfrm>
            <a:off x="5410962" y="3163824"/>
            <a:ext cx="349758" cy="118872"/>
          </a:xfrm>
          <a:prstGeom prst="rect">
            <a:avLst/>
          </a:prstGeom>
          <a:solidFill>
            <a:srgbClr val="D40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lectura barra 02"/>
          <p:cNvSpPr txBox="1"/>
          <p:nvPr/>
        </p:nvSpPr>
        <p:spPr>
          <a:xfrm>
            <a:off x="3429000" y="3328415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De cada 100 reales: </a:t>
            </a:r>
            <a:r>
              <a:rPr sz="850" b="1">
                <a:solidFill>
                  <a:srgbClr val="0F1C2C"/>
                </a:solidFill>
                <a:latin typeface="Arial"/>
              </a:rPr>
              <a:t>85 detectados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D40319"/>
                </a:solidFill>
                <a:latin typeface="Arial"/>
              </a:rPr>
              <a:t>15 no</a:t>
            </a:r>
          </a:p>
        </p:txBody>
      </p:sp>
      <p:sp>
        <p:nvSpPr>
          <p:cNvPr id="30" name="panel lateral"/>
          <p:cNvSpPr/>
          <p:nvPr/>
        </p:nvSpPr>
        <p:spPr>
          <a:xfrm>
            <a:off x="6035040" y="1554480"/>
            <a:ext cx="2651760" cy="2011680"/>
          </a:xfrm>
          <a:prstGeom prst="rect">
            <a:avLst/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etiqueta lateral"/>
          <p:cNvSpPr txBox="1"/>
          <p:nvPr/>
        </p:nvSpPr>
        <p:spPr>
          <a:xfrm>
            <a:off x="6217920" y="17373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TENDENCIA 22/09 → 01/10</a:t>
            </a:r>
          </a:p>
        </p:txBody>
      </p:sp>
      <p:sp>
        <p:nvSpPr>
          <p:cNvPr id="32" name="tendencia 1"/>
          <p:cNvSpPr txBox="1"/>
          <p:nvPr/>
        </p:nvSpPr>
        <p:spPr>
          <a:xfrm>
            <a:off x="6217920" y="199339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No detectados MOBILE: </a:t>
            </a:r>
            <a:r>
              <a:rPr sz="1050" b="1">
                <a:solidFill>
                  <a:srgbClr val="0F1C2C"/>
                </a:solidFill>
                <a:latin typeface="Arial"/>
              </a:rPr>
              <a:t>130 → 110</a:t>
            </a:r>
            <a:r>
              <a:rPr sz="1050" b="0">
                <a:solidFill>
                  <a:srgbClr val="3A3A3A"/>
                </a:solidFill>
                <a:latin typeface="Arial"/>
              </a:rPr>
              <a:t>, baja 15 %</a:t>
            </a:r>
          </a:p>
        </p:txBody>
      </p:sp>
      <p:sp>
        <p:nvSpPr>
          <p:cNvPr id="33" name="tendencia 2"/>
          <p:cNvSpPr txBox="1"/>
          <p:nvPr/>
        </p:nvSpPr>
        <p:spPr>
          <a:xfrm>
            <a:off x="6217920" y="23957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No detectados TABACO: </a:t>
            </a:r>
            <a:r>
              <a:rPr sz="1050" b="1">
                <a:solidFill>
                  <a:srgbClr val="0F1C2C"/>
                </a:solidFill>
                <a:latin typeface="Arial"/>
              </a:rPr>
              <a:t>117 → 83</a:t>
            </a:r>
            <a:r>
              <a:rPr sz="1050" b="0">
                <a:solidFill>
                  <a:srgbClr val="3A3A3A"/>
                </a:solidFill>
                <a:latin typeface="Arial"/>
              </a:rPr>
              <a:t>, baja 29 %</a:t>
            </a:r>
          </a:p>
        </p:txBody>
      </p:sp>
      <p:sp>
        <p:nvSpPr>
          <p:cNvPr id="34" name="tendencia 3"/>
          <p:cNvSpPr txBox="1"/>
          <p:nvPr/>
        </p:nvSpPr>
        <p:spPr>
          <a:xfrm>
            <a:off x="6217920" y="2798063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Alarmas falsas TABACO: </a:t>
            </a:r>
            <a:r>
              <a:rPr sz="1050" b="1">
                <a:solidFill>
                  <a:srgbClr val="D40319"/>
                </a:solidFill>
                <a:latin typeface="Arial"/>
              </a:rPr>
              <a:t>95 → 95</a:t>
            </a:r>
            <a:r>
              <a:rPr sz="1050" b="0">
                <a:solidFill>
                  <a:srgbClr val="3A3A3A"/>
                </a:solidFill>
                <a:latin typeface="Arial"/>
              </a:rPr>
              <a:t>, sin mejora</a:t>
            </a:r>
          </a:p>
        </p:txBody>
      </p:sp>
      <p:sp>
        <p:nvSpPr>
          <p:cNvPr id="35" name="confusión"/>
          <p:cNvSpPr txBox="1"/>
          <p:nvPr/>
        </p:nvSpPr>
        <p:spPr>
          <a:xfrm>
            <a:off x="6217920" y="32004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Confusión entre clases: </a:t>
            </a:r>
            <a:r>
              <a:rPr sz="1050" b="1">
                <a:solidFill>
                  <a:srgbClr val="0F1C2C"/>
                </a:solidFill>
                <a:latin typeface="Arial"/>
              </a:rPr>
              <a:t>2 de 193</a:t>
            </a:r>
            <a:r>
              <a:rPr sz="1050" b="0">
                <a:solidFill>
                  <a:srgbClr val="3A3A3A"/>
                </a:solidFill>
                <a:latin typeface="Arial"/>
              </a:rPr>
              <a:t> fallos</a:t>
            </a:r>
          </a:p>
        </p:txBody>
      </p:sp>
      <p:sp>
        <p:nvSpPr>
          <p:cNvPr id="36" name="número acción 01"/>
          <p:cNvSpPr txBox="1"/>
          <p:nvPr/>
        </p:nvSpPr>
        <p:spPr>
          <a:xfrm>
            <a:off x="45720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37" name="acción 01"/>
          <p:cNvSpPr txBox="1"/>
          <p:nvPr/>
        </p:nvSpPr>
        <p:spPr>
          <a:xfrm>
            <a:off x="77724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Tipificar los 193 fallos</a:t>
            </a:r>
            <a:r>
              <a:rPr sz="950" b="0">
                <a:solidFill>
                  <a:srgbClr val="3A3A3A"/>
                </a:solidFill>
                <a:latin typeface="Arial"/>
              </a:rPr>
              <a:t> por causa (tamaño, oclusión, luz, cámara) para dirigir la recolección de datos.</a:t>
            </a:r>
          </a:p>
        </p:txBody>
      </p:sp>
      <p:sp>
        <p:nvSpPr>
          <p:cNvPr id="38" name="número acción 02"/>
          <p:cNvSpPr txBox="1"/>
          <p:nvPr/>
        </p:nvSpPr>
        <p:spPr>
          <a:xfrm>
            <a:off x="324612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39" name="acción 02"/>
          <p:cNvSpPr txBox="1"/>
          <p:nvPr/>
        </p:nvSpPr>
        <p:spPr>
          <a:xfrm>
            <a:off x="356616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Bajar las alarmas falsas de TABACO</a:t>
            </a:r>
            <a:r>
              <a:rPr sz="950" b="0">
                <a:solidFill>
                  <a:srgbClr val="3A3A3A"/>
                </a:solidFill>
                <a:latin typeface="Arial"/>
              </a:rPr>
              <a:t> entrenando con los fondos que hoy confunde.</a:t>
            </a:r>
          </a:p>
        </p:txBody>
      </p:sp>
      <p:sp>
        <p:nvSpPr>
          <p:cNvPr id="40" name="número acción 03"/>
          <p:cNvSpPr txBox="1"/>
          <p:nvPr/>
        </p:nvSpPr>
        <p:spPr>
          <a:xfrm>
            <a:off x="603504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03</a:t>
            </a:r>
          </a:p>
        </p:txBody>
      </p:sp>
      <p:sp>
        <p:nvSpPr>
          <p:cNvPr id="41" name="acción 03"/>
          <p:cNvSpPr txBox="1"/>
          <p:nvPr/>
        </p:nvSpPr>
        <p:spPr>
          <a:xfrm>
            <a:off x="6355079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Medir en producción</a:t>
            </a:r>
            <a:r>
              <a:rPr sz="950" b="0">
                <a:solidFill>
                  <a:srgbClr val="3A3A3A"/>
                </a:solidFill>
                <a:latin typeface="Arial"/>
              </a:rPr>
              <a:t> con eventos reales durante 2 semanas antes de decidir el despliegue.</a:t>
            </a:r>
          </a:p>
        </p:txBody>
      </p:sp>
      <p:sp>
        <p:nvSpPr>
          <p:cNvPr id="42" name="fuente"/>
          <p:cNvSpPr txBox="1"/>
          <p:nvPr/>
        </p:nvSpPr>
        <p:spPr>
          <a:xfrm>
            <a:off x="3657600" y="4305909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B5B5"/>
                </a:solidFill>
                <a:latin typeface="Arial"/>
              </a:rPr>
              <a:t>Test: 1.069 instancias · cifras de evaluación, no de producción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RSA Corporativa">
  <a:themeElements>
    <a:clrScheme name="TORSA Corporativa">
      <a:dk1>
        <a:srgbClr val="0F1C2C"/>
      </a:dk1>
      <a:lt1>
        <a:srgbClr val="FFFFFF"/>
      </a:lt1>
      <a:dk2>
        <a:srgbClr val="3A3A3A"/>
      </a:dk2>
      <a:lt2>
        <a:srgbClr val="F4F4F4"/>
      </a:lt2>
      <a:accent1>
        <a:srgbClr val="D40319"/>
      </a:accent1>
      <a:accent2>
        <a:srgbClr val="0F1C2C"/>
      </a:accent2>
      <a:accent3>
        <a:srgbClr val="2E8B3A"/>
      </a:accent3>
      <a:accent4>
        <a:srgbClr val="E8A000"/>
      </a:accent4>
      <a:accent5>
        <a:srgbClr val="D40319"/>
      </a:accent5>
      <a:accent6>
        <a:srgbClr val="8C8C8C"/>
      </a:accent6>
      <a:hlink>
        <a:srgbClr val="D40319"/>
      </a:hlink>
      <a:folHlink>
        <a:srgbClr val="D40319"/>
      </a:folHlink>
    </a:clrScheme>
    <a:fontScheme name="TORSA Corporativa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2312</Words>
  <Application>Microsoft Macintosh PowerPoint</Application>
  <PresentationFormat>Presentación en pantalla (16:9)</PresentationFormat>
  <Paragraphs>302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Montserrat</vt:lpstr>
      <vt:lpstr>TORSA Corporativa</vt:lpstr>
      <vt:lpstr>SUMMIT 2026 DEMO MADRID</vt:lpstr>
      <vt:lpstr>Presentación de PowerPoint</vt:lpstr>
      <vt:lpstr>SEGURIDAD EN LA ZONA DE PRUEBAS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PLAN DE PRUEBAS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TORSA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de campo Madrid: seguridad y plan de pruebas</dc:title>
  <dc:subject>PptxGenJS Presentation</dc:subject>
  <dc:creator>TORSA</dc:creator>
  <cp:lastModifiedBy>Yeshu &amp; Pame</cp:lastModifiedBy>
  <cp:revision>3</cp:revision>
  <dcterms:created xsi:type="dcterms:W3CDTF">2026-10-04T15:56:16Z</dcterms:created>
  <dcterms:modified xsi:type="dcterms:W3CDTF">2026-10-04T16:38:41Z</dcterms:modified>
</cp:coreProperties>
</file>